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2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10800" b="1" i="0">
                <a:solidFill>
                  <a:srgbClr val="579ED5"/>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D4E74E"/>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0800" b="1" i="0">
                <a:solidFill>
                  <a:srgbClr val="579ED5"/>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0800" b="1" i="0">
                <a:solidFill>
                  <a:srgbClr val="579ED5"/>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AF6F4"/>
          </a:solidFill>
        </p:spPr>
        <p:txBody>
          <a:bodyPr wrap="square" lIns="0" tIns="0" rIns="0" bIns="0" rtlCol="0"/>
          <a:lstStyle/>
          <a:p>
            <a:endParaRPr/>
          </a:p>
        </p:txBody>
      </p:sp>
      <p:sp>
        <p:nvSpPr>
          <p:cNvPr id="17" name="bg object 17"/>
          <p:cNvSpPr/>
          <p:nvPr/>
        </p:nvSpPr>
        <p:spPr>
          <a:xfrm>
            <a:off x="6478256" y="4661674"/>
            <a:ext cx="10775950" cy="2439035"/>
          </a:xfrm>
          <a:custGeom>
            <a:avLst/>
            <a:gdLst/>
            <a:ahLst/>
            <a:cxnLst/>
            <a:rect l="l" t="t" r="r" b="b"/>
            <a:pathLst>
              <a:path w="10775950" h="2439034">
                <a:moveTo>
                  <a:pt x="10638274" y="2040377"/>
                </a:moveTo>
                <a:lnTo>
                  <a:pt x="215291" y="2438708"/>
                </a:lnTo>
                <a:lnTo>
                  <a:pt x="187202" y="2437009"/>
                </a:lnTo>
                <a:lnTo>
                  <a:pt x="160239" y="2429928"/>
                </a:lnTo>
                <a:lnTo>
                  <a:pt x="112738" y="2400750"/>
                </a:lnTo>
                <a:lnTo>
                  <a:pt x="80019" y="2355614"/>
                </a:lnTo>
                <a:lnTo>
                  <a:pt x="67063" y="2301393"/>
                </a:lnTo>
                <a:lnTo>
                  <a:pt x="0" y="546558"/>
                </a:lnTo>
                <a:lnTo>
                  <a:pt x="1699" y="518469"/>
                </a:lnTo>
                <a:lnTo>
                  <a:pt x="20960" y="466432"/>
                </a:lnTo>
                <a:lnTo>
                  <a:pt x="59022" y="425346"/>
                </a:lnTo>
                <a:lnTo>
                  <a:pt x="109437" y="402169"/>
                </a:lnTo>
                <a:lnTo>
                  <a:pt x="10560299" y="0"/>
                </a:lnTo>
                <a:lnTo>
                  <a:pt x="10588387" y="1699"/>
                </a:lnTo>
                <a:lnTo>
                  <a:pt x="10640424" y="20960"/>
                </a:lnTo>
                <a:lnTo>
                  <a:pt x="10681511" y="59022"/>
                </a:lnTo>
                <a:lnTo>
                  <a:pt x="10704686" y="109437"/>
                </a:lnTo>
                <a:lnTo>
                  <a:pt x="10775588" y="1892149"/>
                </a:lnTo>
                <a:lnTo>
                  <a:pt x="10773889" y="1920239"/>
                </a:lnTo>
                <a:lnTo>
                  <a:pt x="10754629" y="1972275"/>
                </a:lnTo>
                <a:lnTo>
                  <a:pt x="10716567" y="2013362"/>
                </a:lnTo>
                <a:lnTo>
                  <a:pt x="10666152" y="2036539"/>
                </a:lnTo>
                <a:lnTo>
                  <a:pt x="10638274" y="2040377"/>
                </a:lnTo>
                <a:close/>
              </a:path>
            </a:pathLst>
          </a:custGeom>
          <a:solidFill>
            <a:srgbClr val="000000"/>
          </a:solidFill>
        </p:spPr>
        <p:txBody>
          <a:bodyPr wrap="square" lIns="0" tIns="0" rIns="0" bIns="0" rtlCol="0"/>
          <a:lstStyle/>
          <a:p>
            <a:endParaRPr/>
          </a:p>
        </p:txBody>
      </p:sp>
      <p:sp>
        <p:nvSpPr>
          <p:cNvPr id="18" name="bg object 18"/>
          <p:cNvSpPr/>
          <p:nvPr/>
        </p:nvSpPr>
        <p:spPr>
          <a:xfrm>
            <a:off x="6301540" y="4489349"/>
            <a:ext cx="10775950" cy="2439035"/>
          </a:xfrm>
          <a:custGeom>
            <a:avLst/>
            <a:gdLst/>
            <a:ahLst/>
            <a:cxnLst/>
            <a:rect l="l" t="t" r="r" b="b"/>
            <a:pathLst>
              <a:path w="10775950" h="2439034">
                <a:moveTo>
                  <a:pt x="10638274" y="2040377"/>
                </a:moveTo>
                <a:lnTo>
                  <a:pt x="215290" y="2438708"/>
                </a:lnTo>
                <a:lnTo>
                  <a:pt x="187202" y="2437009"/>
                </a:lnTo>
                <a:lnTo>
                  <a:pt x="160239" y="2429929"/>
                </a:lnTo>
                <a:lnTo>
                  <a:pt x="112738" y="2400750"/>
                </a:lnTo>
                <a:lnTo>
                  <a:pt x="80019" y="2355615"/>
                </a:lnTo>
                <a:lnTo>
                  <a:pt x="67063" y="2301393"/>
                </a:lnTo>
                <a:lnTo>
                  <a:pt x="0" y="546558"/>
                </a:lnTo>
                <a:lnTo>
                  <a:pt x="1699" y="518469"/>
                </a:lnTo>
                <a:lnTo>
                  <a:pt x="20960" y="466432"/>
                </a:lnTo>
                <a:lnTo>
                  <a:pt x="59022" y="425346"/>
                </a:lnTo>
                <a:lnTo>
                  <a:pt x="109437" y="402169"/>
                </a:lnTo>
                <a:lnTo>
                  <a:pt x="10560299" y="0"/>
                </a:lnTo>
                <a:lnTo>
                  <a:pt x="10588388" y="1699"/>
                </a:lnTo>
                <a:lnTo>
                  <a:pt x="10640424" y="20960"/>
                </a:lnTo>
                <a:lnTo>
                  <a:pt x="10681511" y="59022"/>
                </a:lnTo>
                <a:lnTo>
                  <a:pt x="10704686" y="109437"/>
                </a:lnTo>
                <a:lnTo>
                  <a:pt x="10775587" y="1892149"/>
                </a:lnTo>
                <a:lnTo>
                  <a:pt x="10773889" y="1920239"/>
                </a:lnTo>
                <a:lnTo>
                  <a:pt x="10754629" y="1972276"/>
                </a:lnTo>
                <a:lnTo>
                  <a:pt x="10716567" y="2013362"/>
                </a:lnTo>
                <a:lnTo>
                  <a:pt x="10666152" y="2036539"/>
                </a:lnTo>
                <a:lnTo>
                  <a:pt x="10638274" y="2040377"/>
                </a:lnTo>
                <a:close/>
              </a:path>
            </a:pathLst>
          </a:custGeom>
          <a:solidFill>
            <a:srgbClr val="D1646F"/>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6940933" y="6357004"/>
            <a:ext cx="164209" cy="196642"/>
          </a:xfrm>
          <a:prstGeom prst="rect">
            <a:avLst/>
          </a:prstGeom>
        </p:spPr>
      </p:pic>
      <p:sp>
        <p:nvSpPr>
          <p:cNvPr id="20" name="bg object 20"/>
          <p:cNvSpPr/>
          <p:nvPr/>
        </p:nvSpPr>
        <p:spPr>
          <a:xfrm>
            <a:off x="6301725" y="4489360"/>
            <a:ext cx="10708005" cy="2436495"/>
          </a:xfrm>
          <a:custGeom>
            <a:avLst/>
            <a:gdLst/>
            <a:ahLst/>
            <a:cxnLst/>
            <a:rect l="l" t="t" r="r" b="b"/>
            <a:pathLst>
              <a:path w="10708005" h="2436495">
                <a:moveTo>
                  <a:pt x="185021" y="2436327"/>
                </a:moveTo>
                <a:lnTo>
                  <a:pt x="135158" y="2417637"/>
                </a:lnTo>
                <a:lnTo>
                  <a:pt x="94073" y="2379577"/>
                </a:lnTo>
                <a:lnTo>
                  <a:pt x="70898" y="2329164"/>
                </a:lnTo>
                <a:lnTo>
                  <a:pt x="0" y="546533"/>
                </a:lnTo>
                <a:lnTo>
                  <a:pt x="1698" y="518445"/>
                </a:lnTo>
                <a:lnTo>
                  <a:pt x="20958" y="466411"/>
                </a:lnTo>
                <a:lnTo>
                  <a:pt x="59019" y="425326"/>
                </a:lnTo>
                <a:lnTo>
                  <a:pt x="109431" y="402151"/>
                </a:lnTo>
                <a:lnTo>
                  <a:pt x="10559812" y="0"/>
                </a:lnTo>
                <a:lnTo>
                  <a:pt x="10587900" y="1699"/>
                </a:lnTo>
                <a:lnTo>
                  <a:pt x="10639935" y="20958"/>
                </a:lnTo>
                <a:lnTo>
                  <a:pt x="10681020" y="59019"/>
                </a:lnTo>
                <a:lnTo>
                  <a:pt x="10704196" y="109431"/>
                </a:lnTo>
                <a:lnTo>
                  <a:pt x="10707464" y="133172"/>
                </a:lnTo>
              </a:path>
            </a:pathLst>
          </a:custGeom>
          <a:ln w="57149">
            <a:solidFill>
              <a:srgbClr val="000000"/>
            </a:solidFill>
          </a:ln>
        </p:spPr>
        <p:txBody>
          <a:bodyPr wrap="square" lIns="0" tIns="0" rIns="0" bIns="0" rtlCol="0"/>
          <a:lstStyle/>
          <a:p>
            <a:endParaRPr/>
          </a:p>
        </p:txBody>
      </p:sp>
      <p:pic>
        <p:nvPicPr>
          <p:cNvPr id="21" name="bg object 21"/>
          <p:cNvPicPr/>
          <p:nvPr/>
        </p:nvPicPr>
        <p:blipFill>
          <a:blip r:embed="rId3" cstate="print"/>
          <a:stretch>
            <a:fillRect/>
          </a:stretch>
        </p:blipFill>
        <p:spPr>
          <a:xfrm>
            <a:off x="1028700" y="1515169"/>
            <a:ext cx="7181849" cy="7743824"/>
          </a:xfrm>
          <a:prstGeom prst="rect">
            <a:avLst/>
          </a:prstGeom>
        </p:spPr>
      </p:pic>
      <p:sp>
        <p:nvSpPr>
          <p:cNvPr id="2" name="Holder 2"/>
          <p:cNvSpPr>
            <a:spLocks noGrp="1"/>
          </p:cNvSpPr>
          <p:nvPr>
            <p:ph type="title"/>
          </p:nvPr>
        </p:nvSpPr>
        <p:spPr/>
        <p:txBody>
          <a:bodyPr lIns="0" tIns="0" rIns="0" bIns="0"/>
          <a:lstStyle>
            <a:lvl1pPr>
              <a:defRPr sz="10800" b="1" i="0">
                <a:solidFill>
                  <a:srgbClr val="579ED5"/>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AF6F4"/>
          </a:solidFill>
        </p:spPr>
        <p:txBody>
          <a:bodyPr wrap="square" lIns="0" tIns="0" rIns="0" bIns="0" rtlCol="0"/>
          <a:lstStyle/>
          <a:p>
            <a:endParaRPr/>
          </a:p>
        </p:txBody>
      </p:sp>
      <p:sp>
        <p:nvSpPr>
          <p:cNvPr id="2" name="Holder 2"/>
          <p:cNvSpPr>
            <a:spLocks noGrp="1"/>
          </p:cNvSpPr>
          <p:nvPr>
            <p:ph type="title"/>
          </p:nvPr>
        </p:nvSpPr>
        <p:spPr>
          <a:xfrm>
            <a:off x="1707953" y="2353096"/>
            <a:ext cx="14872093" cy="2120900"/>
          </a:xfrm>
          <a:prstGeom prst="rect">
            <a:avLst/>
          </a:prstGeom>
        </p:spPr>
        <p:txBody>
          <a:bodyPr wrap="square" lIns="0" tIns="0" rIns="0" bIns="0">
            <a:spAutoFit/>
          </a:bodyPr>
          <a:lstStyle>
            <a:lvl1pPr>
              <a:defRPr sz="10800" b="1" i="0">
                <a:solidFill>
                  <a:srgbClr val="579ED5"/>
                </a:solidFill>
                <a:latin typeface="Tahoma"/>
                <a:cs typeface="Tahoma"/>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3/18/2026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106" y="0"/>
            <a:ext cx="18251047" cy="10287000"/>
          </a:xfrm>
          <a:prstGeom prst="rect">
            <a:avLst/>
          </a:prstGeom>
        </p:spPr>
      </p:pic>
      <p:sp>
        <p:nvSpPr>
          <p:cNvPr id="3" name="object 3"/>
          <p:cNvSpPr txBox="1">
            <a:spLocks noGrp="1"/>
          </p:cNvSpPr>
          <p:nvPr>
            <p:ph type="title"/>
          </p:nvPr>
        </p:nvSpPr>
        <p:spPr>
          <a:xfrm rot="21417139">
            <a:off x="1524000" y="1866900"/>
            <a:ext cx="15011400" cy="2231380"/>
          </a:xfrm>
          <a:prstGeom prst="rect">
            <a:avLst/>
          </a:prstGeom>
        </p:spPr>
        <p:txBody>
          <a:bodyPr vert="horz" wrap="square" lIns="0" tIns="15240" rIns="0" bIns="0" rtlCol="0">
            <a:spAutoFit/>
          </a:bodyPr>
          <a:lstStyle/>
          <a:p>
            <a:pPr marL="3489960">
              <a:lnSpc>
                <a:spcPct val="100000"/>
              </a:lnSpc>
              <a:spcBef>
                <a:spcPts val="120"/>
              </a:spcBef>
            </a:pPr>
            <a:r>
              <a:rPr lang="en-IN" sz="7200" spc="-370" dirty="0">
                <a:solidFill>
                  <a:srgbClr val="000000"/>
                </a:solidFill>
              </a:rPr>
              <a:t>FINANCIAL CONVERSATION</a:t>
            </a:r>
            <a:endParaRPr sz="7200" spc="-15" dirty="0">
              <a:solidFill>
                <a:srgbClr val="000000"/>
              </a:solidFill>
            </a:endParaRPr>
          </a:p>
        </p:txBody>
      </p:sp>
      <p:sp>
        <p:nvSpPr>
          <p:cNvPr id="4" name="object 4"/>
          <p:cNvSpPr txBox="1"/>
          <p:nvPr/>
        </p:nvSpPr>
        <p:spPr>
          <a:xfrm rot="21480000">
            <a:off x="3857652" y="4280668"/>
            <a:ext cx="10224143" cy="1228350"/>
          </a:xfrm>
          <a:prstGeom prst="rect">
            <a:avLst/>
          </a:prstGeom>
        </p:spPr>
        <p:txBody>
          <a:bodyPr vert="horz" wrap="square" lIns="0" tIns="0" rIns="0" bIns="0" rtlCol="0">
            <a:spAutoFit/>
          </a:bodyPr>
          <a:lstStyle/>
          <a:p>
            <a:pPr>
              <a:lnSpc>
                <a:spcPts val="10820"/>
              </a:lnSpc>
            </a:pPr>
            <a:r>
              <a:rPr lang="en-IN" sz="7200" b="1" spc="-530" dirty="0">
                <a:latin typeface="Tahoma"/>
                <a:cs typeface="Tahoma"/>
              </a:rPr>
              <a:t>   INTELLIGENCE SYSTEM</a:t>
            </a:r>
            <a:endParaRPr sz="7200" dirty="0">
              <a:latin typeface="Tahoma"/>
              <a:cs typeface="Tahoma"/>
            </a:endParaRPr>
          </a:p>
        </p:txBody>
      </p:sp>
      <p:sp>
        <p:nvSpPr>
          <p:cNvPr id="5" name="object 5"/>
          <p:cNvSpPr txBox="1"/>
          <p:nvPr/>
        </p:nvSpPr>
        <p:spPr>
          <a:xfrm>
            <a:off x="11963400" y="8130298"/>
            <a:ext cx="3810000" cy="2244204"/>
          </a:xfrm>
          <a:prstGeom prst="rect">
            <a:avLst/>
          </a:prstGeom>
        </p:spPr>
        <p:txBody>
          <a:bodyPr vert="horz" wrap="square" lIns="0" tIns="12700" rIns="0" bIns="0" rtlCol="0">
            <a:spAutoFit/>
          </a:bodyPr>
          <a:lstStyle/>
          <a:p>
            <a:pPr marL="12700">
              <a:lnSpc>
                <a:spcPct val="100000"/>
              </a:lnSpc>
              <a:spcBef>
                <a:spcPts val="100"/>
              </a:spcBef>
            </a:pPr>
            <a:r>
              <a:rPr lang="en-IN" sz="2000" b="1" spc="-80" dirty="0">
                <a:latin typeface="Sitka Heading" pitchFamily="2" charset="0"/>
                <a:cs typeface="Verdana"/>
              </a:rPr>
              <a:t>TEAM NAME- </a:t>
            </a:r>
            <a:r>
              <a:rPr lang="en-IN" sz="2000" b="1" spc="-80" dirty="0" err="1">
                <a:latin typeface="Sitka Heading" pitchFamily="2" charset="0"/>
                <a:cs typeface="Verdana"/>
              </a:rPr>
              <a:t>FinTalk</a:t>
            </a:r>
            <a:r>
              <a:rPr lang="en-IN" sz="2000" b="1" spc="-80" dirty="0">
                <a:latin typeface="Sitka Heading" pitchFamily="2" charset="0"/>
                <a:cs typeface="Verdana"/>
              </a:rPr>
              <a:t> AI</a:t>
            </a:r>
          </a:p>
          <a:p>
            <a:pPr marL="12700">
              <a:lnSpc>
                <a:spcPct val="100000"/>
              </a:lnSpc>
              <a:spcBef>
                <a:spcPts val="100"/>
              </a:spcBef>
            </a:pPr>
            <a:r>
              <a:rPr lang="en-IN" sz="2000" b="1" spc="-80" dirty="0">
                <a:latin typeface="Sitka Heading" pitchFamily="2" charset="0"/>
                <a:cs typeface="Verdana"/>
              </a:rPr>
              <a:t>PRESENTED BY-</a:t>
            </a:r>
            <a:endParaRPr lang="en-IN" sz="2000" b="1" spc="-85" dirty="0">
              <a:latin typeface="Sitka Heading" pitchFamily="2" charset="0"/>
              <a:cs typeface="Verdana"/>
            </a:endParaRPr>
          </a:p>
          <a:p>
            <a:pPr marL="12700">
              <a:lnSpc>
                <a:spcPct val="100000"/>
              </a:lnSpc>
              <a:spcBef>
                <a:spcPts val="100"/>
              </a:spcBef>
            </a:pPr>
            <a:r>
              <a:rPr sz="2000" spc="-415" dirty="0">
                <a:latin typeface="Sitka Heading" pitchFamily="2" charset="0"/>
                <a:cs typeface="Verdana"/>
              </a:rPr>
              <a:t> </a:t>
            </a:r>
            <a:r>
              <a:rPr lang="en-IN" sz="2000" spc="-415" dirty="0">
                <a:latin typeface="Sitka Heading" pitchFamily="2" charset="0"/>
                <a:cs typeface="Verdana"/>
              </a:rPr>
              <a:t>                                                  </a:t>
            </a:r>
            <a:r>
              <a:rPr lang="en-IN" sz="2000" spc="-114" dirty="0">
                <a:latin typeface="Sitka Heading" pitchFamily="2" charset="0"/>
                <a:cs typeface="Verdana"/>
              </a:rPr>
              <a:t>Anusha </a:t>
            </a:r>
            <a:r>
              <a:rPr lang="en-IN" sz="2000" spc="-114" dirty="0" err="1">
                <a:latin typeface="Sitka Heading" pitchFamily="2" charset="0"/>
                <a:cs typeface="Verdana"/>
              </a:rPr>
              <a:t>Gangoor</a:t>
            </a:r>
            <a:endParaRPr lang="en-IN" sz="2000" spc="-114" dirty="0">
              <a:latin typeface="Sitka Heading" pitchFamily="2" charset="0"/>
              <a:cs typeface="Verdana"/>
            </a:endParaRPr>
          </a:p>
          <a:p>
            <a:pPr marL="12700">
              <a:lnSpc>
                <a:spcPct val="100000"/>
              </a:lnSpc>
              <a:spcBef>
                <a:spcPts val="100"/>
              </a:spcBef>
            </a:pPr>
            <a:r>
              <a:rPr lang="en-IN" sz="2000" dirty="0">
                <a:latin typeface="Sitka Heading" pitchFamily="2" charset="0"/>
                <a:cs typeface="Verdana"/>
              </a:rPr>
              <a:t>          Amruta </a:t>
            </a:r>
            <a:r>
              <a:rPr lang="en-IN" sz="2000" dirty="0" err="1">
                <a:latin typeface="Sitka Heading" pitchFamily="2" charset="0"/>
                <a:cs typeface="Verdana"/>
              </a:rPr>
              <a:t>Karabasanavar</a:t>
            </a:r>
            <a:endParaRPr lang="en-IN" sz="2000" dirty="0">
              <a:latin typeface="Sitka Heading" pitchFamily="2" charset="0"/>
              <a:cs typeface="Verdana"/>
            </a:endParaRPr>
          </a:p>
          <a:p>
            <a:pPr marL="12700">
              <a:lnSpc>
                <a:spcPct val="100000"/>
              </a:lnSpc>
              <a:spcBef>
                <a:spcPts val="100"/>
              </a:spcBef>
            </a:pPr>
            <a:r>
              <a:rPr lang="en-IN" sz="2000" dirty="0">
                <a:latin typeface="Sitka Heading" pitchFamily="2" charset="0"/>
                <a:cs typeface="Verdana"/>
              </a:rPr>
              <a:t>          Pavitra </a:t>
            </a:r>
            <a:r>
              <a:rPr lang="en-IN" sz="2000" dirty="0" err="1">
                <a:latin typeface="Sitka Heading" pitchFamily="2" charset="0"/>
                <a:cs typeface="Verdana"/>
              </a:rPr>
              <a:t>Mindolli</a:t>
            </a:r>
            <a:endParaRPr lang="en-IN" sz="2000" dirty="0">
              <a:latin typeface="Sitka Heading" pitchFamily="2" charset="0"/>
              <a:cs typeface="Verdana"/>
            </a:endParaRPr>
          </a:p>
          <a:p>
            <a:pPr marL="12700">
              <a:lnSpc>
                <a:spcPct val="100000"/>
              </a:lnSpc>
              <a:spcBef>
                <a:spcPts val="100"/>
              </a:spcBef>
            </a:pPr>
            <a:r>
              <a:rPr lang="en-IN" sz="2000" dirty="0">
                <a:latin typeface="Sitka Heading" pitchFamily="2" charset="0"/>
                <a:cs typeface="Verdana"/>
              </a:rPr>
              <a:t>          Kavita </a:t>
            </a:r>
            <a:r>
              <a:rPr lang="en-IN" sz="2000" dirty="0" err="1">
                <a:latin typeface="Sitka Heading" pitchFamily="2" charset="0"/>
                <a:cs typeface="Verdana"/>
              </a:rPr>
              <a:t>Kokatnur</a:t>
            </a:r>
            <a:endParaRPr lang="en-IN" sz="2000" dirty="0">
              <a:latin typeface="Sitka Heading" pitchFamily="2" charset="0"/>
              <a:cs typeface="Verdana"/>
            </a:endParaRPr>
          </a:p>
          <a:p>
            <a:pPr marL="12700">
              <a:lnSpc>
                <a:spcPct val="100000"/>
              </a:lnSpc>
              <a:spcBef>
                <a:spcPts val="100"/>
              </a:spcBef>
            </a:pPr>
            <a:r>
              <a:rPr lang="en-IN" sz="2000" dirty="0">
                <a:latin typeface="Sitka Heading" pitchFamily="2" charset="0"/>
                <a:cs typeface="Verdana"/>
              </a:rPr>
              <a:t>                  </a:t>
            </a:r>
            <a:endParaRPr sz="2000" dirty="0">
              <a:latin typeface="Sitka Heading" pitchFamily="2" charset="0"/>
              <a:cs typeface="Verdana"/>
            </a:endParaRPr>
          </a:p>
        </p:txBody>
      </p:sp>
      <p:sp>
        <p:nvSpPr>
          <p:cNvPr id="6" name="TextBox 5">
            <a:extLst>
              <a:ext uri="{FF2B5EF4-FFF2-40B4-BE49-F238E27FC236}">
                <a16:creationId xmlns:a16="http://schemas.microsoft.com/office/drawing/2014/main" id="{599CFD73-610C-EEA7-E815-5C6BB8FCA583}"/>
              </a:ext>
            </a:extLst>
          </p:cNvPr>
          <p:cNvSpPr txBox="1"/>
          <p:nvPr/>
        </p:nvSpPr>
        <p:spPr>
          <a:xfrm rot="21396681">
            <a:off x="6061888" y="6777506"/>
            <a:ext cx="9356213" cy="1077218"/>
          </a:xfrm>
          <a:prstGeom prst="rect">
            <a:avLst/>
          </a:prstGeom>
          <a:noFill/>
        </p:spPr>
        <p:txBody>
          <a:bodyPr wrap="square" rtlCol="0">
            <a:spAutoFit/>
          </a:bodyPr>
          <a:lstStyle/>
          <a:p>
            <a:r>
              <a:rPr lang="en-US" sz="3200" b="1" i="1" dirty="0">
                <a:solidFill>
                  <a:srgbClr val="002060"/>
                </a:solidFill>
              </a:rPr>
              <a:t>Transforming Everyday Financial Conversations into Actionable Insights</a:t>
            </a:r>
            <a:endParaRPr lang="en-IN" sz="3200" b="1" i="1"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962919" y="0"/>
            <a:ext cx="7325359" cy="8582025"/>
            <a:chOff x="10962919" y="0"/>
            <a:chExt cx="7325359" cy="8582025"/>
          </a:xfrm>
        </p:grpSpPr>
        <p:pic>
          <p:nvPicPr>
            <p:cNvPr id="3" name="object 3"/>
            <p:cNvPicPr/>
            <p:nvPr/>
          </p:nvPicPr>
          <p:blipFill>
            <a:blip r:embed="rId2" cstate="print"/>
            <a:stretch>
              <a:fillRect/>
            </a:stretch>
          </p:blipFill>
          <p:spPr>
            <a:xfrm>
              <a:off x="10962919" y="0"/>
              <a:ext cx="7325081" cy="8581612"/>
            </a:xfrm>
            <a:prstGeom prst="rect">
              <a:avLst/>
            </a:prstGeom>
          </p:spPr>
        </p:pic>
        <p:sp>
          <p:nvSpPr>
            <p:cNvPr id="4" name="object 4"/>
            <p:cNvSpPr/>
            <p:nvPr/>
          </p:nvSpPr>
          <p:spPr>
            <a:xfrm>
              <a:off x="11177790" y="3193090"/>
              <a:ext cx="1821814" cy="1965325"/>
            </a:xfrm>
            <a:custGeom>
              <a:avLst/>
              <a:gdLst/>
              <a:ahLst/>
              <a:cxnLst/>
              <a:rect l="l" t="t" r="r" b="b"/>
              <a:pathLst>
                <a:path w="1821815" h="1965325">
                  <a:moveTo>
                    <a:pt x="790621" y="1964781"/>
                  </a:moveTo>
                  <a:lnTo>
                    <a:pt x="836541" y="1081378"/>
                  </a:lnTo>
                  <a:lnTo>
                    <a:pt x="0" y="1369443"/>
                  </a:lnTo>
                  <a:lnTo>
                    <a:pt x="788276" y="967382"/>
                  </a:lnTo>
                  <a:lnTo>
                    <a:pt x="120257" y="387052"/>
                  </a:lnTo>
                  <a:lnTo>
                    <a:pt x="862613" y="868395"/>
                  </a:lnTo>
                  <a:lnTo>
                    <a:pt x="1031136" y="0"/>
                  </a:lnTo>
                  <a:lnTo>
                    <a:pt x="985216" y="883403"/>
                  </a:lnTo>
                  <a:lnTo>
                    <a:pt x="1821758" y="595338"/>
                  </a:lnTo>
                  <a:lnTo>
                    <a:pt x="1033874" y="997447"/>
                  </a:lnTo>
                  <a:lnTo>
                    <a:pt x="1701500" y="1577729"/>
                  </a:lnTo>
                  <a:lnTo>
                    <a:pt x="959144" y="1096386"/>
                  </a:lnTo>
                  <a:lnTo>
                    <a:pt x="790621" y="1964781"/>
                  </a:lnTo>
                  <a:close/>
                </a:path>
              </a:pathLst>
            </a:custGeom>
            <a:solidFill>
              <a:srgbClr val="000000"/>
            </a:solidFill>
          </p:spPr>
          <p:txBody>
            <a:bodyPr wrap="square" lIns="0" tIns="0" rIns="0" bIns="0" rtlCol="0"/>
            <a:lstStyle/>
            <a:p>
              <a:pPr algn="ctr"/>
              <a:endParaRPr/>
            </a:p>
          </p:txBody>
        </p:sp>
      </p:grpSp>
      <p:sp>
        <p:nvSpPr>
          <p:cNvPr id="6" name="object 6"/>
          <p:cNvSpPr txBox="1"/>
          <p:nvPr/>
        </p:nvSpPr>
        <p:spPr>
          <a:xfrm>
            <a:off x="1373937" y="5167502"/>
            <a:ext cx="8362315" cy="4148572"/>
          </a:xfrm>
          <a:prstGeom prst="rect">
            <a:avLst/>
          </a:prstGeom>
        </p:spPr>
        <p:txBody>
          <a:bodyPr vert="horz" wrap="square" lIns="0" tIns="69850" rIns="0" bIns="0" rtlCol="0">
            <a:spAutoFit/>
          </a:bodyPr>
          <a:lstStyle/>
          <a:p>
            <a:pPr algn="ctr">
              <a:lnSpc>
                <a:spcPct val="100000"/>
              </a:lnSpc>
              <a:spcBef>
                <a:spcPts val="550"/>
              </a:spcBef>
            </a:pPr>
            <a:r>
              <a:rPr lang="en-US" sz="2500" spc="-90" dirty="0">
                <a:latin typeface="+mn-lt"/>
                <a:cs typeface="Times New Roman" panose="02020603050405020304" pitchFamily="18" charset="0"/>
              </a:rPr>
              <a:t>In real life, people discuss important financial decisions </a:t>
            </a:r>
          </a:p>
          <a:p>
            <a:pPr algn="ctr">
              <a:lnSpc>
                <a:spcPct val="100000"/>
              </a:lnSpc>
              <a:spcBef>
                <a:spcPts val="550"/>
              </a:spcBef>
            </a:pPr>
            <a:r>
              <a:rPr lang="en-US" sz="2500" spc="-90" dirty="0">
                <a:latin typeface="+mn-lt"/>
                <a:cs typeface="Times New Roman" panose="02020603050405020304" pitchFamily="18" charset="0"/>
              </a:rPr>
              <a:t>through conversations — but these are never documented.</a:t>
            </a:r>
          </a:p>
          <a:p>
            <a:pPr algn="ctr">
              <a:lnSpc>
                <a:spcPct val="100000"/>
              </a:lnSpc>
              <a:spcBef>
                <a:spcPts val="550"/>
              </a:spcBef>
            </a:pPr>
            <a:endParaRPr lang="en-US" sz="2500" spc="-90" dirty="0">
              <a:latin typeface="+mn-lt"/>
              <a:cs typeface="Times New Roman" panose="02020603050405020304" pitchFamily="18" charset="0"/>
            </a:endParaRPr>
          </a:p>
          <a:p>
            <a:pPr algn="ctr">
              <a:lnSpc>
                <a:spcPct val="100000"/>
              </a:lnSpc>
              <a:spcBef>
                <a:spcPts val="550"/>
              </a:spcBef>
            </a:pPr>
            <a:r>
              <a:rPr lang="en-US" sz="2500" spc="-90" dirty="0">
                <a:latin typeface="+mn-lt"/>
                <a:cs typeface="Times New Roman" panose="02020603050405020304" pitchFamily="18" charset="0"/>
              </a:rPr>
              <a:t>• No record of loans, EMI discussions, or investments  </a:t>
            </a:r>
          </a:p>
          <a:p>
            <a:pPr algn="ctr">
              <a:lnSpc>
                <a:spcPct val="100000"/>
              </a:lnSpc>
              <a:spcBef>
                <a:spcPts val="550"/>
              </a:spcBef>
            </a:pPr>
            <a:r>
              <a:rPr lang="en-US" sz="2500" spc="-90" dirty="0">
                <a:latin typeface="+mn-lt"/>
                <a:cs typeface="Times New Roman" panose="02020603050405020304" pitchFamily="18" charset="0"/>
              </a:rPr>
              <a:t>• People forget commitments and details  </a:t>
            </a:r>
          </a:p>
          <a:p>
            <a:pPr algn="ctr">
              <a:lnSpc>
                <a:spcPct val="100000"/>
              </a:lnSpc>
              <a:spcBef>
                <a:spcPts val="550"/>
              </a:spcBef>
            </a:pPr>
            <a:r>
              <a:rPr lang="en-US" sz="2500" spc="-90" dirty="0">
                <a:latin typeface="+mn-lt"/>
                <a:cs typeface="Times New Roman" panose="02020603050405020304" pitchFamily="18" charset="0"/>
              </a:rPr>
              <a:t>• Decisions are often emotional and untracked  </a:t>
            </a:r>
          </a:p>
          <a:p>
            <a:pPr algn="ctr">
              <a:lnSpc>
                <a:spcPct val="100000"/>
              </a:lnSpc>
              <a:spcBef>
                <a:spcPts val="550"/>
              </a:spcBef>
            </a:pPr>
            <a:r>
              <a:rPr lang="en-US" sz="2500" spc="-90" dirty="0">
                <a:latin typeface="+mn-lt"/>
                <a:cs typeface="Times New Roman" panose="02020603050405020304" pitchFamily="18" charset="0"/>
              </a:rPr>
              <a:t>• No structured way to analyze financial conversations  </a:t>
            </a:r>
          </a:p>
          <a:p>
            <a:pPr algn="ctr">
              <a:lnSpc>
                <a:spcPct val="100000"/>
              </a:lnSpc>
              <a:spcBef>
                <a:spcPts val="550"/>
              </a:spcBef>
            </a:pPr>
            <a:endParaRPr lang="en-US" sz="2500" spc="-90" dirty="0">
              <a:latin typeface="+mn-lt"/>
              <a:cs typeface="Times New Roman" panose="02020603050405020304" pitchFamily="18" charset="0"/>
            </a:endParaRPr>
          </a:p>
          <a:p>
            <a:pPr algn="ctr">
              <a:lnSpc>
                <a:spcPct val="100000"/>
              </a:lnSpc>
              <a:spcBef>
                <a:spcPts val="550"/>
              </a:spcBef>
            </a:pPr>
            <a:r>
              <a:rPr lang="en-US" sz="2500" spc="-90" dirty="0">
                <a:latin typeface="+mn-lt"/>
                <a:cs typeface="Times New Roman" panose="02020603050405020304" pitchFamily="18" charset="0"/>
              </a:rPr>
              <a:t>This creates confusion, poor planning, and financial mistakes.</a:t>
            </a:r>
            <a:endParaRPr sz="2500" dirty="0">
              <a:latin typeface="+mn-lt"/>
              <a:cs typeface="Times New Roman" panose="02020603050405020304" pitchFamily="18" charset="0"/>
            </a:endParaRPr>
          </a:p>
        </p:txBody>
      </p:sp>
      <p:grpSp>
        <p:nvGrpSpPr>
          <p:cNvPr id="7" name="object 7"/>
          <p:cNvGrpSpPr/>
          <p:nvPr/>
        </p:nvGrpSpPr>
        <p:grpSpPr>
          <a:xfrm>
            <a:off x="3176861" y="1020470"/>
            <a:ext cx="6424339" cy="3970629"/>
            <a:chOff x="2466677" y="1094954"/>
            <a:chExt cx="6078546" cy="1399523"/>
          </a:xfrm>
        </p:grpSpPr>
        <p:sp>
          <p:nvSpPr>
            <p:cNvPr id="8" name="object 8"/>
            <p:cNvSpPr/>
            <p:nvPr/>
          </p:nvSpPr>
          <p:spPr>
            <a:xfrm>
              <a:off x="2565238" y="1192081"/>
              <a:ext cx="5979795" cy="1302385"/>
            </a:xfrm>
            <a:custGeom>
              <a:avLst/>
              <a:gdLst/>
              <a:ahLst/>
              <a:cxnLst/>
              <a:rect l="l" t="t" r="r" b="b"/>
              <a:pathLst>
                <a:path w="5979795" h="1302385">
                  <a:moveTo>
                    <a:pt x="5851572" y="1084851"/>
                  </a:moveTo>
                  <a:lnTo>
                    <a:pt x="169619" y="1301997"/>
                  </a:lnTo>
                  <a:lnTo>
                    <a:pt x="143403" y="1300411"/>
                  </a:lnTo>
                  <a:lnTo>
                    <a:pt x="118238" y="1293802"/>
                  </a:lnTo>
                  <a:lnTo>
                    <a:pt x="73904" y="1266569"/>
                  </a:lnTo>
                  <a:lnTo>
                    <a:pt x="43366" y="1224442"/>
                  </a:lnTo>
                  <a:lnTo>
                    <a:pt x="31274" y="1173837"/>
                  </a:lnTo>
                  <a:lnTo>
                    <a:pt x="0" y="355490"/>
                  </a:lnTo>
                  <a:lnTo>
                    <a:pt x="1586" y="329273"/>
                  </a:lnTo>
                  <a:lnTo>
                    <a:pt x="19562" y="280706"/>
                  </a:lnTo>
                  <a:lnTo>
                    <a:pt x="55087" y="242358"/>
                  </a:lnTo>
                  <a:lnTo>
                    <a:pt x="102141" y="220727"/>
                  </a:lnTo>
                  <a:lnTo>
                    <a:pt x="5810112" y="0"/>
                  </a:lnTo>
                  <a:lnTo>
                    <a:pt x="5836329" y="1585"/>
                  </a:lnTo>
                  <a:lnTo>
                    <a:pt x="5884898" y="19562"/>
                  </a:lnTo>
                  <a:lnTo>
                    <a:pt x="5923245" y="55087"/>
                  </a:lnTo>
                  <a:lnTo>
                    <a:pt x="5944876" y="102141"/>
                  </a:lnTo>
                  <a:lnTo>
                    <a:pt x="5979732" y="946506"/>
                  </a:lnTo>
                  <a:lnTo>
                    <a:pt x="5978146" y="972723"/>
                  </a:lnTo>
                  <a:lnTo>
                    <a:pt x="5960169" y="1021291"/>
                  </a:lnTo>
                  <a:lnTo>
                    <a:pt x="5924645" y="1059638"/>
                  </a:lnTo>
                  <a:lnTo>
                    <a:pt x="5877591" y="1081269"/>
                  </a:lnTo>
                  <a:lnTo>
                    <a:pt x="5851572" y="1084851"/>
                  </a:lnTo>
                  <a:close/>
                </a:path>
              </a:pathLst>
            </a:custGeom>
            <a:solidFill>
              <a:srgbClr val="000000"/>
            </a:solidFill>
          </p:spPr>
          <p:txBody>
            <a:bodyPr wrap="square" lIns="0" tIns="0" rIns="0" bIns="0" rtlCol="0"/>
            <a:lstStyle/>
            <a:p>
              <a:endParaRPr/>
            </a:p>
          </p:txBody>
        </p:sp>
        <p:sp>
          <p:nvSpPr>
            <p:cNvPr id="9" name="object 9"/>
            <p:cNvSpPr/>
            <p:nvPr/>
          </p:nvSpPr>
          <p:spPr>
            <a:xfrm>
              <a:off x="2565428" y="1192092"/>
              <a:ext cx="5979795" cy="1302385"/>
            </a:xfrm>
            <a:custGeom>
              <a:avLst/>
              <a:gdLst/>
              <a:ahLst/>
              <a:cxnLst/>
              <a:rect l="l" t="t" r="r" b="b"/>
              <a:pathLst>
                <a:path w="5979795" h="1302385">
                  <a:moveTo>
                    <a:pt x="128149" y="217126"/>
                  </a:moveTo>
                  <a:lnTo>
                    <a:pt x="5809622" y="0"/>
                  </a:lnTo>
                  <a:lnTo>
                    <a:pt x="5835837" y="1585"/>
                  </a:lnTo>
                  <a:lnTo>
                    <a:pt x="5860999" y="8193"/>
                  </a:lnTo>
                  <a:lnTo>
                    <a:pt x="5905330" y="35424"/>
                  </a:lnTo>
                  <a:lnTo>
                    <a:pt x="5935865" y="77547"/>
                  </a:lnTo>
                  <a:lnTo>
                    <a:pt x="5947956" y="128149"/>
                  </a:lnTo>
                  <a:lnTo>
                    <a:pt x="5979228" y="946426"/>
                  </a:lnTo>
                  <a:lnTo>
                    <a:pt x="5977642" y="972641"/>
                  </a:lnTo>
                  <a:lnTo>
                    <a:pt x="5959667" y="1021204"/>
                  </a:lnTo>
                  <a:lnTo>
                    <a:pt x="5924145" y="1059548"/>
                  </a:lnTo>
                  <a:lnTo>
                    <a:pt x="5877095" y="1081178"/>
                  </a:lnTo>
                  <a:lnTo>
                    <a:pt x="169605" y="1301887"/>
                  </a:lnTo>
                  <a:lnTo>
                    <a:pt x="143391" y="1300301"/>
                  </a:lnTo>
                  <a:lnTo>
                    <a:pt x="94827" y="1282326"/>
                  </a:lnTo>
                  <a:lnTo>
                    <a:pt x="56483" y="1246804"/>
                  </a:lnTo>
                  <a:lnTo>
                    <a:pt x="34853" y="1199754"/>
                  </a:lnTo>
                  <a:lnTo>
                    <a:pt x="0" y="355460"/>
                  </a:lnTo>
                  <a:lnTo>
                    <a:pt x="1585" y="329246"/>
                  </a:lnTo>
                  <a:lnTo>
                    <a:pt x="19561" y="280682"/>
                  </a:lnTo>
                  <a:lnTo>
                    <a:pt x="55082" y="242338"/>
                  </a:lnTo>
                  <a:lnTo>
                    <a:pt x="102132" y="220708"/>
                  </a:lnTo>
                  <a:lnTo>
                    <a:pt x="128149" y="217126"/>
                  </a:lnTo>
                </a:path>
              </a:pathLst>
            </a:custGeom>
            <a:ln w="95249">
              <a:solidFill>
                <a:srgbClr val="000000"/>
              </a:solidFill>
            </a:ln>
          </p:spPr>
          <p:txBody>
            <a:bodyPr wrap="square" lIns="0" tIns="0" rIns="0" bIns="0" rtlCol="0"/>
            <a:lstStyle/>
            <a:p>
              <a:endParaRPr/>
            </a:p>
          </p:txBody>
        </p:sp>
        <p:sp>
          <p:nvSpPr>
            <p:cNvPr id="10" name="object 10"/>
            <p:cNvSpPr/>
            <p:nvPr/>
          </p:nvSpPr>
          <p:spPr>
            <a:xfrm>
              <a:off x="2466677" y="1094954"/>
              <a:ext cx="5979796" cy="1302385"/>
            </a:xfrm>
            <a:custGeom>
              <a:avLst/>
              <a:gdLst/>
              <a:ahLst/>
              <a:cxnLst/>
              <a:rect l="l" t="t" r="r" b="b"/>
              <a:pathLst>
                <a:path w="5979795" h="1302385">
                  <a:moveTo>
                    <a:pt x="5851572" y="1084851"/>
                  </a:moveTo>
                  <a:lnTo>
                    <a:pt x="169619" y="1301997"/>
                  </a:lnTo>
                  <a:lnTo>
                    <a:pt x="143403" y="1300411"/>
                  </a:lnTo>
                  <a:lnTo>
                    <a:pt x="118238" y="1293802"/>
                  </a:lnTo>
                  <a:lnTo>
                    <a:pt x="73904" y="1266569"/>
                  </a:lnTo>
                  <a:lnTo>
                    <a:pt x="43366" y="1224442"/>
                  </a:lnTo>
                  <a:lnTo>
                    <a:pt x="31274" y="1173837"/>
                  </a:lnTo>
                  <a:lnTo>
                    <a:pt x="0" y="355490"/>
                  </a:lnTo>
                  <a:lnTo>
                    <a:pt x="1586" y="329273"/>
                  </a:lnTo>
                  <a:lnTo>
                    <a:pt x="19562" y="280706"/>
                  </a:lnTo>
                  <a:lnTo>
                    <a:pt x="55087" y="242358"/>
                  </a:lnTo>
                  <a:lnTo>
                    <a:pt x="102141" y="220727"/>
                  </a:lnTo>
                  <a:lnTo>
                    <a:pt x="5810112" y="0"/>
                  </a:lnTo>
                  <a:lnTo>
                    <a:pt x="5836329" y="1585"/>
                  </a:lnTo>
                  <a:lnTo>
                    <a:pt x="5884897" y="19562"/>
                  </a:lnTo>
                  <a:lnTo>
                    <a:pt x="5923245" y="55087"/>
                  </a:lnTo>
                  <a:lnTo>
                    <a:pt x="5944876" y="102141"/>
                  </a:lnTo>
                  <a:lnTo>
                    <a:pt x="5979733" y="946506"/>
                  </a:lnTo>
                  <a:lnTo>
                    <a:pt x="5978146" y="972723"/>
                  </a:lnTo>
                  <a:lnTo>
                    <a:pt x="5960170" y="1021291"/>
                  </a:lnTo>
                  <a:lnTo>
                    <a:pt x="5924646" y="1059638"/>
                  </a:lnTo>
                  <a:lnTo>
                    <a:pt x="5877591" y="1081269"/>
                  </a:lnTo>
                  <a:lnTo>
                    <a:pt x="5851572" y="1084851"/>
                  </a:lnTo>
                  <a:close/>
                </a:path>
              </a:pathLst>
            </a:custGeom>
            <a:solidFill>
              <a:srgbClr val="FFFFFF"/>
            </a:solidFill>
          </p:spPr>
          <p:txBody>
            <a:bodyPr wrap="square" lIns="0" tIns="0" rIns="0" bIns="0" rtlCol="0"/>
            <a:lstStyle/>
            <a:p>
              <a:endParaRPr dirty="0"/>
            </a:p>
          </p:txBody>
        </p:sp>
        <p:sp>
          <p:nvSpPr>
            <p:cNvPr id="11" name="object 11"/>
            <p:cNvSpPr/>
            <p:nvPr/>
          </p:nvSpPr>
          <p:spPr>
            <a:xfrm>
              <a:off x="2466866" y="1094964"/>
              <a:ext cx="5979795" cy="1302385"/>
            </a:xfrm>
            <a:custGeom>
              <a:avLst/>
              <a:gdLst/>
              <a:ahLst/>
              <a:cxnLst/>
              <a:rect l="l" t="t" r="r" b="b"/>
              <a:pathLst>
                <a:path w="5979795" h="1302385">
                  <a:moveTo>
                    <a:pt x="128149" y="217126"/>
                  </a:moveTo>
                  <a:lnTo>
                    <a:pt x="5809622" y="0"/>
                  </a:lnTo>
                  <a:lnTo>
                    <a:pt x="5835837" y="1585"/>
                  </a:lnTo>
                  <a:lnTo>
                    <a:pt x="5860999" y="8193"/>
                  </a:lnTo>
                  <a:lnTo>
                    <a:pt x="5905330" y="35424"/>
                  </a:lnTo>
                  <a:lnTo>
                    <a:pt x="5935865" y="77547"/>
                  </a:lnTo>
                  <a:lnTo>
                    <a:pt x="5947956" y="128149"/>
                  </a:lnTo>
                  <a:lnTo>
                    <a:pt x="5979228" y="946426"/>
                  </a:lnTo>
                  <a:lnTo>
                    <a:pt x="5977642" y="972641"/>
                  </a:lnTo>
                  <a:lnTo>
                    <a:pt x="5959667" y="1021204"/>
                  </a:lnTo>
                  <a:lnTo>
                    <a:pt x="5924145" y="1059549"/>
                  </a:lnTo>
                  <a:lnTo>
                    <a:pt x="5877095" y="1081178"/>
                  </a:lnTo>
                  <a:lnTo>
                    <a:pt x="169605" y="1301887"/>
                  </a:lnTo>
                  <a:lnTo>
                    <a:pt x="143391" y="1300301"/>
                  </a:lnTo>
                  <a:lnTo>
                    <a:pt x="94827" y="1282326"/>
                  </a:lnTo>
                  <a:lnTo>
                    <a:pt x="56482" y="1246804"/>
                  </a:lnTo>
                  <a:lnTo>
                    <a:pt x="34853" y="1199754"/>
                  </a:lnTo>
                  <a:lnTo>
                    <a:pt x="0" y="355460"/>
                  </a:lnTo>
                  <a:lnTo>
                    <a:pt x="1585" y="329246"/>
                  </a:lnTo>
                  <a:lnTo>
                    <a:pt x="19561" y="280682"/>
                  </a:lnTo>
                  <a:lnTo>
                    <a:pt x="55082" y="242338"/>
                  </a:lnTo>
                  <a:lnTo>
                    <a:pt x="102132" y="220708"/>
                  </a:lnTo>
                  <a:lnTo>
                    <a:pt x="128149" y="217126"/>
                  </a:lnTo>
                </a:path>
              </a:pathLst>
            </a:custGeom>
            <a:ln w="95249">
              <a:solidFill>
                <a:srgbClr val="000000"/>
              </a:solidFill>
            </a:ln>
          </p:spPr>
          <p:txBody>
            <a:bodyPr wrap="square" lIns="0" tIns="0" rIns="0" bIns="0" rtlCol="0"/>
            <a:lstStyle/>
            <a:p>
              <a:endParaRPr/>
            </a:p>
          </p:txBody>
        </p:sp>
      </p:grpSp>
      <p:sp>
        <p:nvSpPr>
          <p:cNvPr id="12" name="object 12"/>
          <p:cNvSpPr txBox="1"/>
          <p:nvPr/>
        </p:nvSpPr>
        <p:spPr>
          <a:xfrm rot="21233118">
            <a:off x="3526883" y="1714883"/>
            <a:ext cx="5234880" cy="2530436"/>
          </a:xfrm>
          <a:prstGeom prst="rect">
            <a:avLst/>
          </a:prstGeom>
        </p:spPr>
        <p:txBody>
          <a:bodyPr vert="horz" wrap="square" lIns="0" tIns="0" rIns="0" bIns="0" rtlCol="0">
            <a:spAutoFit/>
          </a:bodyPr>
          <a:lstStyle/>
          <a:p>
            <a:pPr>
              <a:lnSpc>
                <a:spcPts val="3854"/>
              </a:lnSpc>
            </a:pPr>
            <a:r>
              <a:rPr lang="en-IN" sz="5400" b="1" dirty="0">
                <a:latin typeface="Tahoma"/>
                <a:cs typeface="Tahoma"/>
              </a:rPr>
              <a:t>     PROBLEM</a:t>
            </a:r>
          </a:p>
          <a:p>
            <a:pPr algn="ctr">
              <a:lnSpc>
                <a:spcPts val="3854"/>
              </a:lnSpc>
            </a:pPr>
            <a:endParaRPr lang="en-IN" sz="5400" b="1" dirty="0">
              <a:latin typeface="Tahoma"/>
              <a:cs typeface="Tahoma"/>
            </a:endParaRPr>
          </a:p>
          <a:p>
            <a:pPr>
              <a:lnSpc>
                <a:spcPts val="3854"/>
              </a:lnSpc>
            </a:pPr>
            <a:r>
              <a:rPr lang="en-IN" sz="5400" b="1" dirty="0">
                <a:latin typeface="Tahoma"/>
                <a:cs typeface="Tahoma"/>
              </a:rPr>
              <a:t>         </a:t>
            </a:r>
            <a:r>
              <a:rPr lang="en-IN" sz="5400" b="1" dirty="0">
                <a:solidFill>
                  <a:schemeClr val="tx1"/>
                </a:solidFill>
              </a:rPr>
              <a:t>AND</a:t>
            </a:r>
          </a:p>
          <a:p>
            <a:pPr>
              <a:lnSpc>
                <a:spcPts val="3854"/>
              </a:lnSpc>
            </a:pPr>
            <a:br>
              <a:rPr lang="en-IN" sz="5400" b="1" dirty="0">
                <a:solidFill>
                  <a:schemeClr val="tx1"/>
                </a:solidFill>
              </a:rPr>
            </a:br>
            <a:r>
              <a:rPr lang="en-IN" sz="5400" b="1" dirty="0">
                <a:solidFill>
                  <a:schemeClr val="tx1"/>
                </a:solidFill>
              </a:rPr>
              <a:t>    MOTIVATION</a:t>
            </a:r>
            <a:endParaRPr sz="5400" b="1" dirty="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78283" y="4476314"/>
            <a:ext cx="12731115" cy="3486586"/>
            <a:chOff x="2778283" y="4476314"/>
            <a:chExt cx="12731115" cy="2767965"/>
          </a:xfrm>
        </p:grpSpPr>
        <p:sp>
          <p:nvSpPr>
            <p:cNvPr id="3" name="object 3"/>
            <p:cNvSpPr/>
            <p:nvPr/>
          </p:nvSpPr>
          <p:spPr>
            <a:xfrm>
              <a:off x="3029508" y="4696252"/>
              <a:ext cx="12430760" cy="2503170"/>
            </a:xfrm>
            <a:custGeom>
              <a:avLst/>
              <a:gdLst/>
              <a:ahLst/>
              <a:cxnLst/>
              <a:rect l="l" t="t" r="r" b="b"/>
              <a:pathLst>
                <a:path w="12430760" h="2503170">
                  <a:moveTo>
                    <a:pt x="12304680" y="2040377"/>
                  </a:moveTo>
                  <a:lnTo>
                    <a:pt x="206136" y="2502743"/>
                  </a:lnTo>
                  <a:lnTo>
                    <a:pt x="163758" y="2497559"/>
                  </a:lnTo>
                  <a:lnTo>
                    <a:pt x="126456" y="2480040"/>
                  </a:lnTo>
                  <a:lnTo>
                    <a:pt x="96508" y="2452297"/>
                  </a:lnTo>
                  <a:lnTo>
                    <a:pt x="76194" y="2416441"/>
                  </a:lnTo>
                  <a:lnTo>
                    <a:pt x="67791" y="2374582"/>
                  </a:lnTo>
                  <a:lnTo>
                    <a:pt x="0" y="600711"/>
                  </a:lnTo>
                  <a:lnTo>
                    <a:pt x="5183" y="558333"/>
                  </a:lnTo>
                  <a:lnTo>
                    <a:pt x="22702" y="521031"/>
                  </a:lnTo>
                  <a:lnTo>
                    <a:pt x="50445" y="491083"/>
                  </a:lnTo>
                  <a:lnTo>
                    <a:pt x="86301" y="470768"/>
                  </a:lnTo>
                  <a:lnTo>
                    <a:pt x="128160" y="462365"/>
                  </a:lnTo>
                  <a:lnTo>
                    <a:pt x="12226704" y="0"/>
                  </a:lnTo>
                  <a:lnTo>
                    <a:pt x="12269081" y="5183"/>
                  </a:lnTo>
                  <a:lnTo>
                    <a:pt x="12306384" y="22702"/>
                  </a:lnTo>
                  <a:lnTo>
                    <a:pt x="12336331" y="50445"/>
                  </a:lnTo>
                  <a:lnTo>
                    <a:pt x="12356645" y="86301"/>
                  </a:lnTo>
                  <a:lnTo>
                    <a:pt x="12430373" y="1922200"/>
                  </a:lnTo>
                  <a:lnTo>
                    <a:pt x="12427656" y="1944409"/>
                  </a:lnTo>
                  <a:lnTo>
                    <a:pt x="12410138" y="1981711"/>
                  </a:lnTo>
                  <a:lnTo>
                    <a:pt x="12382395" y="2011659"/>
                  </a:lnTo>
                  <a:lnTo>
                    <a:pt x="12346539" y="2031974"/>
                  </a:lnTo>
                  <a:lnTo>
                    <a:pt x="12304680" y="2040377"/>
                  </a:lnTo>
                  <a:close/>
                </a:path>
              </a:pathLst>
            </a:custGeom>
            <a:solidFill>
              <a:srgbClr val="000000"/>
            </a:solidFill>
          </p:spPr>
          <p:txBody>
            <a:bodyPr wrap="square" lIns="0" tIns="0" rIns="0" bIns="0" rtlCol="0"/>
            <a:lstStyle/>
            <a:p>
              <a:endParaRPr/>
            </a:p>
          </p:txBody>
        </p:sp>
        <p:sp>
          <p:nvSpPr>
            <p:cNvPr id="4" name="object 4"/>
            <p:cNvSpPr/>
            <p:nvPr/>
          </p:nvSpPr>
          <p:spPr>
            <a:xfrm>
              <a:off x="3029762" y="4696264"/>
              <a:ext cx="12432030" cy="2500630"/>
            </a:xfrm>
            <a:custGeom>
              <a:avLst/>
              <a:gdLst/>
              <a:ahLst/>
              <a:cxnLst/>
              <a:rect l="l" t="t" r="r" b="b"/>
              <a:pathLst>
                <a:path w="12432030" h="2500629">
                  <a:moveTo>
                    <a:pt x="12431668" y="1906854"/>
                  </a:moveTo>
                  <a:lnTo>
                    <a:pt x="12427087" y="1944321"/>
                  </a:lnTo>
                  <a:lnTo>
                    <a:pt x="12409568" y="1981622"/>
                  </a:lnTo>
                  <a:lnTo>
                    <a:pt x="12381826" y="2011568"/>
                  </a:lnTo>
                  <a:lnTo>
                    <a:pt x="12345971" y="2031881"/>
                  </a:lnTo>
                  <a:lnTo>
                    <a:pt x="12325190" y="2036053"/>
                  </a:lnTo>
                </a:path>
                <a:path w="12432030" h="2500629">
                  <a:moveTo>
                    <a:pt x="184792" y="2500018"/>
                  </a:moveTo>
                  <a:lnTo>
                    <a:pt x="126451" y="2479926"/>
                  </a:lnTo>
                  <a:lnTo>
                    <a:pt x="96504" y="2452185"/>
                  </a:lnTo>
                  <a:lnTo>
                    <a:pt x="76190" y="2416330"/>
                  </a:lnTo>
                  <a:lnTo>
                    <a:pt x="67788" y="2374473"/>
                  </a:lnTo>
                  <a:lnTo>
                    <a:pt x="0" y="600683"/>
                  </a:lnTo>
                  <a:lnTo>
                    <a:pt x="5183" y="558308"/>
                  </a:lnTo>
                  <a:lnTo>
                    <a:pt x="22701" y="521007"/>
                  </a:lnTo>
                  <a:lnTo>
                    <a:pt x="50443" y="491061"/>
                  </a:lnTo>
                  <a:lnTo>
                    <a:pt x="86297" y="470747"/>
                  </a:lnTo>
                  <a:lnTo>
                    <a:pt x="128154" y="462344"/>
                  </a:lnTo>
                  <a:lnTo>
                    <a:pt x="12226142" y="0"/>
                  </a:lnTo>
                  <a:lnTo>
                    <a:pt x="12268518" y="5183"/>
                  </a:lnTo>
                  <a:lnTo>
                    <a:pt x="12305818" y="22701"/>
                  </a:lnTo>
                  <a:lnTo>
                    <a:pt x="12335765" y="50442"/>
                  </a:lnTo>
                  <a:lnTo>
                    <a:pt x="12356079" y="86297"/>
                  </a:lnTo>
                  <a:lnTo>
                    <a:pt x="12363506" y="123300"/>
                  </a:lnTo>
                </a:path>
              </a:pathLst>
            </a:custGeom>
            <a:ln w="95249">
              <a:solidFill>
                <a:srgbClr val="000000"/>
              </a:solidFill>
            </a:ln>
          </p:spPr>
          <p:txBody>
            <a:bodyPr wrap="square" lIns="0" tIns="0" rIns="0" bIns="0" rtlCol="0"/>
            <a:lstStyle/>
            <a:p>
              <a:endParaRPr/>
            </a:p>
          </p:txBody>
        </p:sp>
        <p:sp>
          <p:nvSpPr>
            <p:cNvPr id="5" name="object 5"/>
            <p:cNvSpPr/>
            <p:nvPr/>
          </p:nvSpPr>
          <p:spPr>
            <a:xfrm>
              <a:off x="2825654" y="4523927"/>
              <a:ext cx="12430760" cy="2503170"/>
            </a:xfrm>
            <a:custGeom>
              <a:avLst/>
              <a:gdLst/>
              <a:ahLst/>
              <a:cxnLst/>
              <a:rect l="l" t="t" r="r" b="b"/>
              <a:pathLst>
                <a:path w="12430760" h="2503170">
                  <a:moveTo>
                    <a:pt x="12304680" y="2040377"/>
                  </a:moveTo>
                  <a:lnTo>
                    <a:pt x="206136" y="2502743"/>
                  </a:lnTo>
                  <a:lnTo>
                    <a:pt x="163758" y="2497559"/>
                  </a:lnTo>
                  <a:lnTo>
                    <a:pt x="126456" y="2480040"/>
                  </a:lnTo>
                  <a:lnTo>
                    <a:pt x="96509" y="2452297"/>
                  </a:lnTo>
                  <a:lnTo>
                    <a:pt x="76194" y="2416441"/>
                  </a:lnTo>
                  <a:lnTo>
                    <a:pt x="67791" y="2374583"/>
                  </a:lnTo>
                  <a:lnTo>
                    <a:pt x="0" y="600711"/>
                  </a:lnTo>
                  <a:lnTo>
                    <a:pt x="5183" y="558333"/>
                  </a:lnTo>
                  <a:lnTo>
                    <a:pt x="22702" y="521031"/>
                  </a:lnTo>
                  <a:lnTo>
                    <a:pt x="50445" y="491083"/>
                  </a:lnTo>
                  <a:lnTo>
                    <a:pt x="86301" y="470768"/>
                  </a:lnTo>
                  <a:lnTo>
                    <a:pt x="128160" y="462365"/>
                  </a:lnTo>
                  <a:lnTo>
                    <a:pt x="12226704" y="0"/>
                  </a:lnTo>
                  <a:lnTo>
                    <a:pt x="12269081" y="5183"/>
                  </a:lnTo>
                  <a:lnTo>
                    <a:pt x="12306383" y="22702"/>
                  </a:lnTo>
                  <a:lnTo>
                    <a:pt x="12336331" y="50445"/>
                  </a:lnTo>
                  <a:lnTo>
                    <a:pt x="12356645" y="86301"/>
                  </a:lnTo>
                  <a:lnTo>
                    <a:pt x="12430373" y="1922200"/>
                  </a:lnTo>
                  <a:lnTo>
                    <a:pt x="12427656" y="1944409"/>
                  </a:lnTo>
                  <a:lnTo>
                    <a:pt x="12410137" y="1981711"/>
                  </a:lnTo>
                  <a:lnTo>
                    <a:pt x="12382395" y="2011659"/>
                  </a:lnTo>
                  <a:lnTo>
                    <a:pt x="12346539" y="2031974"/>
                  </a:lnTo>
                  <a:lnTo>
                    <a:pt x="12304680" y="2040377"/>
                  </a:lnTo>
                  <a:close/>
                </a:path>
              </a:pathLst>
            </a:custGeom>
            <a:solidFill>
              <a:srgbClr val="D4E74E"/>
            </a:solidFill>
          </p:spPr>
          <p:txBody>
            <a:bodyPr wrap="square" lIns="0" tIns="0" rIns="0" bIns="0" rtlCol="0"/>
            <a:lstStyle/>
            <a:p>
              <a:endParaRPr/>
            </a:p>
          </p:txBody>
        </p:sp>
        <p:sp>
          <p:nvSpPr>
            <p:cNvPr id="6" name="object 6"/>
            <p:cNvSpPr/>
            <p:nvPr/>
          </p:nvSpPr>
          <p:spPr>
            <a:xfrm>
              <a:off x="2825908" y="4523939"/>
              <a:ext cx="12432030" cy="2500630"/>
            </a:xfrm>
            <a:custGeom>
              <a:avLst/>
              <a:gdLst/>
              <a:ahLst/>
              <a:cxnLst/>
              <a:rect l="l" t="t" r="r" b="b"/>
              <a:pathLst>
                <a:path w="12432030" h="2500629">
                  <a:moveTo>
                    <a:pt x="12431668" y="1906854"/>
                  </a:moveTo>
                  <a:lnTo>
                    <a:pt x="12427086" y="1944321"/>
                  </a:lnTo>
                  <a:lnTo>
                    <a:pt x="12409568" y="1981622"/>
                  </a:lnTo>
                  <a:lnTo>
                    <a:pt x="12381826" y="2011568"/>
                  </a:lnTo>
                  <a:lnTo>
                    <a:pt x="12345971" y="2031881"/>
                  </a:lnTo>
                  <a:lnTo>
                    <a:pt x="12325189" y="2036052"/>
                  </a:lnTo>
                </a:path>
                <a:path w="12432030" h="2500629">
                  <a:moveTo>
                    <a:pt x="184789" y="2500018"/>
                  </a:moveTo>
                  <a:lnTo>
                    <a:pt x="126450" y="2479926"/>
                  </a:lnTo>
                  <a:lnTo>
                    <a:pt x="96504" y="2452185"/>
                  </a:lnTo>
                  <a:lnTo>
                    <a:pt x="76190" y="2416330"/>
                  </a:lnTo>
                  <a:lnTo>
                    <a:pt x="67788" y="2374473"/>
                  </a:lnTo>
                  <a:lnTo>
                    <a:pt x="0" y="600683"/>
                  </a:lnTo>
                  <a:lnTo>
                    <a:pt x="5183" y="558307"/>
                  </a:lnTo>
                  <a:lnTo>
                    <a:pt x="22701" y="521007"/>
                  </a:lnTo>
                  <a:lnTo>
                    <a:pt x="50443" y="491061"/>
                  </a:lnTo>
                  <a:lnTo>
                    <a:pt x="86297" y="470747"/>
                  </a:lnTo>
                  <a:lnTo>
                    <a:pt x="128154" y="462344"/>
                  </a:lnTo>
                  <a:lnTo>
                    <a:pt x="12226142" y="0"/>
                  </a:lnTo>
                  <a:lnTo>
                    <a:pt x="12268518" y="5183"/>
                  </a:lnTo>
                  <a:lnTo>
                    <a:pt x="12305818" y="22700"/>
                  </a:lnTo>
                  <a:lnTo>
                    <a:pt x="12335765" y="50442"/>
                  </a:lnTo>
                  <a:lnTo>
                    <a:pt x="12356079" y="86297"/>
                  </a:lnTo>
                  <a:lnTo>
                    <a:pt x="12363506" y="123300"/>
                  </a:lnTo>
                </a:path>
              </a:pathLst>
            </a:custGeom>
            <a:ln w="95249">
              <a:solidFill>
                <a:srgbClr val="000000"/>
              </a:solidFill>
            </a:ln>
          </p:spPr>
          <p:txBody>
            <a:bodyPr wrap="square" lIns="0" tIns="0" rIns="0" bIns="0" rtlCol="0"/>
            <a:lstStyle/>
            <a:p>
              <a:endParaRPr/>
            </a:p>
          </p:txBody>
        </p:sp>
      </p:grpSp>
      <p:sp>
        <p:nvSpPr>
          <p:cNvPr id="7" name="object 7"/>
          <p:cNvSpPr txBox="1"/>
          <p:nvPr/>
        </p:nvSpPr>
        <p:spPr>
          <a:xfrm rot="21480000">
            <a:off x="5087624" y="4672244"/>
            <a:ext cx="11842881" cy="2613344"/>
          </a:xfrm>
          <a:prstGeom prst="rect">
            <a:avLst/>
          </a:prstGeom>
        </p:spPr>
        <p:txBody>
          <a:bodyPr vert="horz" wrap="square" lIns="0" tIns="0" rIns="0" bIns="0" rtlCol="0">
            <a:spAutoFit/>
          </a:bodyPr>
          <a:lstStyle/>
          <a:p>
            <a:pPr>
              <a:lnSpc>
                <a:spcPts val="10810"/>
              </a:lnSpc>
            </a:pPr>
            <a:r>
              <a:rPr lang="en-IN" sz="7200" b="1" spc="-455" dirty="0">
                <a:latin typeface="Tahoma"/>
                <a:cs typeface="Tahoma"/>
              </a:rPr>
              <a:t> </a:t>
            </a:r>
            <a:r>
              <a:rPr sz="7200" b="1" spc="-455" dirty="0">
                <a:latin typeface="Tahoma"/>
                <a:cs typeface="Tahoma"/>
              </a:rPr>
              <a:t>AI</a:t>
            </a:r>
            <a:r>
              <a:rPr sz="7200" b="1" spc="-844" dirty="0">
                <a:latin typeface="Tahoma"/>
                <a:cs typeface="Tahoma"/>
              </a:rPr>
              <a:t> </a:t>
            </a:r>
            <a:r>
              <a:rPr lang="en-IN" sz="7200" b="1" spc="-844" dirty="0">
                <a:latin typeface="Tahoma"/>
                <a:cs typeface="Tahoma"/>
              </a:rPr>
              <a:t> </a:t>
            </a:r>
            <a:r>
              <a:rPr sz="7200" b="1" spc="-1160" dirty="0">
                <a:latin typeface="Tahoma"/>
                <a:cs typeface="Tahoma"/>
              </a:rPr>
              <a:t>I</a:t>
            </a:r>
            <a:r>
              <a:rPr sz="7200" b="1" spc="-520" dirty="0">
                <a:latin typeface="Tahoma"/>
                <a:cs typeface="Tahoma"/>
              </a:rPr>
              <a:t>N</a:t>
            </a:r>
            <a:r>
              <a:rPr lang="en-IN" sz="7200" b="1" spc="-520" dirty="0">
                <a:latin typeface="Tahoma"/>
                <a:cs typeface="Tahoma"/>
              </a:rPr>
              <a:t>  </a:t>
            </a:r>
            <a:r>
              <a:rPr lang="en-IN" sz="7200" b="1" spc="-340" dirty="0">
                <a:latin typeface="Tahoma"/>
                <a:cs typeface="Tahoma"/>
              </a:rPr>
              <a:t>FINANCIAL        CONVERSATIONS</a:t>
            </a:r>
            <a:endParaRPr sz="7200" dirty="0">
              <a:latin typeface="Tahoma"/>
              <a:cs typeface="Tahoma"/>
            </a:endParaRPr>
          </a:p>
        </p:txBody>
      </p:sp>
      <p:pic>
        <p:nvPicPr>
          <p:cNvPr id="8" name="object 8"/>
          <p:cNvPicPr/>
          <p:nvPr/>
        </p:nvPicPr>
        <p:blipFill>
          <a:blip r:embed="rId2" cstate="print"/>
          <a:stretch>
            <a:fillRect/>
          </a:stretch>
        </p:blipFill>
        <p:spPr>
          <a:xfrm>
            <a:off x="6430076" y="1137272"/>
            <a:ext cx="5443571" cy="4334320"/>
          </a:xfrm>
          <a:prstGeom prst="rect">
            <a:avLst/>
          </a:prstGeom>
        </p:spPr>
      </p:pic>
      <p:sp>
        <p:nvSpPr>
          <p:cNvPr id="9" name="object 9"/>
          <p:cNvSpPr/>
          <p:nvPr/>
        </p:nvSpPr>
        <p:spPr>
          <a:xfrm>
            <a:off x="14491616" y="7059459"/>
            <a:ext cx="3542665" cy="3227705"/>
          </a:xfrm>
          <a:custGeom>
            <a:avLst/>
            <a:gdLst/>
            <a:ahLst/>
            <a:cxnLst/>
            <a:rect l="l" t="t" r="r" b="b"/>
            <a:pathLst>
              <a:path w="3542665" h="3227704">
                <a:moveTo>
                  <a:pt x="1413951" y="1524991"/>
                </a:moveTo>
                <a:lnTo>
                  <a:pt x="1068080" y="1641949"/>
                </a:lnTo>
                <a:lnTo>
                  <a:pt x="1189042" y="1396939"/>
                </a:lnTo>
                <a:lnTo>
                  <a:pt x="1187721" y="1393838"/>
                </a:lnTo>
                <a:lnTo>
                  <a:pt x="1185953" y="1391025"/>
                </a:lnTo>
                <a:lnTo>
                  <a:pt x="997450" y="833581"/>
                </a:lnTo>
                <a:lnTo>
                  <a:pt x="997229" y="830108"/>
                </a:lnTo>
                <a:lnTo>
                  <a:pt x="996275" y="826883"/>
                </a:lnTo>
                <a:lnTo>
                  <a:pt x="610526" y="635749"/>
                </a:lnTo>
                <a:lnTo>
                  <a:pt x="294364" y="742661"/>
                </a:lnTo>
                <a:lnTo>
                  <a:pt x="243535" y="749122"/>
                </a:lnTo>
                <a:lnTo>
                  <a:pt x="195796" y="736017"/>
                </a:lnTo>
                <a:lnTo>
                  <a:pt x="156426" y="705961"/>
                </a:lnTo>
                <a:lnTo>
                  <a:pt x="130703" y="661569"/>
                </a:lnTo>
                <a:lnTo>
                  <a:pt x="6497" y="294265"/>
                </a:lnTo>
                <a:lnTo>
                  <a:pt x="0" y="243372"/>
                </a:lnTo>
                <a:lnTo>
                  <a:pt x="13048" y="195591"/>
                </a:lnTo>
                <a:lnTo>
                  <a:pt x="43036" y="156202"/>
                </a:lnTo>
                <a:lnTo>
                  <a:pt x="87355" y="130488"/>
                </a:lnTo>
                <a:lnTo>
                  <a:pt x="454132" y="6460"/>
                </a:lnTo>
                <a:lnTo>
                  <a:pt x="504962" y="0"/>
                </a:lnTo>
                <a:lnTo>
                  <a:pt x="552700" y="13105"/>
                </a:lnTo>
                <a:lnTo>
                  <a:pt x="592070" y="43161"/>
                </a:lnTo>
                <a:lnTo>
                  <a:pt x="617793" y="87553"/>
                </a:lnTo>
                <a:lnTo>
                  <a:pt x="724900" y="404291"/>
                </a:lnTo>
                <a:lnTo>
                  <a:pt x="1110649" y="595425"/>
                </a:lnTo>
                <a:lnTo>
                  <a:pt x="1678835" y="403290"/>
                </a:lnTo>
                <a:lnTo>
                  <a:pt x="1713694" y="395819"/>
                </a:lnTo>
                <a:lnTo>
                  <a:pt x="1756962" y="396590"/>
                </a:lnTo>
                <a:lnTo>
                  <a:pt x="1798347" y="406763"/>
                </a:lnTo>
                <a:lnTo>
                  <a:pt x="1836372" y="425604"/>
                </a:lnTo>
                <a:lnTo>
                  <a:pt x="1869559" y="452381"/>
                </a:lnTo>
                <a:lnTo>
                  <a:pt x="1896432" y="486363"/>
                </a:lnTo>
                <a:lnTo>
                  <a:pt x="1915512" y="526817"/>
                </a:lnTo>
                <a:lnTo>
                  <a:pt x="2101820" y="1077773"/>
                </a:lnTo>
                <a:lnTo>
                  <a:pt x="2111208" y="1121505"/>
                </a:lnTo>
                <a:lnTo>
                  <a:pt x="2110475" y="1164822"/>
                </a:lnTo>
                <a:lnTo>
                  <a:pt x="2100350" y="1206245"/>
                </a:lnTo>
                <a:lnTo>
                  <a:pt x="2081564" y="1244297"/>
                </a:lnTo>
                <a:lnTo>
                  <a:pt x="2054846" y="1277498"/>
                </a:lnTo>
                <a:lnTo>
                  <a:pt x="2020926" y="1304372"/>
                </a:lnTo>
                <a:lnTo>
                  <a:pt x="1420500" y="1511725"/>
                </a:lnTo>
                <a:lnTo>
                  <a:pt x="1413951" y="1524991"/>
                </a:lnTo>
                <a:close/>
              </a:path>
              <a:path w="3542665" h="3227704">
                <a:moveTo>
                  <a:pt x="1678835" y="403290"/>
                </a:moveTo>
                <a:lnTo>
                  <a:pt x="1110649" y="595425"/>
                </a:lnTo>
                <a:lnTo>
                  <a:pt x="1113745" y="594105"/>
                </a:lnTo>
                <a:lnTo>
                  <a:pt x="1116553" y="592337"/>
                </a:lnTo>
                <a:lnTo>
                  <a:pt x="1670020" y="405179"/>
                </a:lnTo>
                <a:lnTo>
                  <a:pt x="1678835" y="403290"/>
                </a:lnTo>
                <a:close/>
              </a:path>
              <a:path w="3542665" h="3227704">
                <a:moveTo>
                  <a:pt x="1980534" y="1323439"/>
                </a:moveTo>
                <a:lnTo>
                  <a:pt x="1427067" y="1510596"/>
                </a:lnTo>
                <a:lnTo>
                  <a:pt x="1423721" y="1510773"/>
                </a:lnTo>
                <a:lnTo>
                  <a:pt x="1420500" y="1511725"/>
                </a:lnTo>
                <a:lnTo>
                  <a:pt x="1988687" y="1319590"/>
                </a:lnTo>
                <a:lnTo>
                  <a:pt x="1980534" y="1323439"/>
                </a:lnTo>
                <a:close/>
              </a:path>
              <a:path w="3542665" h="3227704">
                <a:moveTo>
                  <a:pt x="1416561" y="2878361"/>
                </a:moveTo>
                <a:lnTo>
                  <a:pt x="683006" y="3126416"/>
                </a:lnTo>
                <a:lnTo>
                  <a:pt x="637706" y="3137340"/>
                </a:lnTo>
                <a:lnTo>
                  <a:pt x="592486" y="3139961"/>
                </a:lnTo>
                <a:lnTo>
                  <a:pt x="548268" y="3134737"/>
                </a:lnTo>
                <a:lnTo>
                  <a:pt x="505975" y="3122124"/>
                </a:lnTo>
                <a:lnTo>
                  <a:pt x="466531" y="3102579"/>
                </a:lnTo>
                <a:lnTo>
                  <a:pt x="430856" y="3076561"/>
                </a:lnTo>
                <a:lnTo>
                  <a:pt x="399875" y="3044525"/>
                </a:lnTo>
                <a:lnTo>
                  <a:pt x="374510" y="3006930"/>
                </a:lnTo>
                <a:lnTo>
                  <a:pt x="355684" y="2964232"/>
                </a:lnTo>
                <a:lnTo>
                  <a:pt x="107273" y="2229624"/>
                </a:lnTo>
                <a:lnTo>
                  <a:pt x="96321" y="2184264"/>
                </a:lnTo>
                <a:lnTo>
                  <a:pt x="93664" y="2138990"/>
                </a:lnTo>
                <a:lnTo>
                  <a:pt x="98844" y="2094726"/>
                </a:lnTo>
                <a:lnTo>
                  <a:pt x="111406" y="2052396"/>
                </a:lnTo>
                <a:lnTo>
                  <a:pt x="130894" y="2012923"/>
                </a:lnTo>
                <a:lnTo>
                  <a:pt x="156852" y="1977231"/>
                </a:lnTo>
                <a:lnTo>
                  <a:pt x="188824" y="1946243"/>
                </a:lnTo>
                <a:lnTo>
                  <a:pt x="226354" y="1920881"/>
                </a:lnTo>
                <a:lnTo>
                  <a:pt x="268987" y="1902070"/>
                </a:lnTo>
                <a:lnTo>
                  <a:pt x="1002419" y="1654057"/>
                </a:lnTo>
                <a:lnTo>
                  <a:pt x="1051653" y="1643394"/>
                </a:lnTo>
                <a:lnTo>
                  <a:pt x="1068080" y="1641949"/>
                </a:lnTo>
                <a:lnTo>
                  <a:pt x="1413951" y="1524991"/>
                </a:lnTo>
                <a:lnTo>
                  <a:pt x="1299538" y="1756736"/>
                </a:lnTo>
                <a:lnTo>
                  <a:pt x="1308303" y="1770690"/>
                </a:lnTo>
                <a:lnTo>
                  <a:pt x="1316394" y="1785179"/>
                </a:lnTo>
                <a:lnTo>
                  <a:pt x="1578153" y="2550848"/>
                </a:lnTo>
                <a:lnTo>
                  <a:pt x="1588811" y="2600044"/>
                </a:lnTo>
                <a:lnTo>
                  <a:pt x="1590262" y="2616471"/>
                </a:lnTo>
                <a:lnTo>
                  <a:pt x="1821843" y="2731217"/>
                </a:lnTo>
                <a:lnTo>
                  <a:pt x="1476094" y="2848134"/>
                </a:lnTo>
                <a:lnTo>
                  <a:pt x="1462093" y="2856921"/>
                </a:lnTo>
                <a:lnTo>
                  <a:pt x="1447591" y="2865020"/>
                </a:lnTo>
                <a:lnTo>
                  <a:pt x="1432457" y="2872233"/>
                </a:lnTo>
                <a:lnTo>
                  <a:pt x="1416561" y="2878361"/>
                </a:lnTo>
                <a:close/>
              </a:path>
              <a:path w="3542665" h="3227704">
                <a:moveTo>
                  <a:pt x="2649826" y="2631870"/>
                </a:moveTo>
                <a:lnTo>
                  <a:pt x="2304076" y="2748787"/>
                </a:lnTo>
                <a:lnTo>
                  <a:pt x="2620471" y="2107927"/>
                </a:lnTo>
                <a:lnTo>
                  <a:pt x="2619150" y="2104826"/>
                </a:lnTo>
                <a:lnTo>
                  <a:pt x="2617382" y="2102013"/>
                </a:lnTo>
                <a:lnTo>
                  <a:pt x="2429955" y="1547752"/>
                </a:lnTo>
                <a:lnTo>
                  <a:pt x="2420567" y="1504020"/>
                </a:lnTo>
                <a:lnTo>
                  <a:pt x="2421301" y="1460703"/>
                </a:lnTo>
                <a:lnTo>
                  <a:pt x="2431425" y="1419280"/>
                </a:lnTo>
                <a:lnTo>
                  <a:pt x="2450212" y="1381228"/>
                </a:lnTo>
                <a:lnTo>
                  <a:pt x="2476930" y="1348026"/>
                </a:lnTo>
                <a:lnTo>
                  <a:pt x="2510849" y="1321153"/>
                </a:lnTo>
                <a:lnTo>
                  <a:pt x="2551241" y="1302086"/>
                </a:lnTo>
                <a:lnTo>
                  <a:pt x="3101407" y="1116045"/>
                </a:lnTo>
                <a:lnTo>
                  <a:pt x="3101488" y="1115881"/>
                </a:lnTo>
                <a:lnTo>
                  <a:pt x="3145162" y="1106521"/>
                </a:lnTo>
                <a:lnTo>
                  <a:pt x="3188431" y="1107293"/>
                </a:lnTo>
                <a:lnTo>
                  <a:pt x="3229816" y="1117465"/>
                </a:lnTo>
                <a:lnTo>
                  <a:pt x="3267840" y="1136306"/>
                </a:lnTo>
                <a:lnTo>
                  <a:pt x="3301027" y="1163083"/>
                </a:lnTo>
                <a:lnTo>
                  <a:pt x="3327339" y="1196356"/>
                </a:lnTo>
                <a:lnTo>
                  <a:pt x="3542661" y="1833110"/>
                </a:lnTo>
                <a:lnTo>
                  <a:pt x="3541943" y="1875524"/>
                </a:lnTo>
                <a:lnTo>
                  <a:pt x="3531818" y="1916947"/>
                </a:lnTo>
                <a:lnTo>
                  <a:pt x="3513032" y="1954999"/>
                </a:lnTo>
                <a:lnTo>
                  <a:pt x="3486314" y="1988201"/>
                </a:lnTo>
                <a:lnTo>
                  <a:pt x="3452394" y="2015074"/>
                </a:lnTo>
                <a:lnTo>
                  <a:pt x="2851969" y="2222427"/>
                </a:lnTo>
                <a:lnTo>
                  <a:pt x="2649826" y="2631870"/>
                </a:lnTo>
                <a:close/>
              </a:path>
              <a:path w="3542665" h="3227704">
                <a:moveTo>
                  <a:pt x="3412002" y="2034141"/>
                </a:moveTo>
                <a:lnTo>
                  <a:pt x="2858535" y="2221298"/>
                </a:lnTo>
                <a:lnTo>
                  <a:pt x="2855189" y="2221475"/>
                </a:lnTo>
                <a:lnTo>
                  <a:pt x="2851969" y="2222427"/>
                </a:lnTo>
                <a:lnTo>
                  <a:pt x="3420154" y="2030293"/>
                </a:lnTo>
                <a:lnTo>
                  <a:pt x="3412002" y="2034141"/>
                </a:lnTo>
                <a:close/>
              </a:path>
              <a:path w="3542665" h="3227704">
                <a:moveTo>
                  <a:pt x="2648620" y="3227539"/>
                </a:moveTo>
                <a:lnTo>
                  <a:pt x="1977415" y="3227539"/>
                </a:lnTo>
                <a:lnTo>
                  <a:pt x="1924198" y="3070164"/>
                </a:lnTo>
                <a:lnTo>
                  <a:pt x="1476094" y="2848134"/>
                </a:lnTo>
                <a:lnTo>
                  <a:pt x="1821843" y="2731217"/>
                </a:lnTo>
                <a:lnTo>
                  <a:pt x="2038529" y="2838583"/>
                </a:lnTo>
                <a:lnTo>
                  <a:pt x="2649826" y="2631870"/>
                </a:lnTo>
                <a:lnTo>
                  <a:pt x="2535493" y="2863451"/>
                </a:lnTo>
                <a:lnTo>
                  <a:pt x="2642559" y="3180067"/>
                </a:lnTo>
                <a:lnTo>
                  <a:pt x="2648620" y="3227539"/>
                </a:lnTo>
                <a:close/>
              </a:path>
            </a:pathLst>
          </a:custGeom>
          <a:solidFill>
            <a:srgbClr val="000000"/>
          </a:solidFill>
        </p:spPr>
        <p:txBody>
          <a:bodyPr wrap="square" lIns="0" tIns="0" rIns="0" bIns="0" rtlCol="0"/>
          <a:lstStyle/>
          <a:p>
            <a:endParaRPr/>
          </a:p>
        </p:txBody>
      </p:sp>
      <p:sp>
        <p:nvSpPr>
          <p:cNvPr id="10" name="object 10"/>
          <p:cNvSpPr/>
          <p:nvPr/>
        </p:nvSpPr>
        <p:spPr>
          <a:xfrm>
            <a:off x="235479" y="0"/>
            <a:ext cx="3615690" cy="3238500"/>
          </a:xfrm>
          <a:custGeom>
            <a:avLst/>
            <a:gdLst/>
            <a:ahLst/>
            <a:cxnLst/>
            <a:rect l="l" t="t" r="r" b="b"/>
            <a:pathLst>
              <a:path w="3615690" h="3238500">
                <a:moveTo>
                  <a:pt x="2154644" y="1727954"/>
                </a:moveTo>
                <a:lnTo>
                  <a:pt x="2500019" y="1600341"/>
                </a:lnTo>
                <a:lnTo>
                  <a:pt x="2384896" y="1850547"/>
                </a:lnTo>
                <a:lnTo>
                  <a:pt x="2386314" y="1853632"/>
                </a:lnTo>
                <a:lnTo>
                  <a:pt x="2388175" y="1856415"/>
                </a:lnTo>
                <a:lnTo>
                  <a:pt x="2593652" y="2412524"/>
                </a:lnTo>
                <a:lnTo>
                  <a:pt x="2593971" y="2416015"/>
                </a:lnTo>
                <a:lnTo>
                  <a:pt x="2595022" y="2419236"/>
                </a:lnTo>
                <a:lnTo>
                  <a:pt x="2989145" y="2600801"/>
                </a:lnTo>
                <a:lnTo>
                  <a:pt x="3304853" y="2484150"/>
                </a:lnTo>
                <a:lnTo>
                  <a:pt x="3355907" y="2476200"/>
                </a:lnTo>
                <a:lnTo>
                  <a:pt x="3404389" y="2488045"/>
                </a:lnTo>
                <a:lnTo>
                  <a:pt x="3444907" y="2517201"/>
                </a:lnTo>
                <a:lnTo>
                  <a:pt x="3472067" y="2561182"/>
                </a:lnTo>
                <a:lnTo>
                  <a:pt x="3607457" y="2927606"/>
                </a:lnTo>
                <a:lnTo>
                  <a:pt x="3615420" y="2978681"/>
                </a:lnTo>
                <a:lnTo>
                  <a:pt x="3603594" y="3027176"/>
                </a:lnTo>
                <a:lnTo>
                  <a:pt x="3574461" y="3067699"/>
                </a:lnTo>
                <a:lnTo>
                  <a:pt x="3530504" y="3094856"/>
                </a:lnTo>
                <a:lnTo>
                  <a:pt x="3164253" y="3230182"/>
                </a:lnTo>
                <a:lnTo>
                  <a:pt x="3113199" y="3238132"/>
                </a:lnTo>
                <a:lnTo>
                  <a:pt x="3064717" y="3226287"/>
                </a:lnTo>
                <a:lnTo>
                  <a:pt x="3024199" y="3197131"/>
                </a:lnTo>
                <a:lnTo>
                  <a:pt x="2997039" y="3153150"/>
                </a:lnTo>
                <a:lnTo>
                  <a:pt x="2880287" y="2837171"/>
                </a:lnTo>
                <a:lnTo>
                  <a:pt x="2486165" y="2655605"/>
                </a:lnTo>
                <a:lnTo>
                  <a:pt x="1918795" y="2865244"/>
                </a:lnTo>
                <a:lnTo>
                  <a:pt x="1883866" y="2873758"/>
                </a:lnTo>
                <a:lnTo>
                  <a:pt x="1840232" y="2874208"/>
                </a:lnTo>
                <a:lnTo>
                  <a:pt x="1798235" y="2865137"/>
                </a:lnTo>
                <a:lnTo>
                  <a:pt x="1759385" y="2847239"/>
                </a:lnTo>
                <a:lnTo>
                  <a:pt x="1725191" y="2821211"/>
                </a:lnTo>
                <a:lnTo>
                  <a:pt x="1697161" y="2787747"/>
                </a:lnTo>
                <a:lnTo>
                  <a:pt x="1676806" y="2747542"/>
                </a:lnTo>
                <a:lnTo>
                  <a:pt x="1473721" y="2197907"/>
                </a:lnTo>
                <a:lnTo>
                  <a:pt x="1463044" y="2154127"/>
                </a:lnTo>
                <a:lnTo>
                  <a:pt x="1462581" y="2110477"/>
                </a:lnTo>
                <a:lnTo>
                  <a:pt x="1471636" y="2068468"/>
                </a:lnTo>
                <a:lnTo>
                  <a:pt x="1489515" y="2029610"/>
                </a:lnTo>
                <a:lnTo>
                  <a:pt x="1515524" y="1995411"/>
                </a:lnTo>
                <a:lnTo>
                  <a:pt x="1548968" y="1967382"/>
                </a:lnTo>
                <a:lnTo>
                  <a:pt x="2148411" y="1741501"/>
                </a:lnTo>
                <a:lnTo>
                  <a:pt x="2154644" y="1727954"/>
                </a:lnTo>
                <a:close/>
              </a:path>
              <a:path w="3615690" h="3238500">
                <a:moveTo>
                  <a:pt x="1918795" y="2865244"/>
                </a:moveTo>
                <a:lnTo>
                  <a:pt x="2486165" y="2655605"/>
                </a:lnTo>
                <a:lnTo>
                  <a:pt x="2483081" y="2657023"/>
                </a:lnTo>
                <a:lnTo>
                  <a:pt x="2480300" y="2658883"/>
                </a:lnTo>
                <a:lnTo>
                  <a:pt x="1927627" y="2863091"/>
                </a:lnTo>
                <a:lnTo>
                  <a:pt x="1918795" y="2865244"/>
                </a:lnTo>
                <a:close/>
              </a:path>
              <a:path w="3615690" h="3238500">
                <a:moveTo>
                  <a:pt x="1589151" y="1947032"/>
                </a:moveTo>
                <a:lnTo>
                  <a:pt x="2141824" y="1742824"/>
                </a:lnTo>
                <a:lnTo>
                  <a:pt x="2145192" y="1742552"/>
                </a:lnTo>
                <a:lnTo>
                  <a:pt x="2148411" y="1741501"/>
                </a:lnTo>
                <a:lnTo>
                  <a:pt x="1581041" y="1951139"/>
                </a:lnTo>
                <a:lnTo>
                  <a:pt x="1589151" y="1947032"/>
                </a:lnTo>
                <a:close/>
              </a:path>
              <a:path w="3615690" h="3238500">
                <a:moveTo>
                  <a:pt x="2114442" y="364917"/>
                </a:moveTo>
                <a:lnTo>
                  <a:pt x="2846944" y="94264"/>
                </a:lnTo>
                <a:lnTo>
                  <a:pt x="2892301" y="81976"/>
                </a:lnTo>
                <a:lnTo>
                  <a:pt x="2937808" y="78053"/>
                </a:lnTo>
                <a:lnTo>
                  <a:pt x="2982522" y="82061"/>
                </a:lnTo>
                <a:lnTo>
                  <a:pt x="3025501" y="93565"/>
                </a:lnTo>
                <a:lnTo>
                  <a:pt x="3065802" y="112131"/>
                </a:lnTo>
                <a:lnTo>
                  <a:pt x="3102482" y="137324"/>
                </a:lnTo>
                <a:lnTo>
                  <a:pt x="3134599" y="168711"/>
                </a:lnTo>
                <a:lnTo>
                  <a:pt x="3161210" y="205858"/>
                </a:lnTo>
                <a:lnTo>
                  <a:pt x="3181372" y="248329"/>
                </a:lnTo>
                <a:lnTo>
                  <a:pt x="3452152" y="981176"/>
                </a:lnTo>
                <a:lnTo>
                  <a:pt x="3464449" y="1026553"/>
                </a:lnTo>
                <a:lnTo>
                  <a:pt x="3468385" y="1072077"/>
                </a:lnTo>
                <a:lnTo>
                  <a:pt x="3464392" y="1116806"/>
                </a:lnTo>
                <a:lnTo>
                  <a:pt x="3452906" y="1159797"/>
                </a:lnTo>
                <a:lnTo>
                  <a:pt x="3434359" y="1200107"/>
                </a:lnTo>
                <a:lnTo>
                  <a:pt x="3409185" y="1236792"/>
                </a:lnTo>
                <a:lnTo>
                  <a:pt x="3377819" y="1268911"/>
                </a:lnTo>
                <a:lnTo>
                  <a:pt x="3340694" y="1295520"/>
                </a:lnTo>
                <a:lnTo>
                  <a:pt x="3298245" y="1315676"/>
                </a:lnTo>
                <a:lnTo>
                  <a:pt x="2565866" y="1586283"/>
                </a:lnTo>
                <a:lnTo>
                  <a:pt x="2516536" y="1598420"/>
                </a:lnTo>
                <a:lnTo>
                  <a:pt x="2500019" y="1600341"/>
                </a:lnTo>
                <a:lnTo>
                  <a:pt x="2154644" y="1727954"/>
                </a:lnTo>
                <a:lnTo>
                  <a:pt x="2263534" y="1491295"/>
                </a:lnTo>
                <a:lnTo>
                  <a:pt x="2254311" y="1477489"/>
                </a:lnTo>
                <a:lnTo>
                  <a:pt x="2245754" y="1463126"/>
                </a:lnTo>
                <a:lnTo>
                  <a:pt x="1960657" y="699372"/>
                </a:lnTo>
                <a:lnTo>
                  <a:pt x="1948548" y="650124"/>
                </a:lnTo>
                <a:lnTo>
                  <a:pt x="1946630" y="633620"/>
                </a:lnTo>
                <a:lnTo>
                  <a:pt x="1710022" y="524619"/>
                </a:lnTo>
                <a:lnTo>
                  <a:pt x="2055275" y="397051"/>
                </a:lnTo>
                <a:lnTo>
                  <a:pt x="2069143" y="387804"/>
                </a:lnTo>
                <a:lnTo>
                  <a:pt x="2083536" y="379234"/>
                </a:lnTo>
                <a:lnTo>
                  <a:pt x="2098589" y="371540"/>
                </a:lnTo>
                <a:lnTo>
                  <a:pt x="2114442" y="364917"/>
                </a:lnTo>
                <a:close/>
              </a:path>
              <a:path w="3615690" h="3238500">
                <a:moveTo>
                  <a:pt x="878213" y="648173"/>
                </a:moveTo>
                <a:lnTo>
                  <a:pt x="1223466" y="520605"/>
                </a:lnTo>
                <a:lnTo>
                  <a:pt x="922347" y="1175054"/>
                </a:lnTo>
                <a:lnTo>
                  <a:pt x="923764" y="1178139"/>
                </a:lnTo>
                <a:lnTo>
                  <a:pt x="925625" y="1180922"/>
                </a:lnTo>
                <a:lnTo>
                  <a:pt x="1129929" y="1733855"/>
                </a:lnTo>
                <a:lnTo>
                  <a:pt x="1140606" y="1777636"/>
                </a:lnTo>
                <a:lnTo>
                  <a:pt x="1141069" y="1821285"/>
                </a:lnTo>
                <a:lnTo>
                  <a:pt x="1132014" y="1863294"/>
                </a:lnTo>
                <a:lnTo>
                  <a:pt x="1114135" y="1902152"/>
                </a:lnTo>
                <a:lnTo>
                  <a:pt x="1088126" y="1936351"/>
                </a:lnTo>
                <a:lnTo>
                  <a:pt x="1054682" y="1964380"/>
                </a:lnTo>
                <a:lnTo>
                  <a:pt x="1014499" y="1984730"/>
                </a:lnTo>
                <a:lnTo>
                  <a:pt x="465122" y="2187720"/>
                </a:lnTo>
                <a:lnTo>
                  <a:pt x="465045" y="2187887"/>
                </a:lnTo>
                <a:lnTo>
                  <a:pt x="421284" y="2198554"/>
                </a:lnTo>
                <a:lnTo>
                  <a:pt x="377650" y="2199004"/>
                </a:lnTo>
                <a:lnTo>
                  <a:pt x="335654" y="2189933"/>
                </a:lnTo>
                <a:lnTo>
                  <a:pt x="296804" y="2172035"/>
                </a:lnTo>
                <a:lnTo>
                  <a:pt x="262609" y="2146007"/>
                </a:lnTo>
                <a:lnTo>
                  <a:pt x="235165" y="2113242"/>
                </a:lnTo>
                <a:lnTo>
                  <a:pt x="453" y="1478011"/>
                </a:lnTo>
                <a:lnTo>
                  <a:pt x="0" y="1435273"/>
                </a:lnTo>
                <a:lnTo>
                  <a:pt x="9055" y="1393264"/>
                </a:lnTo>
                <a:lnTo>
                  <a:pt x="26934" y="1354406"/>
                </a:lnTo>
                <a:lnTo>
                  <a:pt x="52943" y="1320207"/>
                </a:lnTo>
                <a:lnTo>
                  <a:pt x="86386" y="1292178"/>
                </a:lnTo>
                <a:lnTo>
                  <a:pt x="685829" y="1066297"/>
                </a:lnTo>
                <a:lnTo>
                  <a:pt x="878213" y="648173"/>
                </a:lnTo>
                <a:close/>
              </a:path>
              <a:path w="3615690" h="3238500">
                <a:moveTo>
                  <a:pt x="126570" y="1271828"/>
                </a:moveTo>
                <a:lnTo>
                  <a:pt x="679242" y="1067620"/>
                </a:lnTo>
                <a:lnTo>
                  <a:pt x="682610" y="1067348"/>
                </a:lnTo>
                <a:lnTo>
                  <a:pt x="685829" y="1066297"/>
                </a:lnTo>
                <a:lnTo>
                  <a:pt x="118460" y="1275935"/>
                </a:lnTo>
                <a:lnTo>
                  <a:pt x="126570" y="1271828"/>
                </a:lnTo>
                <a:close/>
              </a:path>
              <a:path w="3615690" h="3238500">
                <a:moveTo>
                  <a:pt x="873269" y="0"/>
                </a:moveTo>
                <a:lnTo>
                  <a:pt x="1528668" y="0"/>
                </a:lnTo>
                <a:lnTo>
                  <a:pt x="1597444" y="186136"/>
                </a:lnTo>
                <a:lnTo>
                  <a:pt x="2055275" y="397051"/>
                </a:lnTo>
                <a:lnTo>
                  <a:pt x="1710022" y="524619"/>
                </a:lnTo>
                <a:lnTo>
                  <a:pt x="1488632" y="422628"/>
                </a:lnTo>
                <a:lnTo>
                  <a:pt x="878213" y="648173"/>
                </a:lnTo>
                <a:lnTo>
                  <a:pt x="987026" y="411681"/>
                </a:lnTo>
                <a:lnTo>
                  <a:pt x="870319" y="95824"/>
                </a:lnTo>
                <a:lnTo>
                  <a:pt x="862357" y="44749"/>
                </a:lnTo>
                <a:lnTo>
                  <a:pt x="873269" y="0"/>
                </a:lnTo>
                <a:close/>
              </a:path>
            </a:pathLst>
          </a:custGeom>
          <a:solidFill>
            <a:srgbClr val="000000"/>
          </a:solidFill>
        </p:spPr>
        <p:txBody>
          <a:bodyPr wrap="square" lIns="0" tIns="0" rIns="0" bIns="0" rtlCol="0"/>
          <a:lstStyle/>
          <a:p>
            <a:endParaRPr/>
          </a:p>
        </p:txBody>
      </p:sp>
      <p:sp>
        <p:nvSpPr>
          <p:cNvPr id="11" name="TextBox 10">
            <a:extLst>
              <a:ext uri="{FF2B5EF4-FFF2-40B4-BE49-F238E27FC236}">
                <a16:creationId xmlns:a16="http://schemas.microsoft.com/office/drawing/2014/main" id="{C002EF82-490B-A584-A31E-CB2536E9BFE9}"/>
              </a:ext>
            </a:extLst>
          </p:cNvPr>
          <p:cNvSpPr txBox="1"/>
          <p:nvPr/>
        </p:nvSpPr>
        <p:spPr>
          <a:xfrm>
            <a:off x="11873646" y="342900"/>
            <a:ext cx="5880953" cy="3416320"/>
          </a:xfrm>
          <a:prstGeom prst="rect">
            <a:avLst/>
          </a:prstGeom>
          <a:noFill/>
        </p:spPr>
        <p:txBody>
          <a:bodyPr wrap="square" rtlCol="0">
            <a:spAutoFit/>
          </a:bodyPr>
          <a:lstStyle/>
          <a:p>
            <a:r>
              <a:rPr lang="en-US" b="1" i="1" dirty="0">
                <a:solidFill>
                  <a:schemeClr val="accent3">
                    <a:lumMod val="75000"/>
                  </a:schemeClr>
                </a:solidFill>
              </a:rPr>
              <a:t>Artificial Intelligence is already part of our daily lives:</a:t>
            </a:r>
          </a:p>
          <a:p>
            <a:r>
              <a:rPr lang="en-US" b="1" i="1" dirty="0">
                <a:solidFill>
                  <a:schemeClr val="accent3">
                    <a:lumMod val="75000"/>
                  </a:schemeClr>
                </a:solidFill>
              </a:rPr>
              <a:t>• Voice assistants understand what we say  </a:t>
            </a:r>
          </a:p>
          <a:p>
            <a:r>
              <a:rPr lang="en-US" b="1" i="1" dirty="0">
                <a:solidFill>
                  <a:schemeClr val="accent3">
                    <a:lumMod val="75000"/>
                  </a:schemeClr>
                </a:solidFill>
              </a:rPr>
              <a:t>• Speech-to-text converts audio into text  </a:t>
            </a:r>
          </a:p>
          <a:p>
            <a:r>
              <a:rPr lang="en-US" b="1" i="1" dirty="0">
                <a:solidFill>
                  <a:schemeClr val="accent3">
                    <a:lumMod val="75000"/>
                  </a:schemeClr>
                </a:solidFill>
              </a:rPr>
              <a:t>• AI detects patterns and extracts useful data  </a:t>
            </a:r>
          </a:p>
          <a:p>
            <a:endParaRPr lang="en-US" b="1" i="1" dirty="0">
              <a:solidFill>
                <a:schemeClr val="accent3">
                  <a:lumMod val="75000"/>
                </a:schemeClr>
              </a:solidFill>
            </a:endParaRPr>
          </a:p>
          <a:p>
            <a:r>
              <a:rPr lang="en-US" b="1" i="1" dirty="0">
                <a:solidFill>
                  <a:schemeClr val="accent3">
                    <a:lumMod val="75000"/>
                  </a:schemeClr>
                </a:solidFill>
              </a:rPr>
              <a:t> But financial conversations are still unstructured</a:t>
            </a:r>
          </a:p>
          <a:p>
            <a:endParaRPr lang="en-US" b="1" i="1" dirty="0">
              <a:solidFill>
                <a:schemeClr val="accent3">
                  <a:lumMod val="75000"/>
                </a:schemeClr>
              </a:solidFill>
            </a:endParaRPr>
          </a:p>
          <a:p>
            <a:r>
              <a:rPr lang="en-US" b="1" i="1" dirty="0">
                <a:solidFill>
                  <a:schemeClr val="accent3">
                    <a:lumMod val="75000"/>
                  </a:schemeClr>
                </a:solidFill>
              </a:rPr>
              <a:t>Our system brings AI into financial discussions by:</a:t>
            </a:r>
          </a:p>
          <a:p>
            <a:r>
              <a:rPr lang="en-US" b="1" i="1" dirty="0">
                <a:solidFill>
                  <a:schemeClr val="accent3">
                    <a:lumMod val="75000"/>
                  </a:schemeClr>
                </a:solidFill>
              </a:rPr>
              <a:t>• Converting speech into text  </a:t>
            </a:r>
          </a:p>
          <a:p>
            <a:r>
              <a:rPr lang="en-US" b="1" i="1" dirty="0">
                <a:solidFill>
                  <a:schemeClr val="accent3">
                    <a:lumMod val="75000"/>
                  </a:schemeClr>
                </a:solidFill>
              </a:rPr>
              <a:t>• Detecting financial terms (EMI, Loan, SIP)  </a:t>
            </a:r>
          </a:p>
          <a:p>
            <a:r>
              <a:rPr lang="en-US" b="1" i="1" dirty="0">
                <a:solidFill>
                  <a:schemeClr val="accent3">
                    <a:lumMod val="75000"/>
                  </a:schemeClr>
                </a:solidFill>
              </a:rPr>
              <a:t>• Generating structured summaries</a:t>
            </a:r>
            <a:endParaRPr lang="en-IN" b="1" i="1" dirty="0">
              <a:solidFill>
                <a:schemeClr val="accent3">
                  <a:lumMod val="75000"/>
                </a:schemeClr>
              </a:solidFill>
            </a:endParaRPr>
          </a:p>
        </p:txBody>
      </p:sp>
      <p:sp>
        <p:nvSpPr>
          <p:cNvPr id="12" name="TextBox 11">
            <a:extLst>
              <a:ext uri="{FF2B5EF4-FFF2-40B4-BE49-F238E27FC236}">
                <a16:creationId xmlns:a16="http://schemas.microsoft.com/office/drawing/2014/main" id="{09580C7D-9AC1-9DBF-0910-EB1C0600B00B}"/>
              </a:ext>
            </a:extLst>
          </p:cNvPr>
          <p:cNvSpPr txBox="1"/>
          <p:nvPr/>
        </p:nvSpPr>
        <p:spPr>
          <a:xfrm>
            <a:off x="2825654" y="8123446"/>
            <a:ext cx="8909146" cy="1754326"/>
          </a:xfrm>
          <a:prstGeom prst="rect">
            <a:avLst/>
          </a:prstGeom>
          <a:noFill/>
        </p:spPr>
        <p:txBody>
          <a:bodyPr wrap="square" rtlCol="0">
            <a:spAutoFit/>
          </a:bodyPr>
          <a:lstStyle/>
          <a:p>
            <a:r>
              <a:rPr lang="en-US" sz="3600" b="1" dirty="0">
                <a:solidFill>
                  <a:srgbClr val="002060"/>
                </a:solidFill>
                <a:latin typeface="Bookman Old Style" panose="02050604050505020204" pitchFamily="18" charset="0"/>
              </a:rPr>
              <a:t>However, real-world financial conversations remain unstructured and untracked</a:t>
            </a:r>
            <a:endParaRPr lang="en-IN" sz="3600" b="1" dirty="0">
              <a:solidFill>
                <a:srgbClr val="002060"/>
              </a:solidFill>
              <a:latin typeface="Bookman Old Style" panose="0205060405050502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AF6F4"/>
          </a:solidFill>
        </p:spPr>
        <p:txBody>
          <a:bodyPr wrap="square" lIns="0" tIns="0" rIns="0" bIns="0" rtlCol="0"/>
          <a:lstStyle/>
          <a:p>
            <a:endParaRPr/>
          </a:p>
        </p:txBody>
      </p:sp>
      <p:sp>
        <p:nvSpPr>
          <p:cNvPr id="3" name="object 3"/>
          <p:cNvSpPr/>
          <p:nvPr/>
        </p:nvSpPr>
        <p:spPr>
          <a:xfrm>
            <a:off x="1317513" y="2937728"/>
            <a:ext cx="4956175" cy="6040120"/>
          </a:xfrm>
          <a:custGeom>
            <a:avLst/>
            <a:gdLst/>
            <a:ahLst/>
            <a:cxnLst/>
            <a:rect l="l" t="t" r="r" b="b"/>
            <a:pathLst>
              <a:path w="4956175" h="6040120">
                <a:moveTo>
                  <a:pt x="4841777" y="6040016"/>
                </a:moveTo>
                <a:lnTo>
                  <a:pt x="114134" y="6040016"/>
                </a:lnTo>
                <a:lnTo>
                  <a:pt x="88199" y="6032135"/>
                </a:lnTo>
                <a:lnTo>
                  <a:pt x="41847" y="6001163"/>
                </a:lnTo>
                <a:lnTo>
                  <a:pt x="10875" y="5954811"/>
                </a:lnTo>
                <a:lnTo>
                  <a:pt x="0" y="5900136"/>
                </a:lnTo>
                <a:lnTo>
                  <a:pt x="0" y="142875"/>
                </a:lnTo>
                <a:lnTo>
                  <a:pt x="10875" y="88199"/>
                </a:lnTo>
                <a:lnTo>
                  <a:pt x="41847" y="41847"/>
                </a:lnTo>
                <a:lnTo>
                  <a:pt x="88199" y="10875"/>
                </a:lnTo>
                <a:lnTo>
                  <a:pt x="142875" y="0"/>
                </a:lnTo>
                <a:lnTo>
                  <a:pt x="4813036" y="0"/>
                </a:lnTo>
                <a:lnTo>
                  <a:pt x="4867712" y="10875"/>
                </a:lnTo>
                <a:lnTo>
                  <a:pt x="4914064" y="41847"/>
                </a:lnTo>
                <a:lnTo>
                  <a:pt x="4945035" y="88199"/>
                </a:lnTo>
                <a:lnTo>
                  <a:pt x="4955911" y="142875"/>
                </a:lnTo>
                <a:lnTo>
                  <a:pt x="4955911" y="5900136"/>
                </a:lnTo>
                <a:lnTo>
                  <a:pt x="4945035" y="5954811"/>
                </a:lnTo>
                <a:lnTo>
                  <a:pt x="4914064" y="6001163"/>
                </a:lnTo>
                <a:lnTo>
                  <a:pt x="4867712" y="6032135"/>
                </a:lnTo>
                <a:lnTo>
                  <a:pt x="4841777" y="6040016"/>
                </a:lnTo>
                <a:close/>
              </a:path>
            </a:pathLst>
          </a:custGeom>
          <a:solidFill>
            <a:srgbClr val="D4E74E"/>
          </a:solidFill>
        </p:spPr>
        <p:txBody>
          <a:bodyPr wrap="square" lIns="0" tIns="0" rIns="0" bIns="0" rtlCol="0"/>
          <a:lstStyle/>
          <a:p>
            <a:endParaRPr/>
          </a:p>
        </p:txBody>
      </p:sp>
      <p:sp>
        <p:nvSpPr>
          <p:cNvPr id="4" name="object 4"/>
          <p:cNvSpPr/>
          <p:nvPr/>
        </p:nvSpPr>
        <p:spPr>
          <a:xfrm>
            <a:off x="6666044" y="2937728"/>
            <a:ext cx="4956175" cy="6040120"/>
          </a:xfrm>
          <a:custGeom>
            <a:avLst/>
            <a:gdLst/>
            <a:ahLst/>
            <a:cxnLst/>
            <a:rect l="l" t="t" r="r" b="b"/>
            <a:pathLst>
              <a:path w="4956175" h="6040120">
                <a:moveTo>
                  <a:pt x="4841777" y="6040016"/>
                </a:moveTo>
                <a:lnTo>
                  <a:pt x="114134" y="6040016"/>
                </a:lnTo>
                <a:lnTo>
                  <a:pt x="88198" y="6032135"/>
                </a:lnTo>
                <a:lnTo>
                  <a:pt x="41846" y="6001163"/>
                </a:lnTo>
                <a:lnTo>
                  <a:pt x="10876" y="5954811"/>
                </a:lnTo>
                <a:lnTo>
                  <a:pt x="0" y="5900136"/>
                </a:lnTo>
                <a:lnTo>
                  <a:pt x="0" y="142875"/>
                </a:lnTo>
                <a:lnTo>
                  <a:pt x="10876" y="88199"/>
                </a:lnTo>
                <a:lnTo>
                  <a:pt x="41846" y="41847"/>
                </a:lnTo>
                <a:lnTo>
                  <a:pt x="88198" y="10875"/>
                </a:lnTo>
                <a:lnTo>
                  <a:pt x="142875" y="0"/>
                </a:lnTo>
                <a:lnTo>
                  <a:pt x="4813036" y="0"/>
                </a:lnTo>
                <a:lnTo>
                  <a:pt x="4867712" y="10875"/>
                </a:lnTo>
                <a:lnTo>
                  <a:pt x="4914064" y="41847"/>
                </a:lnTo>
                <a:lnTo>
                  <a:pt x="4945035" y="88199"/>
                </a:lnTo>
                <a:lnTo>
                  <a:pt x="4955911" y="142875"/>
                </a:lnTo>
                <a:lnTo>
                  <a:pt x="4955911" y="5900136"/>
                </a:lnTo>
                <a:lnTo>
                  <a:pt x="4945035" y="5954811"/>
                </a:lnTo>
                <a:lnTo>
                  <a:pt x="4914064" y="6001163"/>
                </a:lnTo>
                <a:lnTo>
                  <a:pt x="4867712" y="6032135"/>
                </a:lnTo>
                <a:lnTo>
                  <a:pt x="4841777" y="6040016"/>
                </a:lnTo>
                <a:close/>
              </a:path>
            </a:pathLst>
          </a:custGeom>
          <a:solidFill>
            <a:srgbClr val="D4E74E"/>
          </a:solidFill>
        </p:spPr>
        <p:txBody>
          <a:bodyPr wrap="square" lIns="0" tIns="0" rIns="0" bIns="0" rtlCol="0"/>
          <a:lstStyle/>
          <a:p>
            <a:endParaRPr/>
          </a:p>
        </p:txBody>
      </p:sp>
      <p:sp>
        <p:nvSpPr>
          <p:cNvPr id="5" name="object 5"/>
          <p:cNvSpPr/>
          <p:nvPr/>
        </p:nvSpPr>
        <p:spPr>
          <a:xfrm>
            <a:off x="12014573" y="2937728"/>
            <a:ext cx="4956175" cy="6040120"/>
          </a:xfrm>
          <a:custGeom>
            <a:avLst/>
            <a:gdLst/>
            <a:ahLst/>
            <a:cxnLst/>
            <a:rect l="l" t="t" r="r" b="b"/>
            <a:pathLst>
              <a:path w="4956175" h="6040120">
                <a:moveTo>
                  <a:pt x="4841777" y="6040016"/>
                </a:moveTo>
                <a:lnTo>
                  <a:pt x="114134" y="6040016"/>
                </a:lnTo>
                <a:lnTo>
                  <a:pt x="88199" y="6032135"/>
                </a:lnTo>
                <a:lnTo>
                  <a:pt x="41846" y="6001163"/>
                </a:lnTo>
                <a:lnTo>
                  <a:pt x="10876" y="5954811"/>
                </a:lnTo>
                <a:lnTo>
                  <a:pt x="0" y="5900136"/>
                </a:lnTo>
                <a:lnTo>
                  <a:pt x="0" y="142875"/>
                </a:lnTo>
                <a:lnTo>
                  <a:pt x="10876" y="88199"/>
                </a:lnTo>
                <a:lnTo>
                  <a:pt x="41846" y="41847"/>
                </a:lnTo>
                <a:lnTo>
                  <a:pt x="88199" y="10875"/>
                </a:lnTo>
                <a:lnTo>
                  <a:pt x="142875" y="0"/>
                </a:lnTo>
                <a:lnTo>
                  <a:pt x="4813036" y="0"/>
                </a:lnTo>
                <a:lnTo>
                  <a:pt x="4867712" y="10875"/>
                </a:lnTo>
                <a:lnTo>
                  <a:pt x="4914065" y="41847"/>
                </a:lnTo>
                <a:lnTo>
                  <a:pt x="4945035" y="88199"/>
                </a:lnTo>
                <a:lnTo>
                  <a:pt x="4955911" y="142875"/>
                </a:lnTo>
                <a:lnTo>
                  <a:pt x="4955911" y="5900136"/>
                </a:lnTo>
                <a:lnTo>
                  <a:pt x="4945035" y="5954811"/>
                </a:lnTo>
                <a:lnTo>
                  <a:pt x="4914065" y="6001163"/>
                </a:lnTo>
                <a:lnTo>
                  <a:pt x="4867712" y="6032135"/>
                </a:lnTo>
                <a:lnTo>
                  <a:pt x="4841777" y="6040016"/>
                </a:lnTo>
                <a:close/>
              </a:path>
            </a:pathLst>
          </a:custGeom>
          <a:solidFill>
            <a:srgbClr val="D4E74E"/>
          </a:solidFill>
        </p:spPr>
        <p:txBody>
          <a:bodyPr wrap="square" lIns="0" tIns="0" rIns="0" bIns="0" rtlCol="0"/>
          <a:lstStyle/>
          <a:p>
            <a:endParaRPr dirty="0"/>
          </a:p>
        </p:txBody>
      </p:sp>
      <p:sp>
        <p:nvSpPr>
          <p:cNvPr id="6" name="object 6"/>
          <p:cNvSpPr txBox="1"/>
          <p:nvPr/>
        </p:nvSpPr>
        <p:spPr>
          <a:xfrm>
            <a:off x="1417036" y="3695700"/>
            <a:ext cx="4956176" cy="4350743"/>
          </a:xfrm>
          <a:prstGeom prst="rect">
            <a:avLst/>
          </a:prstGeom>
        </p:spPr>
        <p:txBody>
          <a:bodyPr vert="horz" wrap="square" lIns="0" tIns="12700" rIns="0" bIns="0" rtlCol="0">
            <a:spAutoFit/>
          </a:bodyPr>
          <a:lstStyle/>
          <a:p>
            <a:pPr marL="12700" marR="5080">
              <a:lnSpc>
                <a:spcPct val="115599"/>
              </a:lnSpc>
              <a:spcBef>
                <a:spcPts val="100"/>
              </a:spcBef>
              <a:tabLst>
                <a:tab pos="1261110" algn="l"/>
                <a:tab pos="2550795" algn="l"/>
                <a:tab pos="3887470" algn="l"/>
              </a:tabLst>
            </a:pPr>
            <a:endParaRPr lang="en-US" sz="2000" dirty="0">
              <a:latin typeface="Verdana"/>
              <a:cs typeface="Verdana"/>
            </a:endParaRPr>
          </a:p>
          <a:p>
            <a:pPr marL="12700" marR="5080">
              <a:lnSpc>
                <a:spcPct val="115599"/>
              </a:lnSpc>
              <a:spcBef>
                <a:spcPts val="100"/>
              </a:spcBef>
              <a:tabLst>
                <a:tab pos="1261110" algn="l"/>
                <a:tab pos="2550795" algn="l"/>
                <a:tab pos="3887470" algn="l"/>
              </a:tabLst>
            </a:pPr>
            <a:r>
              <a:rPr lang="en-US" sz="2000" dirty="0">
                <a:latin typeface="Verdana"/>
                <a:cs typeface="Verdana"/>
              </a:rPr>
              <a:t>      </a:t>
            </a:r>
            <a:r>
              <a:rPr lang="en-US" sz="2000" b="1" dirty="0">
                <a:solidFill>
                  <a:srgbClr val="002060"/>
                </a:solidFill>
                <a:latin typeface="Verdana"/>
                <a:cs typeface="Verdana"/>
              </a:rPr>
              <a:t>SMART CONVERSATIONS</a:t>
            </a:r>
          </a:p>
          <a:p>
            <a:pPr marL="12700" marR="5080">
              <a:lnSpc>
                <a:spcPct val="115599"/>
              </a:lnSpc>
              <a:spcBef>
                <a:spcPts val="100"/>
              </a:spcBef>
              <a:tabLst>
                <a:tab pos="1261110" algn="l"/>
                <a:tab pos="2550795" algn="l"/>
                <a:tab pos="3887470" algn="l"/>
              </a:tabLst>
            </a:pPr>
            <a:endParaRPr lang="en-US" sz="2000" dirty="0">
              <a:latin typeface="Verdana"/>
              <a:cs typeface="Verdana"/>
            </a:endParaRPr>
          </a:p>
          <a:p>
            <a:pPr marL="12700" marR="5080">
              <a:lnSpc>
                <a:spcPct val="115599"/>
              </a:lnSpc>
              <a:spcBef>
                <a:spcPts val="100"/>
              </a:spcBef>
              <a:tabLst>
                <a:tab pos="1261110" algn="l"/>
                <a:tab pos="2550795" algn="l"/>
                <a:tab pos="3887470" algn="l"/>
              </a:tabLst>
            </a:pPr>
            <a:r>
              <a:rPr lang="en-US" sz="2000" dirty="0">
                <a:latin typeface="Verdana"/>
                <a:cs typeface="Verdana"/>
              </a:rPr>
              <a:t>      AI can understand human speech and convert it into text in real-time.</a:t>
            </a:r>
          </a:p>
          <a:p>
            <a:pPr marL="12700" marR="5080" algn="ctr">
              <a:lnSpc>
                <a:spcPct val="115599"/>
              </a:lnSpc>
              <a:spcBef>
                <a:spcPts val="100"/>
              </a:spcBef>
              <a:tabLst>
                <a:tab pos="1261110" algn="l"/>
                <a:tab pos="2550795" algn="l"/>
                <a:tab pos="3887470" algn="l"/>
              </a:tabLst>
            </a:pPr>
            <a:endParaRPr lang="en-US" sz="2000" dirty="0">
              <a:latin typeface="Verdana"/>
              <a:cs typeface="Verdana"/>
            </a:endParaRPr>
          </a:p>
          <a:p>
            <a:pPr marL="12700" marR="5080">
              <a:lnSpc>
                <a:spcPct val="115599"/>
              </a:lnSpc>
              <a:spcBef>
                <a:spcPts val="100"/>
              </a:spcBef>
              <a:tabLst>
                <a:tab pos="1261110" algn="l"/>
                <a:tab pos="2550795" algn="l"/>
                <a:tab pos="3887470" algn="l"/>
              </a:tabLst>
            </a:pPr>
            <a:r>
              <a:rPr lang="en-US" sz="2000" dirty="0">
                <a:latin typeface="Verdana"/>
                <a:cs typeface="Verdana"/>
              </a:rPr>
              <a:t>     Voice assistants and speech systems already process natural language.</a:t>
            </a:r>
          </a:p>
          <a:p>
            <a:pPr marL="12700" marR="5080">
              <a:lnSpc>
                <a:spcPct val="115599"/>
              </a:lnSpc>
              <a:spcBef>
                <a:spcPts val="100"/>
              </a:spcBef>
              <a:tabLst>
                <a:tab pos="1261110" algn="l"/>
                <a:tab pos="2550795" algn="l"/>
                <a:tab pos="3887470" algn="l"/>
              </a:tabLst>
            </a:pPr>
            <a:endParaRPr lang="en-US" sz="2000" dirty="0">
              <a:latin typeface="Verdana"/>
              <a:cs typeface="Verdana"/>
            </a:endParaRPr>
          </a:p>
          <a:p>
            <a:pPr marL="12700" marR="5080">
              <a:lnSpc>
                <a:spcPct val="115599"/>
              </a:lnSpc>
              <a:spcBef>
                <a:spcPts val="100"/>
              </a:spcBef>
              <a:tabLst>
                <a:tab pos="1261110" algn="l"/>
                <a:tab pos="2550795" algn="l"/>
                <a:tab pos="3887470" algn="l"/>
              </a:tabLst>
            </a:pPr>
            <a:r>
              <a:rPr lang="en-US" sz="2000" dirty="0">
                <a:latin typeface="Verdana"/>
                <a:cs typeface="Verdana"/>
              </a:rPr>
              <a:t>      But they don’t capture financial meaning.</a:t>
            </a:r>
            <a:endParaRPr sz="2000" dirty="0">
              <a:latin typeface="Verdana"/>
              <a:cs typeface="Verdana"/>
            </a:endParaRPr>
          </a:p>
        </p:txBody>
      </p:sp>
      <p:sp>
        <p:nvSpPr>
          <p:cNvPr id="13" name="object 13"/>
          <p:cNvSpPr txBox="1"/>
          <p:nvPr/>
        </p:nvSpPr>
        <p:spPr>
          <a:xfrm>
            <a:off x="6765566" y="4036734"/>
            <a:ext cx="4664433" cy="3980898"/>
          </a:xfrm>
          <a:prstGeom prst="rect">
            <a:avLst/>
          </a:prstGeom>
        </p:spPr>
        <p:txBody>
          <a:bodyPr vert="horz" wrap="square" lIns="0" tIns="12700" rIns="0" bIns="0" rtlCol="0">
            <a:spAutoFit/>
          </a:bodyPr>
          <a:lstStyle/>
          <a:p>
            <a:pPr marL="12700" marR="5080" algn="ctr">
              <a:lnSpc>
                <a:spcPct val="115599"/>
              </a:lnSpc>
              <a:spcBef>
                <a:spcPts val="100"/>
              </a:spcBef>
            </a:pPr>
            <a:r>
              <a:rPr lang="en-US" sz="2000" dirty="0">
                <a:latin typeface="Verdana"/>
                <a:cs typeface="Verdana"/>
              </a:rPr>
              <a:t>  </a:t>
            </a:r>
            <a:r>
              <a:rPr lang="en-US" sz="2000" b="1" dirty="0">
                <a:solidFill>
                  <a:srgbClr val="002060"/>
                </a:solidFill>
                <a:latin typeface="Verdana"/>
                <a:cs typeface="Verdana"/>
              </a:rPr>
              <a:t>DATA EXTRACTION</a:t>
            </a:r>
          </a:p>
          <a:p>
            <a:pPr marL="12700" marR="5080">
              <a:lnSpc>
                <a:spcPct val="115599"/>
              </a:lnSpc>
              <a:spcBef>
                <a:spcPts val="100"/>
              </a:spcBef>
            </a:pPr>
            <a:endParaRPr lang="en-US" sz="2000" dirty="0">
              <a:latin typeface="Verdana"/>
              <a:cs typeface="Verdana"/>
            </a:endParaRPr>
          </a:p>
          <a:p>
            <a:pPr marL="12700" marR="5080">
              <a:lnSpc>
                <a:spcPct val="115599"/>
              </a:lnSpc>
              <a:spcBef>
                <a:spcPts val="100"/>
              </a:spcBef>
            </a:pPr>
            <a:r>
              <a:rPr lang="en-US" sz="2000" dirty="0">
                <a:latin typeface="Verdana"/>
                <a:cs typeface="Verdana"/>
              </a:rPr>
              <a:t>      AI can identify patterns and extract useful information from unstructured data.</a:t>
            </a:r>
          </a:p>
          <a:p>
            <a:pPr marL="12700" marR="5080">
              <a:lnSpc>
                <a:spcPct val="115599"/>
              </a:lnSpc>
              <a:spcBef>
                <a:spcPts val="100"/>
              </a:spcBef>
            </a:pPr>
            <a:endParaRPr lang="en-US" sz="2000" dirty="0">
              <a:latin typeface="Verdana"/>
              <a:cs typeface="Verdana"/>
            </a:endParaRPr>
          </a:p>
          <a:p>
            <a:pPr marL="12700" marR="5080">
              <a:lnSpc>
                <a:spcPct val="115599"/>
              </a:lnSpc>
              <a:spcBef>
                <a:spcPts val="100"/>
              </a:spcBef>
            </a:pPr>
            <a:r>
              <a:rPr lang="en-US" sz="2000" dirty="0">
                <a:latin typeface="Verdana"/>
                <a:cs typeface="Verdana"/>
              </a:rPr>
              <a:t>     Used in chatbots, analytics, and automation systems.</a:t>
            </a:r>
          </a:p>
          <a:p>
            <a:pPr marL="12700" marR="5080">
              <a:lnSpc>
                <a:spcPct val="115599"/>
              </a:lnSpc>
              <a:spcBef>
                <a:spcPts val="100"/>
              </a:spcBef>
            </a:pPr>
            <a:endParaRPr lang="en-US" sz="2000" dirty="0">
              <a:latin typeface="Verdana"/>
              <a:cs typeface="Verdana"/>
            </a:endParaRPr>
          </a:p>
          <a:p>
            <a:pPr marL="12700" marR="5080">
              <a:lnSpc>
                <a:spcPct val="115599"/>
              </a:lnSpc>
              <a:spcBef>
                <a:spcPts val="100"/>
              </a:spcBef>
            </a:pPr>
            <a:r>
              <a:rPr lang="en-US" sz="2000" dirty="0">
                <a:latin typeface="Verdana"/>
                <a:cs typeface="Verdana"/>
              </a:rPr>
              <a:t>    But financial discussions remain unstructured.</a:t>
            </a:r>
            <a:endParaRPr sz="2000" dirty="0">
              <a:latin typeface="Verdana"/>
              <a:cs typeface="Verdana"/>
            </a:endParaRPr>
          </a:p>
        </p:txBody>
      </p:sp>
      <p:sp>
        <p:nvSpPr>
          <p:cNvPr id="14" name="object 14"/>
          <p:cNvSpPr txBox="1"/>
          <p:nvPr/>
        </p:nvSpPr>
        <p:spPr>
          <a:xfrm>
            <a:off x="12207488" y="4163299"/>
            <a:ext cx="4570343" cy="3270895"/>
          </a:xfrm>
          <a:prstGeom prst="rect">
            <a:avLst/>
          </a:prstGeom>
        </p:spPr>
        <p:txBody>
          <a:bodyPr vert="horz" wrap="square" lIns="0" tIns="12700" rIns="0" bIns="0" rtlCol="0">
            <a:spAutoFit/>
          </a:bodyPr>
          <a:lstStyle/>
          <a:p>
            <a:pPr marL="12700" marR="5080" algn="ctr">
              <a:lnSpc>
                <a:spcPct val="115599"/>
              </a:lnSpc>
              <a:spcBef>
                <a:spcPts val="100"/>
              </a:spcBef>
            </a:pPr>
            <a:r>
              <a:rPr lang="en-US" sz="2000" b="1" dirty="0">
                <a:solidFill>
                  <a:srgbClr val="002060"/>
                </a:solidFill>
                <a:latin typeface="Verdana"/>
                <a:cs typeface="Verdana"/>
              </a:rPr>
              <a:t>FINANCIAL INTELLIGENCE</a:t>
            </a:r>
          </a:p>
          <a:p>
            <a:pPr marL="12700" marR="5080" algn="just">
              <a:lnSpc>
                <a:spcPct val="115599"/>
              </a:lnSpc>
              <a:spcBef>
                <a:spcPts val="100"/>
              </a:spcBef>
            </a:pPr>
            <a:endParaRPr lang="en-US" sz="2000" dirty="0">
              <a:latin typeface="Verdana"/>
              <a:cs typeface="Verdana"/>
            </a:endParaRPr>
          </a:p>
          <a:p>
            <a:pPr marL="12700" marR="5080" algn="just">
              <a:lnSpc>
                <a:spcPct val="115599"/>
              </a:lnSpc>
              <a:spcBef>
                <a:spcPts val="100"/>
              </a:spcBef>
            </a:pPr>
            <a:r>
              <a:rPr lang="en-US" sz="2000" dirty="0">
                <a:latin typeface="Verdana"/>
                <a:cs typeface="Verdana"/>
              </a:rPr>
              <a:t>     AI is used in fraud detection, credit scoring, and analytics.</a:t>
            </a:r>
          </a:p>
          <a:p>
            <a:pPr marL="12700" marR="5080" algn="just">
              <a:lnSpc>
                <a:spcPct val="115599"/>
              </a:lnSpc>
              <a:spcBef>
                <a:spcPts val="100"/>
              </a:spcBef>
            </a:pPr>
            <a:endParaRPr lang="en-US" sz="2000" dirty="0">
              <a:latin typeface="Verdana"/>
              <a:cs typeface="Verdana"/>
            </a:endParaRPr>
          </a:p>
          <a:p>
            <a:pPr marL="12700" marR="5080" algn="just">
              <a:lnSpc>
                <a:spcPct val="115599"/>
              </a:lnSpc>
              <a:spcBef>
                <a:spcPts val="100"/>
              </a:spcBef>
            </a:pPr>
            <a:r>
              <a:rPr lang="en-US" sz="2000" dirty="0">
                <a:latin typeface="Verdana"/>
                <a:cs typeface="Verdana"/>
              </a:rPr>
              <a:t>     However, it does not capture real-life financial conversations.</a:t>
            </a:r>
          </a:p>
          <a:p>
            <a:pPr marL="12700" marR="5080" algn="just">
              <a:lnSpc>
                <a:spcPct val="115599"/>
              </a:lnSpc>
              <a:spcBef>
                <a:spcPts val="100"/>
              </a:spcBef>
            </a:pPr>
            <a:endParaRPr lang="en-US" sz="2000" dirty="0">
              <a:latin typeface="Verdana"/>
              <a:cs typeface="Verdana"/>
            </a:endParaRPr>
          </a:p>
          <a:p>
            <a:pPr marL="12700" marR="5080" algn="just">
              <a:lnSpc>
                <a:spcPct val="115599"/>
              </a:lnSpc>
              <a:spcBef>
                <a:spcPts val="100"/>
              </a:spcBef>
            </a:pPr>
            <a:r>
              <a:rPr lang="en-US" sz="2000" dirty="0">
                <a:latin typeface="Verdana"/>
                <a:cs typeface="Verdana"/>
              </a:rPr>
              <a:t>     Our system fills this gap.</a:t>
            </a:r>
          </a:p>
        </p:txBody>
      </p:sp>
      <p:sp>
        <p:nvSpPr>
          <p:cNvPr id="15" name="object 15"/>
          <p:cNvSpPr txBox="1"/>
          <p:nvPr/>
        </p:nvSpPr>
        <p:spPr>
          <a:xfrm>
            <a:off x="12309151" y="7138316"/>
            <a:ext cx="4376420" cy="333746"/>
          </a:xfrm>
          <a:prstGeom prst="rect">
            <a:avLst/>
          </a:prstGeom>
        </p:spPr>
        <p:txBody>
          <a:bodyPr vert="horz" wrap="square" lIns="0" tIns="12700" rIns="0" bIns="0" rtlCol="0">
            <a:spAutoFit/>
          </a:bodyPr>
          <a:lstStyle/>
          <a:p>
            <a:pPr marL="12700" marR="5080">
              <a:lnSpc>
                <a:spcPct val="115599"/>
              </a:lnSpc>
              <a:spcBef>
                <a:spcPts val="100"/>
              </a:spcBef>
              <a:tabLst>
                <a:tab pos="1383030" algn="l"/>
                <a:tab pos="3280410" algn="l"/>
              </a:tabLst>
            </a:pPr>
            <a:endParaRPr sz="2000" dirty="0">
              <a:latin typeface="Verdana"/>
              <a:cs typeface="Verdana"/>
            </a:endParaRPr>
          </a:p>
        </p:txBody>
      </p:sp>
      <p:sp>
        <p:nvSpPr>
          <p:cNvPr id="16" name="object 16"/>
          <p:cNvSpPr txBox="1">
            <a:spLocks noGrp="1"/>
          </p:cNvSpPr>
          <p:nvPr>
            <p:ph type="title"/>
          </p:nvPr>
        </p:nvSpPr>
        <p:spPr>
          <a:xfrm>
            <a:off x="3276600" y="1148739"/>
            <a:ext cx="12725400" cy="1858201"/>
          </a:xfrm>
          <a:prstGeom prst="rect">
            <a:avLst/>
          </a:prstGeom>
        </p:spPr>
        <p:txBody>
          <a:bodyPr vert="horz" wrap="square" lIns="0" tIns="11430" rIns="0" bIns="0" rtlCol="0">
            <a:spAutoFit/>
          </a:bodyPr>
          <a:lstStyle/>
          <a:p>
            <a:pPr marL="12700">
              <a:lnSpc>
                <a:spcPct val="100000"/>
              </a:lnSpc>
              <a:spcBef>
                <a:spcPts val="90"/>
              </a:spcBef>
            </a:pPr>
            <a:r>
              <a:rPr lang="en-IN" sz="6000" spc="-320" dirty="0">
                <a:solidFill>
                  <a:srgbClr val="000000"/>
                </a:solidFill>
              </a:rPr>
              <a:t>WHERE AI IMPACTS FINANCIAL        DECISIONS</a:t>
            </a:r>
            <a:endParaRPr sz="6000" dirty="0"/>
          </a:p>
        </p:txBody>
      </p:sp>
      <p:sp>
        <p:nvSpPr>
          <p:cNvPr id="17" name="object 17"/>
          <p:cNvSpPr txBox="1"/>
          <p:nvPr/>
        </p:nvSpPr>
        <p:spPr>
          <a:xfrm>
            <a:off x="2715689" y="3177524"/>
            <a:ext cx="2168525" cy="859210"/>
          </a:xfrm>
          <a:prstGeom prst="rect">
            <a:avLst/>
          </a:prstGeom>
        </p:spPr>
        <p:txBody>
          <a:bodyPr vert="horz" wrap="square" lIns="0" tIns="12700" rIns="0" bIns="0" rtlCol="0">
            <a:spAutoFit/>
          </a:bodyPr>
          <a:lstStyle/>
          <a:p>
            <a:pPr algn="ctr">
              <a:lnSpc>
                <a:spcPct val="100000"/>
              </a:lnSpc>
              <a:spcBef>
                <a:spcPts val="100"/>
              </a:spcBef>
            </a:pPr>
            <a:r>
              <a:rPr sz="5500" spc="-835" dirty="0">
                <a:latin typeface="Verdana"/>
                <a:cs typeface="Verdana"/>
              </a:rPr>
              <a:t>01</a:t>
            </a:r>
            <a:endParaRPr sz="5500" dirty="0">
              <a:latin typeface="Verdana"/>
              <a:cs typeface="Verdana"/>
            </a:endParaRPr>
          </a:p>
        </p:txBody>
      </p:sp>
      <p:sp>
        <p:nvSpPr>
          <p:cNvPr id="18" name="object 18"/>
          <p:cNvSpPr txBox="1"/>
          <p:nvPr/>
        </p:nvSpPr>
        <p:spPr>
          <a:xfrm>
            <a:off x="7536665" y="3177524"/>
            <a:ext cx="3136900" cy="859210"/>
          </a:xfrm>
          <a:prstGeom prst="rect">
            <a:avLst/>
          </a:prstGeom>
        </p:spPr>
        <p:txBody>
          <a:bodyPr vert="horz" wrap="square" lIns="0" tIns="12700" rIns="0" bIns="0" rtlCol="0">
            <a:spAutoFit/>
          </a:bodyPr>
          <a:lstStyle/>
          <a:p>
            <a:pPr marL="77470" algn="ctr">
              <a:lnSpc>
                <a:spcPct val="100000"/>
              </a:lnSpc>
              <a:spcBef>
                <a:spcPts val="100"/>
              </a:spcBef>
            </a:pPr>
            <a:r>
              <a:rPr sz="5500" spc="-25" dirty="0">
                <a:latin typeface="Verdana"/>
                <a:cs typeface="Verdana"/>
              </a:rPr>
              <a:t>02</a:t>
            </a:r>
            <a:endParaRPr sz="5500" dirty="0">
              <a:latin typeface="Verdana"/>
              <a:cs typeface="Verdana"/>
            </a:endParaRPr>
          </a:p>
        </p:txBody>
      </p:sp>
      <p:sp>
        <p:nvSpPr>
          <p:cNvPr id="19" name="object 19"/>
          <p:cNvSpPr txBox="1"/>
          <p:nvPr/>
        </p:nvSpPr>
        <p:spPr>
          <a:xfrm>
            <a:off x="13200778" y="3177524"/>
            <a:ext cx="2583815" cy="859210"/>
          </a:xfrm>
          <a:prstGeom prst="rect">
            <a:avLst/>
          </a:prstGeom>
        </p:spPr>
        <p:txBody>
          <a:bodyPr vert="horz" wrap="square" lIns="0" tIns="12700" rIns="0" bIns="0" rtlCol="0">
            <a:spAutoFit/>
          </a:bodyPr>
          <a:lstStyle/>
          <a:p>
            <a:pPr marR="1270" algn="ctr">
              <a:lnSpc>
                <a:spcPct val="100000"/>
              </a:lnSpc>
              <a:spcBef>
                <a:spcPts val="100"/>
              </a:spcBef>
            </a:pPr>
            <a:r>
              <a:rPr sz="5500" spc="-295" dirty="0">
                <a:latin typeface="Verdana"/>
                <a:cs typeface="Verdana"/>
              </a:rPr>
              <a:t>03</a:t>
            </a:r>
            <a:endParaRPr lang="en-IN" sz="5500" spc="-295" dirty="0">
              <a:latin typeface="Verdana"/>
              <a:cs typeface="Verdana"/>
            </a:endParaRPr>
          </a:p>
        </p:txBody>
      </p:sp>
      <p:sp>
        <p:nvSpPr>
          <p:cNvPr id="7" name="TextBox 6">
            <a:extLst>
              <a:ext uri="{FF2B5EF4-FFF2-40B4-BE49-F238E27FC236}">
                <a16:creationId xmlns:a16="http://schemas.microsoft.com/office/drawing/2014/main" id="{E55AB321-D78C-ABC4-F868-A519B7749015}"/>
              </a:ext>
            </a:extLst>
          </p:cNvPr>
          <p:cNvSpPr txBox="1"/>
          <p:nvPr/>
        </p:nvSpPr>
        <p:spPr>
          <a:xfrm>
            <a:off x="2438400" y="8977848"/>
            <a:ext cx="13182600" cy="523220"/>
          </a:xfrm>
          <a:prstGeom prst="rect">
            <a:avLst/>
          </a:prstGeom>
          <a:noFill/>
        </p:spPr>
        <p:txBody>
          <a:bodyPr wrap="square" rtlCol="0">
            <a:spAutoFit/>
          </a:bodyPr>
          <a:lstStyle/>
          <a:p>
            <a:r>
              <a:rPr lang="en-US" sz="2800" u="sng" dirty="0">
                <a:latin typeface="Times New Roman" panose="02020603050405020304" pitchFamily="18" charset="0"/>
                <a:cs typeface="Times New Roman" panose="02020603050405020304" pitchFamily="18" charset="0"/>
              </a:rPr>
              <a:t>Yet, no system connects all these into real financial decision tracking</a:t>
            </a:r>
            <a:endParaRPr lang="en-IN" sz="2800" u="sng" dirty="0">
              <a:latin typeface="Times New Roman" panose="02020603050405020304" pitchFamily="18" charset="0"/>
              <a:cs typeface="Times New Roman" panose="02020603050405020304" pitchFamily="18" charset="0"/>
            </a:endParaRPr>
          </a:p>
        </p:txBody>
      </p:sp>
      <p:sp>
        <p:nvSpPr>
          <p:cNvPr id="8" name="Arrow: Right 7">
            <a:extLst>
              <a:ext uri="{FF2B5EF4-FFF2-40B4-BE49-F238E27FC236}">
                <a16:creationId xmlns:a16="http://schemas.microsoft.com/office/drawing/2014/main" id="{CEEAE94B-35F8-8BCF-F050-A3CC52BD941F}"/>
              </a:ext>
            </a:extLst>
          </p:cNvPr>
          <p:cNvSpPr/>
          <p:nvPr/>
        </p:nvSpPr>
        <p:spPr>
          <a:xfrm>
            <a:off x="1524000" y="4838700"/>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Right 8">
            <a:extLst>
              <a:ext uri="{FF2B5EF4-FFF2-40B4-BE49-F238E27FC236}">
                <a16:creationId xmlns:a16="http://schemas.microsoft.com/office/drawing/2014/main" id="{11960C79-4F0A-FB13-0EA0-D0639C4E005B}"/>
              </a:ext>
            </a:extLst>
          </p:cNvPr>
          <p:cNvSpPr/>
          <p:nvPr/>
        </p:nvSpPr>
        <p:spPr>
          <a:xfrm>
            <a:off x="1434242" y="5957788"/>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DADA7E0B-F947-5F40-0345-26E8C6F5FE89}"/>
              </a:ext>
            </a:extLst>
          </p:cNvPr>
          <p:cNvSpPr/>
          <p:nvPr/>
        </p:nvSpPr>
        <p:spPr>
          <a:xfrm>
            <a:off x="1462472" y="7345525"/>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FAF5CB3F-8228-EFE4-1DB4-63F8800060C0}"/>
              </a:ext>
            </a:extLst>
          </p:cNvPr>
          <p:cNvSpPr/>
          <p:nvPr/>
        </p:nvSpPr>
        <p:spPr>
          <a:xfrm>
            <a:off x="6841338" y="4847972"/>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66E95681-2878-3754-DDED-D3073EB77629}"/>
              </a:ext>
            </a:extLst>
          </p:cNvPr>
          <p:cNvSpPr/>
          <p:nvPr/>
        </p:nvSpPr>
        <p:spPr>
          <a:xfrm>
            <a:off x="6781505" y="6280402"/>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8E01F22A-DC7F-F9F2-F8C1-A83FF25D3863}"/>
              </a:ext>
            </a:extLst>
          </p:cNvPr>
          <p:cNvSpPr/>
          <p:nvPr/>
        </p:nvSpPr>
        <p:spPr>
          <a:xfrm>
            <a:off x="6741814" y="7369545"/>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573FCF72-3F1F-F243-EE18-6B04A71FB866}"/>
              </a:ext>
            </a:extLst>
          </p:cNvPr>
          <p:cNvSpPr/>
          <p:nvPr/>
        </p:nvSpPr>
        <p:spPr>
          <a:xfrm>
            <a:off x="12207488" y="4991100"/>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512264D9-C17C-E3B3-C12E-C461B802E043}"/>
              </a:ext>
            </a:extLst>
          </p:cNvPr>
          <p:cNvSpPr/>
          <p:nvPr/>
        </p:nvSpPr>
        <p:spPr>
          <a:xfrm>
            <a:off x="12207488" y="6046096"/>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Right 23">
            <a:extLst>
              <a:ext uri="{FF2B5EF4-FFF2-40B4-BE49-F238E27FC236}">
                <a16:creationId xmlns:a16="http://schemas.microsoft.com/office/drawing/2014/main" id="{B573933A-1FCE-2232-8295-98B63A33CDB8}"/>
              </a:ext>
            </a:extLst>
          </p:cNvPr>
          <p:cNvSpPr/>
          <p:nvPr/>
        </p:nvSpPr>
        <p:spPr>
          <a:xfrm>
            <a:off x="12210256" y="7148328"/>
            <a:ext cx="381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AF6F4"/>
          </a:solidFill>
        </p:spPr>
        <p:txBody>
          <a:bodyPr wrap="square" lIns="0" tIns="0" rIns="0" bIns="0" rtlCol="0"/>
          <a:lstStyle/>
          <a:p>
            <a:endParaRPr/>
          </a:p>
        </p:txBody>
      </p:sp>
      <p:grpSp>
        <p:nvGrpSpPr>
          <p:cNvPr id="3" name="object 3"/>
          <p:cNvGrpSpPr/>
          <p:nvPr/>
        </p:nvGrpSpPr>
        <p:grpSpPr>
          <a:xfrm>
            <a:off x="1028700" y="-33109"/>
            <a:ext cx="17259300" cy="10283190"/>
            <a:chOff x="1028700" y="0"/>
            <a:chExt cx="17259300" cy="10283190"/>
          </a:xfrm>
        </p:grpSpPr>
        <p:pic>
          <p:nvPicPr>
            <p:cNvPr id="4" name="object 4"/>
            <p:cNvPicPr/>
            <p:nvPr/>
          </p:nvPicPr>
          <p:blipFill>
            <a:blip r:embed="rId2" cstate="print"/>
            <a:stretch>
              <a:fillRect/>
            </a:stretch>
          </p:blipFill>
          <p:spPr>
            <a:xfrm>
              <a:off x="11201401" y="0"/>
              <a:ext cx="7086596" cy="10282699"/>
            </a:xfrm>
            <a:prstGeom prst="rect">
              <a:avLst/>
            </a:prstGeom>
          </p:spPr>
        </p:pic>
        <p:sp>
          <p:nvSpPr>
            <p:cNvPr id="5" name="object 5"/>
            <p:cNvSpPr/>
            <p:nvPr/>
          </p:nvSpPr>
          <p:spPr>
            <a:xfrm>
              <a:off x="1028700" y="2669620"/>
              <a:ext cx="11289665" cy="2890520"/>
            </a:xfrm>
            <a:custGeom>
              <a:avLst/>
              <a:gdLst/>
              <a:ahLst/>
              <a:cxnLst/>
              <a:rect l="l" t="t" r="r" b="b"/>
              <a:pathLst>
                <a:path w="11289665" h="2890520">
                  <a:moveTo>
                    <a:pt x="11289147" y="2890021"/>
                  </a:moveTo>
                  <a:lnTo>
                    <a:pt x="0" y="2890021"/>
                  </a:lnTo>
                  <a:lnTo>
                    <a:pt x="0" y="0"/>
                  </a:lnTo>
                  <a:lnTo>
                    <a:pt x="11289147" y="0"/>
                  </a:lnTo>
                  <a:lnTo>
                    <a:pt x="11289147" y="2890021"/>
                  </a:lnTo>
                  <a:close/>
                </a:path>
              </a:pathLst>
            </a:custGeom>
            <a:solidFill>
              <a:srgbClr val="D4E74E"/>
            </a:solidFill>
          </p:spPr>
          <p:txBody>
            <a:bodyPr wrap="square" lIns="0" tIns="0" rIns="0" bIns="0" rtlCol="0"/>
            <a:lstStyle/>
            <a:p>
              <a:endParaRPr/>
            </a:p>
          </p:txBody>
        </p:sp>
        <p:sp>
          <p:nvSpPr>
            <p:cNvPr id="6" name="object 6"/>
            <p:cNvSpPr/>
            <p:nvPr/>
          </p:nvSpPr>
          <p:spPr>
            <a:xfrm>
              <a:off x="2687556" y="3064770"/>
              <a:ext cx="0" cy="2312035"/>
            </a:xfrm>
            <a:custGeom>
              <a:avLst/>
              <a:gdLst/>
              <a:ahLst/>
              <a:cxnLst/>
              <a:rect l="l" t="t" r="r" b="b"/>
              <a:pathLst>
                <a:path h="2312035">
                  <a:moveTo>
                    <a:pt x="0" y="2311848"/>
                  </a:moveTo>
                  <a:lnTo>
                    <a:pt x="0" y="0"/>
                  </a:lnTo>
                </a:path>
              </a:pathLst>
            </a:custGeom>
            <a:ln w="28574">
              <a:solidFill>
                <a:srgbClr val="000000"/>
              </a:solidFill>
            </a:ln>
          </p:spPr>
          <p:txBody>
            <a:bodyPr wrap="square" lIns="0" tIns="0" rIns="0" bIns="0" rtlCol="0"/>
            <a:lstStyle/>
            <a:p>
              <a:endParaRPr/>
            </a:p>
          </p:txBody>
        </p:sp>
        <p:sp>
          <p:nvSpPr>
            <p:cNvPr id="7" name="object 7"/>
            <p:cNvSpPr/>
            <p:nvPr/>
          </p:nvSpPr>
          <p:spPr>
            <a:xfrm>
              <a:off x="1028700" y="5942638"/>
              <a:ext cx="11281410" cy="3256279"/>
            </a:xfrm>
            <a:custGeom>
              <a:avLst/>
              <a:gdLst/>
              <a:ahLst/>
              <a:cxnLst/>
              <a:rect l="l" t="t" r="r" b="b"/>
              <a:pathLst>
                <a:path w="11281410" h="3256279">
                  <a:moveTo>
                    <a:pt x="11264900" y="3251200"/>
                  </a:moveTo>
                  <a:lnTo>
                    <a:pt x="0" y="3251200"/>
                  </a:lnTo>
                  <a:lnTo>
                    <a:pt x="0" y="0"/>
                  </a:lnTo>
                  <a:lnTo>
                    <a:pt x="11264900" y="0"/>
                  </a:lnTo>
                  <a:lnTo>
                    <a:pt x="11264900" y="3251200"/>
                  </a:lnTo>
                  <a:close/>
                </a:path>
              </a:pathLst>
            </a:custGeom>
            <a:solidFill>
              <a:srgbClr val="D4E74E"/>
            </a:solidFill>
          </p:spPr>
          <p:txBody>
            <a:bodyPr wrap="square" lIns="0" tIns="0" rIns="0" bIns="0" rtlCol="0"/>
            <a:lstStyle/>
            <a:p>
              <a:endParaRPr/>
            </a:p>
          </p:txBody>
        </p:sp>
        <p:sp>
          <p:nvSpPr>
            <p:cNvPr id="8" name="object 8"/>
            <p:cNvSpPr/>
            <p:nvPr/>
          </p:nvSpPr>
          <p:spPr>
            <a:xfrm>
              <a:off x="2687556" y="6414645"/>
              <a:ext cx="0" cy="2312035"/>
            </a:xfrm>
            <a:custGeom>
              <a:avLst/>
              <a:gdLst/>
              <a:ahLst/>
              <a:cxnLst/>
              <a:rect l="l" t="t" r="r" b="b"/>
              <a:pathLst>
                <a:path h="2312034">
                  <a:moveTo>
                    <a:pt x="0" y="2311848"/>
                  </a:moveTo>
                  <a:lnTo>
                    <a:pt x="0" y="0"/>
                  </a:lnTo>
                </a:path>
              </a:pathLst>
            </a:custGeom>
            <a:ln w="28574">
              <a:solidFill>
                <a:srgbClr val="000000"/>
              </a:solidFill>
            </a:ln>
          </p:spPr>
          <p:txBody>
            <a:bodyPr wrap="square" lIns="0" tIns="0" rIns="0" bIns="0" rtlCol="0"/>
            <a:lstStyle/>
            <a:p>
              <a:endParaRPr/>
            </a:p>
          </p:txBody>
        </p:sp>
        <p:sp>
          <p:nvSpPr>
            <p:cNvPr id="9" name="object 9"/>
            <p:cNvSpPr/>
            <p:nvPr/>
          </p:nvSpPr>
          <p:spPr>
            <a:xfrm>
              <a:off x="10039653" y="0"/>
              <a:ext cx="4047490" cy="3173095"/>
            </a:xfrm>
            <a:custGeom>
              <a:avLst/>
              <a:gdLst/>
              <a:ahLst/>
              <a:cxnLst/>
              <a:rect l="l" t="t" r="r" b="b"/>
              <a:pathLst>
                <a:path w="4047490" h="3173095">
                  <a:moveTo>
                    <a:pt x="2965812" y="1433273"/>
                  </a:moveTo>
                  <a:lnTo>
                    <a:pt x="2469053" y="1433273"/>
                  </a:lnTo>
                  <a:lnTo>
                    <a:pt x="2731827" y="1170499"/>
                  </a:lnTo>
                  <a:lnTo>
                    <a:pt x="2731475" y="1165760"/>
                  </a:lnTo>
                  <a:lnTo>
                    <a:pt x="2730422" y="1161547"/>
                  </a:lnTo>
                  <a:lnTo>
                    <a:pt x="2730422" y="362168"/>
                  </a:lnTo>
                  <a:lnTo>
                    <a:pt x="2731651" y="357779"/>
                  </a:lnTo>
                  <a:lnTo>
                    <a:pt x="2731827" y="353215"/>
                  </a:lnTo>
                  <a:lnTo>
                    <a:pt x="2378611" y="0"/>
                  </a:lnTo>
                  <a:lnTo>
                    <a:pt x="2875019" y="0"/>
                  </a:lnTo>
                  <a:lnTo>
                    <a:pt x="2980031" y="105011"/>
                  </a:lnTo>
                  <a:lnTo>
                    <a:pt x="3797491" y="105011"/>
                  </a:lnTo>
                  <a:lnTo>
                    <a:pt x="3875641" y="120264"/>
                  </a:lnTo>
                  <a:lnTo>
                    <a:pt x="3916657" y="139747"/>
                  </a:lnTo>
                  <a:lnTo>
                    <a:pt x="3953408" y="165732"/>
                  </a:lnTo>
                  <a:lnTo>
                    <a:pt x="3985148" y="197472"/>
                  </a:lnTo>
                  <a:lnTo>
                    <a:pt x="4011133" y="234223"/>
                  </a:lnTo>
                  <a:lnTo>
                    <a:pt x="4030617" y="275239"/>
                  </a:lnTo>
                  <a:lnTo>
                    <a:pt x="4042853" y="319774"/>
                  </a:lnTo>
                  <a:lnTo>
                    <a:pt x="4047098" y="367082"/>
                  </a:lnTo>
                  <a:lnTo>
                    <a:pt x="4047098" y="1156983"/>
                  </a:lnTo>
                  <a:lnTo>
                    <a:pt x="4042853" y="1204292"/>
                  </a:lnTo>
                  <a:lnTo>
                    <a:pt x="4030617" y="1248827"/>
                  </a:lnTo>
                  <a:lnTo>
                    <a:pt x="4011133" y="1289842"/>
                  </a:lnTo>
                  <a:lnTo>
                    <a:pt x="3985148" y="1326593"/>
                  </a:lnTo>
                  <a:lnTo>
                    <a:pt x="3953408" y="1358334"/>
                  </a:lnTo>
                  <a:lnTo>
                    <a:pt x="3916657" y="1384318"/>
                  </a:lnTo>
                  <a:lnTo>
                    <a:pt x="3875641" y="1403802"/>
                  </a:lnTo>
                  <a:lnTo>
                    <a:pt x="3831107" y="1416039"/>
                  </a:lnTo>
                  <a:lnTo>
                    <a:pt x="3799450" y="1418879"/>
                  </a:lnTo>
                  <a:lnTo>
                    <a:pt x="2980206" y="1418879"/>
                  </a:lnTo>
                  <a:lnTo>
                    <a:pt x="2965812" y="1433273"/>
                  </a:lnTo>
                  <a:close/>
                </a:path>
                <a:path w="4047490" h="3173095">
                  <a:moveTo>
                    <a:pt x="3797491" y="105011"/>
                  </a:moveTo>
                  <a:lnTo>
                    <a:pt x="2980031" y="105011"/>
                  </a:lnTo>
                  <a:lnTo>
                    <a:pt x="2984594" y="104660"/>
                  </a:lnTo>
                  <a:lnTo>
                    <a:pt x="2988983" y="103607"/>
                  </a:lnTo>
                  <a:lnTo>
                    <a:pt x="3783623" y="103607"/>
                  </a:lnTo>
                  <a:lnTo>
                    <a:pt x="3783798" y="103782"/>
                  </a:lnTo>
                  <a:lnTo>
                    <a:pt x="3797491" y="105011"/>
                  </a:lnTo>
                  <a:close/>
                </a:path>
                <a:path w="4047490" h="3173095">
                  <a:moveTo>
                    <a:pt x="2419110" y="3172957"/>
                  </a:moveTo>
                  <a:lnTo>
                    <a:pt x="1286751" y="3172957"/>
                  </a:lnTo>
                  <a:lnTo>
                    <a:pt x="1278676" y="3172414"/>
                  </a:lnTo>
                  <a:lnTo>
                    <a:pt x="1232976" y="3163082"/>
                  </a:lnTo>
                  <a:lnTo>
                    <a:pt x="1189647" y="3148040"/>
                  </a:lnTo>
                  <a:lnTo>
                    <a:pt x="1149106" y="3127703"/>
                  </a:lnTo>
                  <a:lnTo>
                    <a:pt x="1111771" y="3102491"/>
                  </a:lnTo>
                  <a:lnTo>
                    <a:pt x="1078060" y="3072821"/>
                  </a:lnTo>
                  <a:lnTo>
                    <a:pt x="1048389" y="3039109"/>
                  </a:lnTo>
                  <a:lnTo>
                    <a:pt x="1023177" y="3001774"/>
                  </a:lnTo>
                  <a:lnTo>
                    <a:pt x="1002841" y="2961234"/>
                  </a:lnTo>
                  <a:lnTo>
                    <a:pt x="987798" y="2917904"/>
                  </a:lnTo>
                  <a:lnTo>
                    <a:pt x="978467" y="2872204"/>
                  </a:lnTo>
                  <a:lnTo>
                    <a:pt x="975263" y="2824551"/>
                  </a:lnTo>
                  <a:lnTo>
                    <a:pt x="975263" y="1771350"/>
                  </a:lnTo>
                  <a:lnTo>
                    <a:pt x="976210" y="1748174"/>
                  </a:lnTo>
                  <a:lnTo>
                    <a:pt x="978878" y="1725492"/>
                  </a:lnTo>
                  <a:lnTo>
                    <a:pt x="982965" y="1703418"/>
                  </a:lnTo>
                  <a:lnTo>
                    <a:pt x="988253" y="1681652"/>
                  </a:lnTo>
                  <a:lnTo>
                    <a:pt x="629462" y="1322862"/>
                  </a:lnTo>
                  <a:lnTo>
                    <a:pt x="175533" y="1322862"/>
                  </a:lnTo>
                  <a:lnTo>
                    <a:pt x="128886" y="1316588"/>
                  </a:lnTo>
                  <a:lnTo>
                    <a:pt x="86960" y="1298885"/>
                  </a:lnTo>
                  <a:lnTo>
                    <a:pt x="51431" y="1271431"/>
                  </a:lnTo>
                  <a:lnTo>
                    <a:pt x="23976" y="1235901"/>
                  </a:lnTo>
                  <a:lnTo>
                    <a:pt x="6273" y="1193975"/>
                  </a:lnTo>
                  <a:lnTo>
                    <a:pt x="0" y="1147329"/>
                  </a:lnTo>
                  <a:lnTo>
                    <a:pt x="0" y="620728"/>
                  </a:lnTo>
                  <a:lnTo>
                    <a:pt x="6273" y="574082"/>
                  </a:lnTo>
                  <a:lnTo>
                    <a:pt x="23976" y="532155"/>
                  </a:lnTo>
                  <a:lnTo>
                    <a:pt x="51431" y="496626"/>
                  </a:lnTo>
                  <a:lnTo>
                    <a:pt x="86960" y="469171"/>
                  </a:lnTo>
                  <a:lnTo>
                    <a:pt x="128886" y="451469"/>
                  </a:lnTo>
                  <a:lnTo>
                    <a:pt x="175533" y="445195"/>
                  </a:lnTo>
                  <a:lnTo>
                    <a:pt x="702133" y="445195"/>
                  </a:lnTo>
                  <a:lnTo>
                    <a:pt x="748780" y="451469"/>
                  </a:lnTo>
                  <a:lnTo>
                    <a:pt x="790706" y="469171"/>
                  </a:lnTo>
                  <a:lnTo>
                    <a:pt x="826236" y="496626"/>
                  </a:lnTo>
                  <a:lnTo>
                    <a:pt x="853690" y="532155"/>
                  </a:lnTo>
                  <a:lnTo>
                    <a:pt x="871393" y="574082"/>
                  </a:lnTo>
                  <a:lnTo>
                    <a:pt x="877667" y="620728"/>
                  </a:lnTo>
                  <a:lnTo>
                    <a:pt x="877667" y="1074658"/>
                  </a:lnTo>
                  <a:lnTo>
                    <a:pt x="1236282" y="1433273"/>
                  </a:lnTo>
                  <a:lnTo>
                    <a:pt x="2965812" y="1433273"/>
                  </a:lnTo>
                  <a:lnTo>
                    <a:pt x="2717608" y="1681477"/>
                  </a:lnTo>
                  <a:lnTo>
                    <a:pt x="2722822" y="1703270"/>
                  </a:lnTo>
                  <a:lnTo>
                    <a:pt x="2726933" y="1725492"/>
                  </a:lnTo>
                  <a:lnTo>
                    <a:pt x="2729629" y="1748174"/>
                  </a:lnTo>
                  <a:lnTo>
                    <a:pt x="2730597" y="1771350"/>
                  </a:lnTo>
                  <a:lnTo>
                    <a:pt x="2730597" y="2824551"/>
                  </a:lnTo>
                  <a:lnTo>
                    <a:pt x="2727394" y="2872204"/>
                  </a:lnTo>
                  <a:lnTo>
                    <a:pt x="2718062" y="2917904"/>
                  </a:lnTo>
                  <a:lnTo>
                    <a:pt x="2703020" y="2961234"/>
                  </a:lnTo>
                  <a:lnTo>
                    <a:pt x="2682683" y="3001774"/>
                  </a:lnTo>
                  <a:lnTo>
                    <a:pt x="2657471" y="3039109"/>
                  </a:lnTo>
                  <a:lnTo>
                    <a:pt x="2627801" y="3072821"/>
                  </a:lnTo>
                  <a:lnTo>
                    <a:pt x="2594089" y="3102491"/>
                  </a:lnTo>
                  <a:lnTo>
                    <a:pt x="2556754" y="3127703"/>
                  </a:lnTo>
                  <a:lnTo>
                    <a:pt x="2516213" y="3148040"/>
                  </a:lnTo>
                  <a:lnTo>
                    <a:pt x="2472884" y="3163082"/>
                  </a:lnTo>
                  <a:lnTo>
                    <a:pt x="2427184" y="3172414"/>
                  </a:lnTo>
                  <a:lnTo>
                    <a:pt x="2419110" y="3172957"/>
                  </a:lnTo>
                  <a:close/>
                </a:path>
                <a:path w="4047490" h="3173095">
                  <a:moveTo>
                    <a:pt x="3783800" y="1420283"/>
                  </a:moveTo>
                  <a:lnTo>
                    <a:pt x="2989333" y="1420283"/>
                  </a:lnTo>
                  <a:lnTo>
                    <a:pt x="2984945" y="1419054"/>
                  </a:lnTo>
                  <a:lnTo>
                    <a:pt x="2980206" y="1418879"/>
                  </a:lnTo>
                  <a:lnTo>
                    <a:pt x="3799450" y="1418879"/>
                  </a:lnTo>
                  <a:lnTo>
                    <a:pt x="3783800" y="1420283"/>
                  </a:lnTo>
                  <a:close/>
                </a:path>
                <a:path w="4047490" h="3173095">
                  <a:moveTo>
                    <a:pt x="2469053" y="1433273"/>
                  </a:moveTo>
                  <a:lnTo>
                    <a:pt x="1236282" y="1433273"/>
                  </a:lnTo>
                  <a:lnTo>
                    <a:pt x="1258475" y="1427985"/>
                  </a:lnTo>
                  <a:lnTo>
                    <a:pt x="1280652" y="1423881"/>
                  </a:lnTo>
                  <a:lnTo>
                    <a:pt x="1280850" y="1423881"/>
                  </a:lnTo>
                  <a:lnTo>
                    <a:pt x="1303186" y="1421226"/>
                  </a:lnTo>
                  <a:lnTo>
                    <a:pt x="1303569" y="1421226"/>
                  </a:lnTo>
                  <a:lnTo>
                    <a:pt x="1326155" y="1420283"/>
                  </a:lnTo>
                  <a:lnTo>
                    <a:pt x="2379355" y="1420283"/>
                  </a:lnTo>
                  <a:lnTo>
                    <a:pt x="2402504" y="1421226"/>
                  </a:lnTo>
                  <a:lnTo>
                    <a:pt x="2425126" y="1423881"/>
                  </a:lnTo>
                  <a:lnTo>
                    <a:pt x="2447287" y="1427985"/>
                  </a:lnTo>
                  <a:lnTo>
                    <a:pt x="2469053" y="1433273"/>
                  </a:lnTo>
                  <a:close/>
                </a:path>
              </a:pathLst>
            </a:custGeom>
            <a:solidFill>
              <a:srgbClr val="BEBEB6"/>
            </a:solidFill>
          </p:spPr>
          <p:txBody>
            <a:bodyPr wrap="square" lIns="0" tIns="0" rIns="0" bIns="0" rtlCol="0"/>
            <a:lstStyle/>
            <a:p>
              <a:endParaRPr/>
            </a:p>
          </p:txBody>
        </p:sp>
      </p:grpSp>
      <p:sp>
        <p:nvSpPr>
          <p:cNvPr id="10" name="object 10"/>
          <p:cNvSpPr txBox="1"/>
          <p:nvPr/>
        </p:nvSpPr>
        <p:spPr>
          <a:xfrm>
            <a:off x="3134288" y="2301214"/>
            <a:ext cx="7776208" cy="2885405"/>
          </a:xfrm>
          <a:prstGeom prst="rect">
            <a:avLst/>
          </a:prstGeom>
        </p:spPr>
        <p:txBody>
          <a:bodyPr vert="horz" wrap="square" lIns="0" tIns="12700" rIns="0" bIns="0" rtlCol="0">
            <a:spAutoFit/>
          </a:bodyPr>
          <a:lstStyle/>
          <a:p>
            <a:pPr marL="12700">
              <a:lnSpc>
                <a:spcPct val="100000"/>
              </a:lnSpc>
              <a:spcBef>
                <a:spcPts val="100"/>
              </a:spcBef>
              <a:tabLst>
                <a:tab pos="502284" algn="l"/>
                <a:tab pos="1913255" algn="l"/>
                <a:tab pos="2853055" algn="l"/>
                <a:tab pos="4776470" algn="l"/>
                <a:tab pos="5492750" algn="l"/>
                <a:tab pos="6689725" algn="l"/>
              </a:tabLst>
            </a:pPr>
            <a:endParaRPr lang="en-US" sz="2000" dirty="0">
              <a:latin typeface="Verdana"/>
              <a:cs typeface="Verdana"/>
            </a:endParaRPr>
          </a:p>
          <a:p>
            <a:pPr marL="12700">
              <a:lnSpc>
                <a:spcPct val="100000"/>
              </a:lnSpc>
              <a:spcBef>
                <a:spcPts val="100"/>
              </a:spcBef>
              <a:tabLst>
                <a:tab pos="502284" algn="l"/>
                <a:tab pos="1913255" algn="l"/>
                <a:tab pos="2853055" algn="l"/>
                <a:tab pos="4776470" algn="l"/>
                <a:tab pos="5492750" algn="l"/>
                <a:tab pos="6689725" algn="l"/>
              </a:tabLst>
            </a:pPr>
            <a:endParaRPr lang="en-US" sz="2000" dirty="0">
              <a:latin typeface="Verdana"/>
              <a:cs typeface="Verdana"/>
            </a:endParaRPr>
          </a:p>
          <a:p>
            <a:pPr marL="12700">
              <a:lnSpc>
                <a:spcPct val="100000"/>
              </a:lnSpc>
              <a:spcBef>
                <a:spcPts val="100"/>
              </a:spcBef>
              <a:tabLst>
                <a:tab pos="502284" algn="l"/>
                <a:tab pos="1913255" algn="l"/>
                <a:tab pos="2853055" algn="l"/>
                <a:tab pos="4776470" algn="l"/>
                <a:tab pos="5492750" algn="l"/>
                <a:tab pos="6689725" algn="l"/>
              </a:tabLst>
            </a:pPr>
            <a:r>
              <a:rPr lang="en-US" sz="2000" b="1" u="sng" dirty="0">
                <a:latin typeface="Verdana"/>
                <a:cs typeface="Verdana"/>
              </a:rPr>
              <a:t>EVERYDAY FINANCIAL DISCUSSIONS</a:t>
            </a:r>
          </a:p>
          <a:p>
            <a:pPr marL="12700">
              <a:lnSpc>
                <a:spcPct val="100000"/>
              </a:lnSpc>
              <a:spcBef>
                <a:spcPts val="100"/>
              </a:spcBef>
              <a:tabLst>
                <a:tab pos="502284" algn="l"/>
                <a:tab pos="1913255" algn="l"/>
                <a:tab pos="2853055" algn="l"/>
                <a:tab pos="4776470" algn="l"/>
                <a:tab pos="5492750" algn="l"/>
                <a:tab pos="6689725" algn="l"/>
              </a:tabLst>
            </a:pPr>
            <a:endParaRPr lang="en-US" sz="2000" dirty="0">
              <a:latin typeface="Verdana"/>
              <a:cs typeface="Verdana"/>
            </a:endParaRPr>
          </a:p>
          <a:p>
            <a:pPr marL="12700">
              <a:lnSpc>
                <a:spcPct val="100000"/>
              </a:lnSpc>
              <a:spcBef>
                <a:spcPts val="100"/>
              </a:spcBef>
              <a:tabLst>
                <a:tab pos="502284" algn="l"/>
                <a:tab pos="1913255" algn="l"/>
                <a:tab pos="2853055" algn="l"/>
                <a:tab pos="4776470" algn="l"/>
                <a:tab pos="5492750" algn="l"/>
                <a:tab pos="6689725" algn="l"/>
              </a:tabLst>
            </a:pPr>
            <a:r>
              <a:rPr lang="en-US" sz="2000" dirty="0">
                <a:latin typeface="Verdana"/>
                <a:cs typeface="Verdana"/>
              </a:rPr>
              <a:t>People frequently discuss money in daily life:</a:t>
            </a:r>
          </a:p>
          <a:p>
            <a:pPr marL="12700">
              <a:lnSpc>
                <a:spcPct val="100000"/>
              </a:lnSpc>
              <a:spcBef>
                <a:spcPts val="100"/>
              </a:spcBef>
              <a:tabLst>
                <a:tab pos="502284" algn="l"/>
                <a:tab pos="1913255" algn="l"/>
                <a:tab pos="2853055" algn="l"/>
                <a:tab pos="4776470" algn="l"/>
                <a:tab pos="5492750" algn="l"/>
                <a:tab pos="6689725" algn="l"/>
              </a:tabLst>
            </a:pPr>
            <a:r>
              <a:rPr lang="en-US" sz="2000" dirty="0">
                <a:latin typeface="Verdana"/>
                <a:cs typeface="Verdana"/>
              </a:rPr>
              <a:t>• Loans and EMIs  </a:t>
            </a:r>
          </a:p>
          <a:p>
            <a:pPr marL="12700">
              <a:lnSpc>
                <a:spcPct val="100000"/>
              </a:lnSpc>
              <a:spcBef>
                <a:spcPts val="100"/>
              </a:spcBef>
              <a:tabLst>
                <a:tab pos="502284" algn="l"/>
                <a:tab pos="1913255" algn="l"/>
                <a:tab pos="2853055" algn="l"/>
                <a:tab pos="4776470" algn="l"/>
                <a:tab pos="5492750" algn="l"/>
                <a:tab pos="6689725" algn="l"/>
              </a:tabLst>
            </a:pPr>
            <a:r>
              <a:rPr lang="en-US" sz="2000" dirty="0">
                <a:latin typeface="Verdana"/>
                <a:cs typeface="Verdana"/>
              </a:rPr>
              <a:t>• Investments and savings  </a:t>
            </a:r>
          </a:p>
          <a:p>
            <a:pPr marL="12700">
              <a:lnSpc>
                <a:spcPct val="100000"/>
              </a:lnSpc>
              <a:spcBef>
                <a:spcPts val="100"/>
              </a:spcBef>
              <a:tabLst>
                <a:tab pos="502284" algn="l"/>
                <a:tab pos="1913255" algn="l"/>
                <a:tab pos="2853055" algn="l"/>
                <a:tab pos="4776470" algn="l"/>
                <a:tab pos="5492750" algn="l"/>
                <a:tab pos="6689725" algn="l"/>
              </a:tabLst>
            </a:pPr>
            <a:r>
              <a:rPr lang="en-US" sz="2000" dirty="0">
                <a:latin typeface="Verdana"/>
                <a:cs typeface="Verdana"/>
              </a:rPr>
              <a:t>• Expenses and planning  </a:t>
            </a:r>
          </a:p>
          <a:p>
            <a:pPr marL="12700">
              <a:lnSpc>
                <a:spcPct val="100000"/>
              </a:lnSpc>
              <a:spcBef>
                <a:spcPts val="100"/>
              </a:spcBef>
              <a:tabLst>
                <a:tab pos="502284" algn="l"/>
                <a:tab pos="1913255" algn="l"/>
                <a:tab pos="2853055" algn="l"/>
                <a:tab pos="4776470" algn="l"/>
                <a:tab pos="5492750" algn="l"/>
                <a:tab pos="6689725" algn="l"/>
              </a:tabLst>
            </a:pPr>
            <a:r>
              <a:rPr lang="en-US" sz="2000" b="1" i="1" dirty="0">
                <a:solidFill>
                  <a:srgbClr val="002060"/>
                </a:solidFill>
                <a:latin typeface="Verdana"/>
                <a:cs typeface="Verdana"/>
              </a:rPr>
              <a:t> These conversations are never recorded or tracked</a:t>
            </a:r>
            <a:endParaRPr sz="2000" b="1" i="1" dirty="0">
              <a:solidFill>
                <a:srgbClr val="002060"/>
              </a:solidFill>
              <a:latin typeface="Verdana"/>
              <a:cs typeface="Verdana"/>
            </a:endParaRPr>
          </a:p>
        </p:txBody>
      </p:sp>
      <p:sp>
        <p:nvSpPr>
          <p:cNvPr id="13" name="object 13"/>
          <p:cNvSpPr txBox="1"/>
          <p:nvPr/>
        </p:nvSpPr>
        <p:spPr>
          <a:xfrm>
            <a:off x="1538767" y="3641588"/>
            <a:ext cx="713105" cy="863600"/>
          </a:xfrm>
          <a:prstGeom prst="rect">
            <a:avLst/>
          </a:prstGeom>
        </p:spPr>
        <p:txBody>
          <a:bodyPr vert="horz" wrap="square" lIns="0" tIns="12700" rIns="0" bIns="0" rtlCol="0">
            <a:spAutoFit/>
          </a:bodyPr>
          <a:lstStyle/>
          <a:p>
            <a:pPr marL="12700">
              <a:lnSpc>
                <a:spcPct val="100000"/>
              </a:lnSpc>
              <a:spcBef>
                <a:spcPts val="100"/>
              </a:spcBef>
            </a:pPr>
            <a:r>
              <a:rPr sz="5500" spc="-835" dirty="0">
                <a:latin typeface="Verdana"/>
                <a:cs typeface="Verdana"/>
              </a:rPr>
              <a:t>01</a:t>
            </a:r>
            <a:endParaRPr sz="5500">
              <a:latin typeface="Verdana"/>
              <a:cs typeface="Verdana"/>
            </a:endParaRPr>
          </a:p>
        </p:txBody>
      </p:sp>
      <p:sp>
        <p:nvSpPr>
          <p:cNvPr id="14" name="object 14"/>
          <p:cNvSpPr txBox="1">
            <a:spLocks noGrp="1"/>
          </p:cNvSpPr>
          <p:nvPr>
            <p:ph type="title"/>
          </p:nvPr>
        </p:nvSpPr>
        <p:spPr>
          <a:xfrm>
            <a:off x="1136358" y="1149324"/>
            <a:ext cx="7557134" cy="1151890"/>
          </a:xfrm>
          <a:prstGeom prst="rect">
            <a:avLst/>
          </a:prstGeom>
        </p:spPr>
        <p:txBody>
          <a:bodyPr vert="horz" wrap="square" lIns="0" tIns="11430" rIns="0" bIns="0" rtlCol="0">
            <a:spAutoFit/>
          </a:bodyPr>
          <a:lstStyle/>
          <a:p>
            <a:pPr marL="12700">
              <a:lnSpc>
                <a:spcPct val="100000"/>
              </a:lnSpc>
              <a:spcBef>
                <a:spcPts val="90"/>
              </a:spcBef>
            </a:pPr>
            <a:r>
              <a:rPr sz="7400" spc="-320" dirty="0">
                <a:solidFill>
                  <a:srgbClr val="000000"/>
                </a:solidFill>
              </a:rPr>
              <a:t>AI</a:t>
            </a:r>
            <a:r>
              <a:rPr sz="7400" spc="-555" dirty="0">
                <a:solidFill>
                  <a:srgbClr val="000000"/>
                </a:solidFill>
              </a:rPr>
              <a:t> </a:t>
            </a:r>
            <a:r>
              <a:rPr sz="7400" spc="-560" dirty="0">
                <a:solidFill>
                  <a:srgbClr val="000000"/>
                </a:solidFill>
              </a:rPr>
              <a:t>IN</a:t>
            </a:r>
            <a:r>
              <a:rPr sz="7400" spc="-550" dirty="0">
                <a:solidFill>
                  <a:srgbClr val="000000"/>
                </a:solidFill>
              </a:rPr>
              <a:t> </a:t>
            </a:r>
            <a:r>
              <a:rPr sz="7400" spc="-220" dirty="0">
                <a:solidFill>
                  <a:srgbClr val="000000"/>
                </a:solidFill>
              </a:rPr>
              <a:t>D</a:t>
            </a:r>
            <a:r>
              <a:rPr sz="7400" spc="-140" dirty="0">
                <a:solidFill>
                  <a:srgbClr val="000000"/>
                </a:solidFill>
              </a:rPr>
              <a:t>A</a:t>
            </a:r>
            <a:r>
              <a:rPr sz="7400" spc="-290" dirty="0">
                <a:solidFill>
                  <a:srgbClr val="000000"/>
                </a:solidFill>
              </a:rPr>
              <a:t>I</a:t>
            </a:r>
            <a:r>
              <a:rPr sz="7400" spc="-650" dirty="0">
                <a:solidFill>
                  <a:srgbClr val="000000"/>
                </a:solidFill>
              </a:rPr>
              <a:t>L</a:t>
            </a:r>
            <a:r>
              <a:rPr sz="7400" spc="105" dirty="0">
                <a:solidFill>
                  <a:srgbClr val="000000"/>
                </a:solidFill>
              </a:rPr>
              <a:t>Y</a:t>
            </a:r>
            <a:r>
              <a:rPr sz="7400" spc="-550" dirty="0">
                <a:solidFill>
                  <a:srgbClr val="000000"/>
                </a:solidFill>
              </a:rPr>
              <a:t> </a:t>
            </a:r>
            <a:r>
              <a:rPr sz="7400" spc="-140" dirty="0">
                <a:solidFill>
                  <a:srgbClr val="000000"/>
                </a:solidFill>
              </a:rPr>
              <a:t>LIFE</a:t>
            </a:r>
            <a:endParaRPr sz="7400" dirty="0"/>
          </a:p>
        </p:txBody>
      </p:sp>
      <p:sp>
        <p:nvSpPr>
          <p:cNvPr id="15" name="object 15"/>
          <p:cNvSpPr txBox="1"/>
          <p:nvPr/>
        </p:nvSpPr>
        <p:spPr>
          <a:xfrm>
            <a:off x="3146988" y="5909529"/>
            <a:ext cx="7902012" cy="2872581"/>
          </a:xfrm>
          <a:prstGeom prst="rect">
            <a:avLst/>
          </a:prstGeom>
        </p:spPr>
        <p:txBody>
          <a:bodyPr vert="horz" wrap="square" lIns="0" tIns="12700" rIns="0" bIns="0" rtlCol="0">
            <a:spAutoFit/>
          </a:bodyPr>
          <a:lstStyle/>
          <a:p>
            <a:pPr>
              <a:lnSpc>
                <a:spcPct val="100000"/>
              </a:lnSpc>
              <a:spcBef>
                <a:spcPts val="100"/>
              </a:spcBef>
              <a:tabLst>
                <a:tab pos="1051560" algn="l"/>
                <a:tab pos="1791970" algn="l"/>
                <a:tab pos="2709545" algn="l"/>
                <a:tab pos="3852545" algn="l"/>
                <a:tab pos="5641340" algn="l"/>
                <a:tab pos="6546850" algn="l"/>
                <a:tab pos="7287259" algn="l"/>
              </a:tabLst>
            </a:pPr>
            <a:endParaRPr lang="en-US" sz="2000" dirty="0">
              <a:latin typeface="Verdana"/>
              <a:cs typeface="Verdana"/>
            </a:endParaRPr>
          </a:p>
          <a:p>
            <a:pPr>
              <a:lnSpc>
                <a:spcPct val="100000"/>
              </a:lnSpc>
              <a:spcBef>
                <a:spcPts val="100"/>
              </a:spcBef>
              <a:tabLst>
                <a:tab pos="1051560" algn="l"/>
                <a:tab pos="1791970" algn="l"/>
                <a:tab pos="2709545" algn="l"/>
                <a:tab pos="3852545" algn="l"/>
                <a:tab pos="5641340" algn="l"/>
                <a:tab pos="6546850" algn="l"/>
                <a:tab pos="7287259" algn="l"/>
              </a:tabLst>
            </a:pPr>
            <a:r>
              <a:rPr lang="en-US" sz="2000" b="1" u="sng" dirty="0">
                <a:latin typeface="Verdana"/>
                <a:cs typeface="Verdana"/>
              </a:rPr>
              <a:t>LACK OF STRUCTURED INSIGHTS</a:t>
            </a:r>
          </a:p>
          <a:p>
            <a:pPr>
              <a:lnSpc>
                <a:spcPct val="100000"/>
              </a:lnSpc>
              <a:spcBef>
                <a:spcPts val="100"/>
              </a:spcBef>
              <a:tabLst>
                <a:tab pos="1051560" algn="l"/>
                <a:tab pos="1791970" algn="l"/>
                <a:tab pos="2709545" algn="l"/>
                <a:tab pos="3852545" algn="l"/>
                <a:tab pos="5641340" algn="l"/>
                <a:tab pos="6546850" algn="l"/>
                <a:tab pos="7287259" algn="l"/>
              </a:tabLst>
            </a:pPr>
            <a:endParaRPr lang="en-US" sz="2000" dirty="0">
              <a:latin typeface="Verdana"/>
              <a:cs typeface="Verdana"/>
            </a:endParaRPr>
          </a:p>
          <a:p>
            <a:pPr>
              <a:lnSpc>
                <a:spcPct val="100000"/>
              </a:lnSpc>
              <a:spcBef>
                <a:spcPts val="100"/>
              </a:spcBef>
              <a:tabLst>
                <a:tab pos="1051560" algn="l"/>
                <a:tab pos="1791970" algn="l"/>
                <a:tab pos="2709545" algn="l"/>
                <a:tab pos="3852545" algn="l"/>
                <a:tab pos="5641340" algn="l"/>
                <a:tab pos="6546850" algn="l"/>
                <a:tab pos="7287259" algn="l"/>
              </a:tabLst>
            </a:pPr>
            <a:r>
              <a:rPr lang="en-US" sz="2000" dirty="0">
                <a:latin typeface="Verdana"/>
                <a:cs typeface="Verdana"/>
              </a:rPr>
              <a:t>Financial conversations are:</a:t>
            </a:r>
          </a:p>
          <a:p>
            <a:pPr>
              <a:lnSpc>
                <a:spcPct val="100000"/>
              </a:lnSpc>
              <a:spcBef>
                <a:spcPts val="100"/>
              </a:spcBef>
              <a:tabLst>
                <a:tab pos="1051560" algn="l"/>
                <a:tab pos="1791970" algn="l"/>
                <a:tab pos="2709545" algn="l"/>
                <a:tab pos="3852545" algn="l"/>
                <a:tab pos="5641340" algn="l"/>
                <a:tab pos="6546850" algn="l"/>
                <a:tab pos="7287259" algn="l"/>
              </a:tabLst>
            </a:pPr>
            <a:r>
              <a:rPr lang="en-US" sz="2000" dirty="0">
                <a:latin typeface="Verdana"/>
                <a:cs typeface="Verdana"/>
              </a:rPr>
              <a:t>• Informal and unorganized  </a:t>
            </a:r>
          </a:p>
          <a:p>
            <a:pPr>
              <a:lnSpc>
                <a:spcPct val="100000"/>
              </a:lnSpc>
              <a:spcBef>
                <a:spcPts val="100"/>
              </a:spcBef>
              <a:tabLst>
                <a:tab pos="1051560" algn="l"/>
                <a:tab pos="1791970" algn="l"/>
                <a:tab pos="2709545" algn="l"/>
                <a:tab pos="3852545" algn="l"/>
                <a:tab pos="5641340" algn="l"/>
                <a:tab pos="6546850" algn="l"/>
                <a:tab pos="7287259" algn="l"/>
              </a:tabLst>
            </a:pPr>
            <a:r>
              <a:rPr lang="en-US" sz="2000" dirty="0">
                <a:latin typeface="Verdana"/>
                <a:cs typeface="Verdana"/>
              </a:rPr>
              <a:t>• Easily forgotten  </a:t>
            </a:r>
          </a:p>
          <a:p>
            <a:pPr>
              <a:lnSpc>
                <a:spcPct val="100000"/>
              </a:lnSpc>
              <a:spcBef>
                <a:spcPts val="100"/>
              </a:spcBef>
              <a:tabLst>
                <a:tab pos="1051560" algn="l"/>
                <a:tab pos="1791970" algn="l"/>
                <a:tab pos="2709545" algn="l"/>
                <a:tab pos="3852545" algn="l"/>
                <a:tab pos="5641340" algn="l"/>
                <a:tab pos="6546850" algn="l"/>
                <a:tab pos="7287259" algn="l"/>
              </a:tabLst>
            </a:pPr>
            <a:r>
              <a:rPr lang="en-US" sz="2000" dirty="0">
                <a:latin typeface="Verdana"/>
                <a:cs typeface="Verdana"/>
              </a:rPr>
              <a:t>• Difficult to analyze later  </a:t>
            </a:r>
          </a:p>
          <a:p>
            <a:pPr>
              <a:lnSpc>
                <a:spcPct val="100000"/>
              </a:lnSpc>
              <a:spcBef>
                <a:spcPts val="100"/>
              </a:spcBef>
              <a:tabLst>
                <a:tab pos="1051560" algn="l"/>
                <a:tab pos="1791970" algn="l"/>
                <a:tab pos="2709545" algn="l"/>
                <a:tab pos="3852545" algn="l"/>
                <a:tab pos="5641340" algn="l"/>
                <a:tab pos="6546850" algn="l"/>
                <a:tab pos="7287259" algn="l"/>
              </a:tabLst>
            </a:pPr>
            <a:r>
              <a:rPr lang="en-US" sz="2000" b="1" dirty="0">
                <a:latin typeface="Verdana"/>
                <a:cs typeface="Verdana"/>
              </a:rPr>
              <a:t> </a:t>
            </a:r>
            <a:r>
              <a:rPr lang="en-US" sz="2000" b="1" i="1" dirty="0">
                <a:solidFill>
                  <a:srgbClr val="002060"/>
                </a:solidFill>
                <a:latin typeface="Verdana"/>
                <a:cs typeface="Verdana"/>
              </a:rPr>
              <a:t>No intelligent system converts them into actionable financial insights</a:t>
            </a:r>
          </a:p>
        </p:txBody>
      </p:sp>
      <p:sp>
        <p:nvSpPr>
          <p:cNvPr id="18" name="object 18"/>
          <p:cNvSpPr txBox="1"/>
          <p:nvPr/>
        </p:nvSpPr>
        <p:spPr>
          <a:xfrm>
            <a:off x="1551467" y="6991461"/>
            <a:ext cx="845185" cy="863600"/>
          </a:xfrm>
          <a:prstGeom prst="rect">
            <a:avLst/>
          </a:prstGeom>
        </p:spPr>
        <p:txBody>
          <a:bodyPr vert="horz" wrap="square" lIns="0" tIns="12700" rIns="0" bIns="0" rtlCol="0">
            <a:spAutoFit/>
          </a:bodyPr>
          <a:lstStyle/>
          <a:p>
            <a:pPr>
              <a:lnSpc>
                <a:spcPct val="100000"/>
              </a:lnSpc>
              <a:spcBef>
                <a:spcPts val="100"/>
              </a:spcBef>
            </a:pPr>
            <a:r>
              <a:rPr sz="5500" spc="-204" dirty="0">
                <a:latin typeface="Verdana"/>
                <a:cs typeface="Verdana"/>
              </a:rPr>
              <a:t>02</a:t>
            </a:r>
            <a:endParaRPr sz="5500">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194977" y="824627"/>
            <a:ext cx="7294880" cy="5347335"/>
            <a:chOff x="5194977" y="824627"/>
            <a:chExt cx="7294880" cy="5347335"/>
          </a:xfrm>
        </p:grpSpPr>
        <p:sp>
          <p:nvSpPr>
            <p:cNvPr id="3" name="object 3"/>
            <p:cNvSpPr/>
            <p:nvPr/>
          </p:nvSpPr>
          <p:spPr>
            <a:xfrm>
              <a:off x="5355529" y="3836096"/>
              <a:ext cx="6882765" cy="2291080"/>
            </a:xfrm>
            <a:custGeom>
              <a:avLst/>
              <a:gdLst/>
              <a:ahLst/>
              <a:cxnLst/>
              <a:rect l="l" t="t" r="r" b="b"/>
              <a:pathLst>
                <a:path w="6882765" h="2291079">
                  <a:moveTo>
                    <a:pt x="6755096" y="2040377"/>
                  </a:moveTo>
                  <a:lnTo>
                    <a:pt x="206136" y="2290656"/>
                  </a:lnTo>
                  <a:lnTo>
                    <a:pt x="163758" y="2285472"/>
                  </a:lnTo>
                  <a:lnTo>
                    <a:pt x="126456" y="2267954"/>
                  </a:lnTo>
                  <a:lnTo>
                    <a:pt x="96509" y="2240211"/>
                  </a:lnTo>
                  <a:lnTo>
                    <a:pt x="76194" y="2204354"/>
                  </a:lnTo>
                  <a:lnTo>
                    <a:pt x="67791" y="2162496"/>
                  </a:lnTo>
                  <a:lnTo>
                    <a:pt x="0" y="388624"/>
                  </a:lnTo>
                  <a:lnTo>
                    <a:pt x="5183" y="346246"/>
                  </a:lnTo>
                  <a:lnTo>
                    <a:pt x="22702" y="308944"/>
                  </a:lnTo>
                  <a:lnTo>
                    <a:pt x="50445" y="278996"/>
                  </a:lnTo>
                  <a:lnTo>
                    <a:pt x="86302" y="258682"/>
                  </a:lnTo>
                  <a:lnTo>
                    <a:pt x="128160" y="250279"/>
                  </a:lnTo>
                  <a:lnTo>
                    <a:pt x="6677120" y="0"/>
                  </a:lnTo>
                  <a:lnTo>
                    <a:pt x="6719497" y="5183"/>
                  </a:lnTo>
                  <a:lnTo>
                    <a:pt x="6756799" y="22702"/>
                  </a:lnTo>
                  <a:lnTo>
                    <a:pt x="6786747" y="50445"/>
                  </a:lnTo>
                  <a:lnTo>
                    <a:pt x="6807062" y="86301"/>
                  </a:lnTo>
                  <a:lnTo>
                    <a:pt x="6882551" y="1907797"/>
                  </a:lnTo>
                  <a:lnTo>
                    <a:pt x="6878073" y="1944409"/>
                  </a:lnTo>
                  <a:lnTo>
                    <a:pt x="6860554" y="1981711"/>
                  </a:lnTo>
                  <a:lnTo>
                    <a:pt x="6832811" y="2011659"/>
                  </a:lnTo>
                  <a:lnTo>
                    <a:pt x="6796955" y="2031974"/>
                  </a:lnTo>
                  <a:lnTo>
                    <a:pt x="6755096" y="2040377"/>
                  </a:lnTo>
                  <a:close/>
                </a:path>
              </a:pathLst>
            </a:custGeom>
            <a:solidFill>
              <a:srgbClr val="000000"/>
            </a:solidFill>
          </p:spPr>
          <p:txBody>
            <a:bodyPr wrap="square" lIns="0" tIns="0" rIns="0" bIns="0" rtlCol="0"/>
            <a:lstStyle/>
            <a:p>
              <a:endParaRPr/>
            </a:p>
          </p:txBody>
        </p:sp>
        <p:sp>
          <p:nvSpPr>
            <p:cNvPr id="4" name="object 4"/>
            <p:cNvSpPr/>
            <p:nvPr/>
          </p:nvSpPr>
          <p:spPr>
            <a:xfrm>
              <a:off x="5355538" y="3836105"/>
              <a:ext cx="6883400" cy="2288540"/>
            </a:xfrm>
            <a:custGeom>
              <a:avLst/>
              <a:gdLst/>
              <a:ahLst/>
              <a:cxnLst/>
              <a:rect l="l" t="t" r="r" b="b"/>
              <a:pathLst>
                <a:path w="6883400" h="2288540">
                  <a:moveTo>
                    <a:pt x="6882784" y="1904039"/>
                  </a:moveTo>
                  <a:lnTo>
                    <a:pt x="6877857" y="1944320"/>
                  </a:lnTo>
                  <a:lnTo>
                    <a:pt x="6860339" y="1981620"/>
                  </a:lnTo>
                  <a:lnTo>
                    <a:pt x="6832597" y="2011567"/>
                  </a:lnTo>
                  <a:lnTo>
                    <a:pt x="6796742" y="2031881"/>
                  </a:lnTo>
                  <a:lnTo>
                    <a:pt x="6775962" y="2036052"/>
                  </a:lnTo>
                </a:path>
                <a:path w="6883400" h="2288540">
                  <a:moveTo>
                    <a:pt x="184888" y="2287941"/>
                  </a:moveTo>
                  <a:lnTo>
                    <a:pt x="126550" y="2267849"/>
                  </a:lnTo>
                  <a:lnTo>
                    <a:pt x="96604" y="2240107"/>
                  </a:lnTo>
                  <a:lnTo>
                    <a:pt x="76291" y="2204253"/>
                  </a:lnTo>
                  <a:lnTo>
                    <a:pt x="67881" y="2162396"/>
                  </a:lnTo>
                  <a:lnTo>
                    <a:pt x="0" y="388594"/>
                  </a:lnTo>
                  <a:lnTo>
                    <a:pt x="5283" y="346230"/>
                  </a:lnTo>
                  <a:lnTo>
                    <a:pt x="22801" y="308930"/>
                  </a:lnTo>
                  <a:lnTo>
                    <a:pt x="50543" y="278984"/>
                  </a:lnTo>
                  <a:lnTo>
                    <a:pt x="86397" y="258670"/>
                  </a:lnTo>
                  <a:lnTo>
                    <a:pt x="128254" y="250267"/>
                  </a:lnTo>
                  <a:lnTo>
                    <a:pt x="6676913" y="0"/>
                  </a:lnTo>
                  <a:lnTo>
                    <a:pt x="6719289" y="5183"/>
                  </a:lnTo>
                  <a:lnTo>
                    <a:pt x="6756589" y="22701"/>
                  </a:lnTo>
                  <a:lnTo>
                    <a:pt x="6786536" y="50442"/>
                  </a:lnTo>
                  <a:lnTo>
                    <a:pt x="6806849" y="86297"/>
                  </a:lnTo>
                  <a:lnTo>
                    <a:pt x="6814837" y="126085"/>
                  </a:lnTo>
                </a:path>
              </a:pathLst>
            </a:custGeom>
            <a:ln w="95249">
              <a:solidFill>
                <a:srgbClr val="000000"/>
              </a:solidFill>
            </a:ln>
          </p:spPr>
          <p:txBody>
            <a:bodyPr wrap="square" lIns="0" tIns="0" rIns="0" bIns="0" rtlCol="0"/>
            <a:lstStyle/>
            <a:p>
              <a:endParaRPr/>
            </a:p>
          </p:txBody>
        </p:sp>
        <p:sp>
          <p:nvSpPr>
            <p:cNvPr id="5" name="object 5"/>
            <p:cNvSpPr/>
            <p:nvPr/>
          </p:nvSpPr>
          <p:spPr>
            <a:xfrm>
              <a:off x="5242593" y="3663772"/>
              <a:ext cx="6882765" cy="2291080"/>
            </a:xfrm>
            <a:custGeom>
              <a:avLst/>
              <a:gdLst/>
              <a:ahLst/>
              <a:cxnLst/>
              <a:rect l="l" t="t" r="r" b="b"/>
              <a:pathLst>
                <a:path w="6882765" h="2291079">
                  <a:moveTo>
                    <a:pt x="6755096" y="2040377"/>
                  </a:moveTo>
                  <a:lnTo>
                    <a:pt x="206136" y="2290656"/>
                  </a:lnTo>
                  <a:lnTo>
                    <a:pt x="163758" y="2285472"/>
                  </a:lnTo>
                  <a:lnTo>
                    <a:pt x="126456" y="2267953"/>
                  </a:lnTo>
                  <a:lnTo>
                    <a:pt x="96509" y="2240210"/>
                  </a:lnTo>
                  <a:lnTo>
                    <a:pt x="76194" y="2204354"/>
                  </a:lnTo>
                  <a:lnTo>
                    <a:pt x="67791" y="2162496"/>
                  </a:lnTo>
                  <a:lnTo>
                    <a:pt x="0" y="388624"/>
                  </a:lnTo>
                  <a:lnTo>
                    <a:pt x="5183" y="346246"/>
                  </a:lnTo>
                  <a:lnTo>
                    <a:pt x="22702" y="308944"/>
                  </a:lnTo>
                  <a:lnTo>
                    <a:pt x="50445" y="278996"/>
                  </a:lnTo>
                  <a:lnTo>
                    <a:pt x="86302" y="258682"/>
                  </a:lnTo>
                  <a:lnTo>
                    <a:pt x="128160" y="250279"/>
                  </a:lnTo>
                  <a:lnTo>
                    <a:pt x="6677120" y="0"/>
                  </a:lnTo>
                  <a:lnTo>
                    <a:pt x="6719497" y="5183"/>
                  </a:lnTo>
                  <a:lnTo>
                    <a:pt x="6756799" y="22702"/>
                  </a:lnTo>
                  <a:lnTo>
                    <a:pt x="6786747" y="50445"/>
                  </a:lnTo>
                  <a:lnTo>
                    <a:pt x="6807062" y="86301"/>
                  </a:lnTo>
                  <a:lnTo>
                    <a:pt x="6882551" y="1907800"/>
                  </a:lnTo>
                  <a:lnTo>
                    <a:pt x="6878073" y="1944409"/>
                  </a:lnTo>
                  <a:lnTo>
                    <a:pt x="6860554" y="1981711"/>
                  </a:lnTo>
                  <a:lnTo>
                    <a:pt x="6832811" y="2011659"/>
                  </a:lnTo>
                  <a:lnTo>
                    <a:pt x="6796955" y="2031974"/>
                  </a:lnTo>
                  <a:lnTo>
                    <a:pt x="6755096" y="2040377"/>
                  </a:lnTo>
                  <a:close/>
                </a:path>
              </a:pathLst>
            </a:custGeom>
            <a:solidFill>
              <a:srgbClr val="D4E74E"/>
            </a:solidFill>
          </p:spPr>
          <p:txBody>
            <a:bodyPr wrap="square" lIns="0" tIns="0" rIns="0" bIns="0" rtlCol="0"/>
            <a:lstStyle/>
            <a:p>
              <a:endParaRPr/>
            </a:p>
          </p:txBody>
        </p:sp>
        <p:sp>
          <p:nvSpPr>
            <p:cNvPr id="6" name="object 6"/>
            <p:cNvSpPr/>
            <p:nvPr/>
          </p:nvSpPr>
          <p:spPr>
            <a:xfrm>
              <a:off x="5242602" y="3663780"/>
              <a:ext cx="6883400" cy="2288540"/>
            </a:xfrm>
            <a:custGeom>
              <a:avLst/>
              <a:gdLst/>
              <a:ahLst/>
              <a:cxnLst/>
              <a:rect l="l" t="t" r="r" b="b"/>
              <a:pathLst>
                <a:path w="6883400" h="2288540">
                  <a:moveTo>
                    <a:pt x="6882784" y="1904039"/>
                  </a:moveTo>
                  <a:lnTo>
                    <a:pt x="6877857" y="1944320"/>
                  </a:lnTo>
                  <a:lnTo>
                    <a:pt x="6860339" y="1981620"/>
                  </a:lnTo>
                  <a:lnTo>
                    <a:pt x="6832597" y="2011567"/>
                  </a:lnTo>
                  <a:lnTo>
                    <a:pt x="6796742" y="2031881"/>
                  </a:lnTo>
                  <a:lnTo>
                    <a:pt x="6775962" y="2036052"/>
                  </a:lnTo>
                </a:path>
                <a:path w="6883400" h="2288540">
                  <a:moveTo>
                    <a:pt x="184889" y="2287941"/>
                  </a:moveTo>
                  <a:lnTo>
                    <a:pt x="126551" y="2267849"/>
                  </a:lnTo>
                  <a:lnTo>
                    <a:pt x="96604" y="2240107"/>
                  </a:lnTo>
                  <a:lnTo>
                    <a:pt x="76291" y="2204253"/>
                  </a:lnTo>
                  <a:lnTo>
                    <a:pt x="67881" y="2162396"/>
                  </a:lnTo>
                  <a:lnTo>
                    <a:pt x="0" y="388594"/>
                  </a:lnTo>
                  <a:lnTo>
                    <a:pt x="5283" y="346230"/>
                  </a:lnTo>
                  <a:lnTo>
                    <a:pt x="22801" y="308930"/>
                  </a:lnTo>
                  <a:lnTo>
                    <a:pt x="50543" y="278984"/>
                  </a:lnTo>
                  <a:lnTo>
                    <a:pt x="86397" y="258670"/>
                  </a:lnTo>
                  <a:lnTo>
                    <a:pt x="128254" y="250267"/>
                  </a:lnTo>
                  <a:lnTo>
                    <a:pt x="6676913" y="0"/>
                  </a:lnTo>
                  <a:lnTo>
                    <a:pt x="6719289" y="5183"/>
                  </a:lnTo>
                  <a:lnTo>
                    <a:pt x="6756589" y="22701"/>
                  </a:lnTo>
                  <a:lnTo>
                    <a:pt x="6786536" y="50442"/>
                  </a:lnTo>
                  <a:lnTo>
                    <a:pt x="6806850" y="86297"/>
                  </a:lnTo>
                  <a:lnTo>
                    <a:pt x="6814836" y="126082"/>
                  </a:lnTo>
                </a:path>
              </a:pathLst>
            </a:custGeom>
            <a:ln w="95249">
              <a:solidFill>
                <a:srgbClr val="000000"/>
              </a:solidFill>
            </a:ln>
          </p:spPr>
          <p:txBody>
            <a:bodyPr wrap="square" lIns="0" tIns="0" rIns="0" bIns="0" rtlCol="0"/>
            <a:lstStyle/>
            <a:p>
              <a:endParaRPr/>
            </a:p>
          </p:txBody>
        </p:sp>
        <p:pic>
          <p:nvPicPr>
            <p:cNvPr id="7" name="object 7"/>
            <p:cNvPicPr/>
            <p:nvPr/>
          </p:nvPicPr>
          <p:blipFill>
            <a:blip r:embed="rId2" cstate="print"/>
            <a:stretch>
              <a:fillRect/>
            </a:stretch>
          </p:blipFill>
          <p:spPr>
            <a:xfrm>
              <a:off x="7738044" y="824627"/>
              <a:ext cx="4751731" cy="3844325"/>
            </a:xfrm>
            <a:prstGeom prst="rect">
              <a:avLst/>
            </a:prstGeom>
          </p:spPr>
        </p:pic>
      </p:grpSp>
      <p:sp>
        <p:nvSpPr>
          <p:cNvPr id="8" name="object 8"/>
          <p:cNvSpPr/>
          <p:nvPr/>
        </p:nvSpPr>
        <p:spPr>
          <a:xfrm>
            <a:off x="14922487" y="7223722"/>
            <a:ext cx="3251835" cy="3063875"/>
          </a:xfrm>
          <a:custGeom>
            <a:avLst/>
            <a:gdLst/>
            <a:ahLst/>
            <a:cxnLst/>
            <a:rect l="l" t="t" r="r" b="b"/>
            <a:pathLst>
              <a:path w="3251834" h="3063875">
                <a:moveTo>
                  <a:pt x="1297126" y="1396352"/>
                </a:moveTo>
                <a:lnTo>
                  <a:pt x="979509" y="1503756"/>
                </a:lnTo>
                <a:lnTo>
                  <a:pt x="1090743" y="1279213"/>
                </a:lnTo>
                <a:lnTo>
                  <a:pt x="1089533" y="1276373"/>
                </a:lnTo>
                <a:lnTo>
                  <a:pt x="1087911" y="1273798"/>
                </a:lnTo>
                <a:lnTo>
                  <a:pt x="915273" y="763268"/>
                </a:lnTo>
                <a:lnTo>
                  <a:pt x="915073" y="760087"/>
                </a:lnTo>
                <a:lnTo>
                  <a:pt x="914199" y="757133"/>
                </a:lnTo>
                <a:lnTo>
                  <a:pt x="560203" y="582326"/>
                </a:lnTo>
                <a:lnTo>
                  <a:pt x="269868" y="680504"/>
                </a:lnTo>
                <a:lnTo>
                  <a:pt x="223199" y="686461"/>
                </a:lnTo>
                <a:lnTo>
                  <a:pt x="179382" y="674492"/>
                </a:lnTo>
                <a:lnTo>
                  <a:pt x="143261" y="646987"/>
                </a:lnTo>
                <a:lnTo>
                  <a:pt x="119679" y="606339"/>
                </a:lnTo>
                <a:lnTo>
                  <a:pt x="5927" y="269948"/>
                </a:lnTo>
                <a:lnTo>
                  <a:pt x="0" y="223330"/>
                </a:lnTo>
                <a:lnTo>
                  <a:pt x="12015" y="179548"/>
                </a:lnTo>
                <a:lnTo>
                  <a:pt x="39575" y="143442"/>
                </a:lnTo>
                <a:lnTo>
                  <a:pt x="80281" y="119852"/>
                </a:lnTo>
                <a:lnTo>
                  <a:pt x="417097" y="5956"/>
                </a:lnTo>
                <a:lnTo>
                  <a:pt x="463766" y="0"/>
                </a:lnTo>
                <a:lnTo>
                  <a:pt x="507583" y="11969"/>
                </a:lnTo>
                <a:lnTo>
                  <a:pt x="543704" y="39474"/>
                </a:lnTo>
                <a:lnTo>
                  <a:pt x="567286" y="80122"/>
                </a:lnTo>
                <a:lnTo>
                  <a:pt x="665378" y="370203"/>
                </a:lnTo>
                <a:lnTo>
                  <a:pt x="1019374" y="545010"/>
                </a:lnTo>
                <a:lnTo>
                  <a:pt x="1540033" y="368947"/>
                </a:lnTo>
                <a:lnTo>
                  <a:pt x="1579837" y="361186"/>
                </a:lnTo>
                <a:lnTo>
                  <a:pt x="1625798" y="364547"/>
                </a:lnTo>
                <a:lnTo>
                  <a:pt x="1668780" y="379327"/>
                </a:lnTo>
                <a:lnTo>
                  <a:pt x="1706633" y="404464"/>
                </a:lnTo>
                <a:lnTo>
                  <a:pt x="1737202" y="438895"/>
                </a:lnTo>
                <a:lnTo>
                  <a:pt x="1758335" y="481556"/>
                </a:lnTo>
                <a:lnTo>
                  <a:pt x="1928964" y="986143"/>
                </a:lnTo>
                <a:lnTo>
                  <a:pt x="1938059" y="1032874"/>
                </a:lnTo>
                <a:lnTo>
                  <a:pt x="1934660" y="1078792"/>
                </a:lnTo>
                <a:lnTo>
                  <a:pt x="1919832" y="1121743"/>
                </a:lnTo>
                <a:lnTo>
                  <a:pt x="1894641" y="1159576"/>
                </a:lnTo>
                <a:lnTo>
                  <a:pt x="1860152" y="1190141"/>
                </a:lnTo>
                <a:lnTo>
                  <a:pt x="1823807" y="1208131"/>
                </a:lnTo>
                <a:lnTo>
                  <a:pt x="1303149" y="1384194"/>
                </a:lnTo>
                <a:lnTo>
                  <a:pt x="1297126" y="1396352"/>
                </a:lnTo>
                <a:close/>
              </a:path>
              <a:path w="3251834" h="3063875">
                <a:moveTo>
                  <a:pt x="1540033" y="368947"/>
                </a:moveTo>
                <a:lnTo>
                  <a:pt x="1019374" y="545010"/>
                </a:lnTo>
                <a:lnTo>
                  <a:pt x="1022218" y="543799"/>
                </a:lnTo>
                <a:lnTo>
                  <a:pt x="1024797" y="542177"/>
                </a:lnTo>
                <a:lnTo>
                  <a:pt x="1533051" y="370308"/>
                </a:lnTo>
                <a:lnTo>
                  <a:pt x="1540033" y="368947"/>
                </a:lnTo>
                <a:close/>
              </a:path>
              <a:path w="3251834" h="3063875">
                <a:moveTo>
                  <a:pt x="1818229" y="1210892"/>
                </a:moveTo>
                <a:lnTo>
                  <a:pt x="1308739" y="1383178"/>
                </a:lnTo>
                <a:lnTo>
                  <a:pt x="1305666" y="1383343"/>
                </a:lnTo>
                <a:lnTo>
                  <a:pt x="1823807" y="1208131"/>
                </a:lnTo>
                <a:lnTo>
                  <a:pt x="1818229" y="1210892"/>
                </a:lnTo>
                <a:close/>
              </a:path>
              <a:path w="3251834" h="3063875">
                <a:moveTo>
                  <a:pt x="1298507" y="2636162"/>
                </a:moveTo>
                <a:lnTo>
                  <a:pt x="624876" y="2863954"/>
                </a:lnTo>
                <a:lnTo>
                  <a:pt x="578069" y="2874707"/>
                </a:lnTo>
                <a:lnTo>
                  <a:pt x="531496" y="2875900"/>
                </a:lnTo>
                <a:lnTo>
                  <a:pt x="486363" y="2868127"/>
                </a:lnTo>
                <a:lnTo>
                  <a:pt x="443876" y="2851985"/>
                </a:lnTo>
                <a:lnTo>
                  <a:pt x="405240" y="2828068"/>
                </a:lnTo>
                <a:lnTo>
                  <a:pt x="371662" y="2796972"/>
                </a:lnTo>
                <a:lnTo>
                  <a:pt x="344345" y="2759292"/>
                </a:lnTo>
                <a:lnTo>
                  <a:pt x="324498" y="2715623"/>
                </a:lnTo>
                <a:lnTo>
                  <a:pt x="96993" y="2042841"/>
                </a:lnTo>
                <a:lnTo>
                  <a:pt x="86265" y="1996089"/>
                </a:lnTo>
                <a:lnTo>
                  <a:pt x="85106" y="1949564"/>
                </a:lnTo>
                <a:lnTo>
                  <a:pt x="92921" y="1904470"/>
                </a:lnTo>
                <a:lnTo>
                  <a:pt x="109112" y="1862013"/>
                </a:lnTo>
                <a:lnTo>
                  <a:pt x="133083" y="1823398"/>
                </a:lnTo>
                <a:lnTo>
                  <a:pt x="164236" y="1789829"/>
                </a:lnTo>
                <a:lnTo>
                  <a:pt x="201974" y="1762511"/>
                </a:lnTo>
                <a:lnTo>
                  <a:pt x="245701" y="1742650"/>
                </a:lnTo>
                <a:lnTo>
                  <a:pt x="919220" y="1514896"/>
                </a:lnTo>
                <a:lnTo>
                  <a:pt x="964427" y="1505091"/>
                </a:lnTo>
                <a:lnTo>
                  <a:pt x="979509" y="1503756"/>
                </a:lnTo>
                <a:lnTo>
                  <a:pt x="1297126" y="1396352"/>
                </a:lnTo>
                <a:lnTo>
                  <a:pt x="1191914" y="1608737"/>
                </a:lnTo>
                <a:lnTo>
                  <a:pt x="1199951" y="1621514"/>
                </a:lnTo>
                <a:lnTo>
                  <a:pt x="1207368" y="1634781"/>
                </a:lnTo>
                <a:lnTo>
                  <a:pt x="1447600" y="2337702"/>
                </a:lnTo>
                <a:lnTo>
                  <a:pt x="1456851" y="2381069"/>
                </a:lnTo>
                <a:lnTo>
                  <a:pt x="1458171" y="2396117"/>
                </a:lnTo>
                <a:lnTo>
                  <a:pt x="1670689" y="2501061"/>
                </a:lnTo>
                <a:lnTo>
                  <a:pt x="1353184" y="2608427"/>
                </a:lnTo>
                <a:lnTo>
                  <a:pt x="1340324" y="2616487"/>
                </a:lnTo>
                <a:lnTo>
                  <a:pt x="1327004" y="2623917"/>
                </a:lnTo>
                <a:lnTo>
                  <a:pt x="1313105" y="2630537"/>
                </a:lnTo>
                <a:lnTo>
                  <a:pt x="1298507" y="2636162"/>
                </a:lnTo>
                <a:close/>
              </a:path>
              <a:path w="3251834" h="3063875">
                <a:moveTo>
                  <a:pt x="2430899" y="2409429"/>
                </a:moveTo>
                <a:lnTo>
                  <a:pt x="2113393" y="2516795"/>
                </a:lnTo>
                <a:lnTo>
                  <a:pt x="2404342" y="1929470"/>
                </a:lnTo>
                <a:lnTo>
                  <a:pt x="2403132" y="1926631"/>
                </a:lnTo>
                <a:lnTo>
                  <a:pt x="2401510" y="1924056"/>
                </a:lnTo>
                <a:lnTo>
                  <a:pt x="2229858" y="1416441"/>
                </a:lnTo>
                <a:lnTo>
                  <a:pt x="2222710" y="1379714"/>
                </a:lnTo>
                <a:lnTo>
                  <a:pt x="2220772" y="1369581"/>
                </a:lnTo>
                <a:lnTo>
                  <a:pt x="2224211" y="1323651"/>
                </a:lnTo>
                <a:lnTo>
                  <a:pt x="2237000" y="1286606"/>
                </a:lnTo>
                <a:lnTo>
                  <a:pt x="2261485" y="1247057"/>
                </a:lnTo>
                <a:lnTo>
                  <a:pt x="2298897" y="1212241"/>
                </a:lnTo>
                <a:lnTo>
                  <a:pt x="2299464" y="1212049"/>
                </a:lnTo>
                <a:lnTo>
                  <a:pt x="2342184" y="1190904"/>
                </a:lnTo>
                <a:lnTo>
                  <a:pt x="2846687" y="1020304"/>
                </a:lnTo>
                <a:lnTo>
                  <a:pt x="2893473" y="1011182"/>
                </a:lnTo>
                <a:lnTo>
                  <a:pt x="2939433" y="1014543"/>
                </a:lnTo>
                <a:lnTo>
                  <a:pt x="2982416" y="1029323"/>
                </a:lnTo>
                <a:lnTo>
                  <a:pt x="3020129" y="1054368"/>
                </a:lnTo>
                <a:lnTo>
                  <a:pt x="3050838" y="1088891"/>
                </a:lnTo>
                <a:lnTo>
                  <a:pt x="3249725" y="1672748"/>
                </a:lnTo>
                <a:lnTo>
                  <a:pt x="3251695" y="1682870"/>
                </a:lnTo>
                <a:lnTo>
                  <a:pt x="3248295" y="1728788"/>
                </a:lnTo>
                <a:lnTo>
                  <a:pt x="3233467" y="1771739"/>
                </a:lnTo>
                <a:lnTo>
                  <a:pt x="3208276" y="1809572"/>
                </a:lnTo>
                <a:lnTo>
                  <a:pt x="3173788" y="1840137"/>
                </a:lnTo>
                <a:lnTo>
                  <a:pt x="3137443" y="1858127"/>
                </a:lnTo>
                <a:lnTo>
                  <a:pt x="2616784" y="2034190"/>
                </a:lnTo>
                <a:lnTo>
                  <a:pt x="2430899" y="2409429"/>
                </a:lnTo>
                <a:close/>
              </a:path>
              <a:path w="3251834" h="3063875">
                <a:moveTo>
                  <a:pt x="3131068" y="1861282"/>
                </a:moveTo>
                <a:lnTo>
                  <a:pt x="2622814" y="2033151"/>
                </a:lnTo>
                <a:lnTo>
                  <a:pt x="2619302" y="2033339"/>
                </a:lnTo>
                <a:lnTo>
                  <a:pt x="3137443" y="1858127"/>
                </a:lnTo>
                <a:lnTo>
                  <a:pt x="3131068" y="1861282"/>
                </a:lnTo>
                <a:close/>
              </a:path>
              <a:path w="3251834" h="3063875">
                <a:moveTo>
                  <a:pt x="2349462" y="3061729"/>
                </a:moveTo>
                <a:lnTo>
                  <a:pt x="2344886" y="3063277"/>
                </a:lnTo>
                <a:lnTo>
                  <a:pt x="1849545" y="3063277"/>
                </a:lnTo>
                <a:lnTo>
                  <a:pt x="1764402" y="2811491"/>
                </a:lnTo>
                <a:lnTo>
                  <a:pt x="1353184" y="2608427"/>
                </a:lnTo>
                <a:lnTo>
                  <a:pt x="1670689" y="2501061"/>
                </a:lnTo>
                <a:lnTo>
                  <a:pt x="1869539" y="2599255"/>
                </a:lnTo>
                <a:lnTo>
                  <a:pt x="2430899" y="2409429"/>
                </a:lnTo>
                <a:lnTo>
                  <a:pt x="2325761" y="2621664"/>
                </a:lnTo>
                <a:lnTo>
                  <a:pt x="2423816" y="2911634"/>
                </a:lnTo>
                <a:lnTo>
                  <a:pt x="2429743" y="2958251"/>
                </a:lnTo>
                <a:lnTo>
                  <a:pt x="2417728" y="3002034"/>
                </a:lnTo>
                <a:lnTo>
                  <a:pt x="2390168" y="3038140"/>
                </a:lnTo>
                <a:lnTo>
                  <a:pt x="2349462" y="3061729"/>
                </a:lnTo>
                <a:close/>
              </a:path>
            </a:pathLst>
          </a:custGeom>
          <a:solidFill>
            <a:srgbClr val="000000"/>
          </a:solidFill>
        </p:spPr>
        <p:txBody>
          <a:bodyPr wrap="square" lIns="0" tIns="0" rIns="0" bIns="0" rtlCol="0"/>
          <a:lstStyle/>
          <a:p>
            <a:endParaRPr/>
          </a:p>
        </p:txBody>
      </p:sp>
      <p:sp>
        <p:nvSpPr>
          <p:cNvPr id="9" name="object 9"/>
          <p:cNvSpPr/>
          <p:nvPr/>
        </p:nvSpPr>
        <p:spPr>
          <a:xfrm>
            <a:off x="94839" y="0"/>
            <a:ext cx="3362325" cy="3111500"/>
          </a:xfrm>
          <a:custGeom>
            <a:avLst/>
            <a:gdLst/>
            <a:ahLst/>
            <a:cxnLst/>
            <a:rect l="l" t="t" r="r" b="b"/>
            <a:pathLst>
              <a:path w="3362325" h="3111500">
                <a:moveTo>
                  <a:pt x="2003971" y="1708514"/>
                </a:moveTo>
                <a:lnTo>
                  <a:pt x="2325227" y="1589813"/>
                </a:lnTo>
                <a:lnTo>
                  <a:pt x="2218047" y="1822283"/>
                </a:lnTo>
                <a:lnTo>
                  <a:pt x="2219364" y="1825149"/>
                </a:lnTo>
                <a:lnTo>
                  <a:pt x="2221093" y="1827733"/>
                </a:lnTo>
                <a:lnTo>
                  <a:pt x="2411925" y="2344207"/>
                </a:lnTo>
                <a:lnTo>
                  <a:pt x="2412220" y="2347450"/>
                </a:lnTo>
                <a:lnTo>
                  <a:pt x="2413196" y="2350441"/>
                </a:lnTo>
                <a:lnTo>
                  <a:pt x="2779643" y="2518913"/>
                </a:lnTo>
                <a:lnTo>
                  <a:pt x="3073305" y="2410407"/>
                </a:lnTo>
                <a:lnTo>
                  <a:pt x="3120789" y="2402999"/>
                </a:lnTo>
                <a:lnTo>
                  <a:pt x="3165871" y="2413979"/>
                </a:lnTo>
                <a:lnTo>
                  <a:pt x="3203538" y="2441043"/>
                </a:lnTo>
                <a:lnTo>
                  <a:pt x="3228777" y="2481884"/>
                </a:lnTo>
                <a:lnTo>
                  <a:pt x="3354517" y="2822192"/>
                </a:lnTo>
                <a:lnTo>
                  <a:pt x="3361898" y="2869632"/>
                </a:lnTo>
                <a:lnTo>
                  <a:pt x="3350878" y="2914685"/>
                </a:lnTo>
                <a:lnTo>
                  <a:pt x="3323766" y="2952341"/>
                </a:lnTo>
                <a:lnTo>
                  <a:pt x="3282873" y="2977587"/>
                </a:lnTo>
                <a:lnTo>
                  <a:pt x="2942198" y="3103463"/>
                </a:lnTo>
                <a:lnTo>
                  <a:pt x="2894714" y="3110871"/>
                </a:lnTo>
                <a:lnTo>
                  <a:pt x="2849632" y="3099891"/>
                </a:lnTo>
                <a:lnTo>
                  <a:pt x="2811964" y="3072828"/>
                </a:lnTo>
                <a:lnTo>
                  <a:pt x="2786726" y="3031986"/>
                </a:lnTo>
                <a:lnTo>
                  <a:pt x="2678296" y="2738527"/>
                </a:lnTo>
                <a:lnTo>
                  <a:pt x="2311849" y="2570056"/>
                </a:lnTo>
                <a:lnTo>
                  <a:pt x="1785225" y="2764639"/>
                </a:lnTo>
                <a:lnTo>
                  <a:pt x="1744802" y="2773694"/>
                </a:lnTo>
                <a:lnTo>
                  <a:pt x="1697776" y="2771567"/>
                </a:lnTo>
                <a:lnTo>
                  <a:pt x="1653465" y="2757693"/>
                </a:lnTo>
                <a:lnTo>
                  <a:pt x="1614097" y="2733096"/>
                </a:lnTo>
                <a:lnTo>
                  <a:pt x="1581902" y="2698802"/>
                </a:lnTo>
                <a:lnTo>
                  <a:pt x="1559107" y="2655835"/>
                </a:lnTo>
                <a:lnTo>
                  <a:pt x="1370496" y="2145373"/>
                </a:lnTo>
                <a:lnTo>
                  <a:pt x="1359876" y="2097907"/>
                </a:lnTo>
                <a:lnTo>
                  <a:pt x="1362039" y="2050918"/>
                </a:lnTo>
                <a:lnTo>
                  <a:pt x="1375955" y="2006634"/>
                </a:lnTo>
                <a:lnTo>
                  <a:pt x="1400599" y="1967281"/>
                </a:lnTo>
                <a:lnTo>
                  <a:pt x="1434944" y="1935088"/>
                </a:lnTo>
                <a:lnTo>
                  <a:pt x="1471543" y="1915685"/>
                </a:lnTo>
                <a:lnTo>
                  <a:pt x="1998168" y="1721101"/>
                </a:lnTo>
                <a:lnTo>
                  <a:pt x="2003971" y="1708514"/>
                </a:lnTo>
                <a:close/>
              </a:path>
              <a:path w="3362325" h="3111500">
                <a:moveTo>
                  <a:pt x="1785225" y="2764639"/>
                </a:moveTo>
                <a:lnTo>
                  <a:pt x="2311849" y="2570056"/>
                </a:lnTo>
                <a:lnTo>
                  <a:pt x="2308980" y="2571373"/>
                </a:lnTo>
                <a:lnTo>
                  <a:pt x="2306393" y="2573103"/>
                </a:lnTo>
                <a:lnTo>
                  <a:pt x="1792314" y="2763050"/>
                </a:lnTo>
                <a:lnTo>
                  <a:pt x="1785225" y="2764639"/>
                </a:lnTo>
                <a:close/>
              </a:path>
              <a:path w="3362325" h="3111500">
                <a:moveTo>
                  <a:pt x="1477160" y="1912706"/>
                </a:moveTo>
                <a:lnTo>
                  <a:pt x="1992488" y="1722297"/>
                </a:lnTo>
                <a:lnTo>
                  <a:pt x="1995621" y="1722042"/>
                </a:lnTo>
                <a:lnTo>
                  <a:pt x="1471543" y="1915685"/>
                </a:lnTo>
                <a:lnTo>
                  <a:pt x="1477160" y="1912706"/>
                </a:lnTo>
                <a:close/>
              </a:path>
              <a:path w="3362325" h="3111500">
                <a:moveTo>
                  <a:pt x="1967221" y="442408"/>
                </a:moveTo>
                <a:lnTo>
                  <a:pt x="2648570" y="190655"/>
                </a:lnTo>
                <a:lnTo>
                  <a:pt x="2696059" y="178344"/>
                </a:lnTo>
                <a:lnTo>
                  <a:pt x="2743580" y="175804"/>
                </a:lnTo>
                <a:lnTo>
                  <a:pt x="2789886" y="182461"/>
                </a:lnTo>
                <a:lnTo>
                  <a:pt x="2833730" y="197740"/>
                </a:lnTo>
                <a:lnTo>
                  <a:pt x="2873862" y="221068"/>
                </a:lnTo>
                <a:lnTo>
                  <a:pt x="2909036" y="251872"/>
                </a:lnTo>
                <a:lnTo>
                  <a:pt x="2938003" y="289577"/>
                </a:lnTo>
                <a:lnTo>
                  <a:pt x="2959514" y="333609"/>
                </a:lnTo>
                <a:lnTo>
                  <a:pt x="3210995" y="1014224"/>
                </a:lnTo>
                <a:lnTo>
                  <a:pt x="3223282" y="1061665"/>
                </a:lnTo>
                <a:lnTo>
                  <a:pt x="3225791" y="1109146"/>
                </a:lnTo>
                <a:lnTo>
                  <a:pt x="3219097" y="1155419"/>
                </a:lnTo>
                <a:lnTo>
                  <a:pt x="3203774" y="1199237"/>
                </a:lnTo>
                <a:lnTo>
                  <a:pt x="3180399" y="1239353"/>
                </a:lnTo>
                <a:lnTo>
                  <a:pt x="3149546" y="1274520"/>
                </a:lnTo>
                <a:lnTo>
                  <a:pt x="3111790" y="1303489"/>
                </a:lnTo>
                <a:lnTo>
                  <a:pt x="3067706" y="1325014"/>
                </a:lnTo>
                <a:lnTo>
                  <a:pt x="2386471" y="1576724"/>
                </a:lnTo>
                <a:lnTo>
                  <a:pt x="2340589" y="1588021"/>
                </a:lnTo>
                <a:lnTo>
                  <a:pt x="2325227" y="1589813"/>
                </a:lnTo>
                <a:lnTo>
                  <a:pt x="2003971" y="1708514"/>
                </a:lnTo>
                <a:lnTo>
                  <a:pt x="2105348" y="1488631"/>
                </a:lnTo>
                <a:lnTo>
                  <a:pt x="2096778" y="1475811"/>
                </a:lnTo>
                <a:lnTo>
                  <a:pt x="2088826" y="1462473"/>
                </a:lnTo>
                <a:lnTo>
                  <a:pt x="1823490" y="751440"/>
                </a:lnTo>
                <a:lnTo>
                  <a:pt x="1812807" y="707414"/>
                </a:lnTo>
                <a:lnTo>
                  <a:pt x="1811031" y="692084"/>
                </a:lnTo>
                <a:lnTo>
                  <a:pt x="1591038" y="590944"/>
                </a:lnTo>
                <a:lnTo>
                  <a:pt x="1912181" y="472284"/>
                </a:lnTo>
                <a:lnTo>
                  <a:pt x="1925083" y="463688"/>
                </a:lnTo>
                <a:lnTo>
                  <a:pt x="1938471" y="455721"/>
                </a:lnTo>
                <a:lnTo>
                  <a:pt x="1952475" y="448567"/>
                </a:lnTo>
                <a:lnTo>
                  <a:pt x="1967221" y="442408"/>
                </a:lnTo>
                <a:close/>
              </a:path>
              <a:path w="3362325" h="3111500">
                <a:moveTo>
                  <a:pt x="817402" y="706102"/>
                </a:moveTo>
                <a:lnTo>
                  <a:pt x="1138545" y="587443"/>
                </a:lnTo>
                <a:lnTo>
                  <a:pt x="858200" y="1195502"/>
                </a:lnTo>
                <a:lnTo>
                  <a:pt x="859516" y="1198368"/>
                </a:lnTo>
                <a:lnTo>
                  <a:pt x="861246" y="1200952"/>
                </a:lnTo>
                <a:lnTo>
                  <a:pt x="1050988" y="1714476"/>
                </a:lnTo>
                <a:lnTo>
                  <a:pt x="1059334" y="1751779"/>
                </a:lnTo>
                <a:lnTo>
                  <a:pt x="1061601" y="1762073"/>
                </a:lnTo>
                <a:lnTo>
                  <a:pt x="1059400" y="1809077"/>
                </a:lnTo>
                <a:lnTo>
                  <a:pt x="1047397" y="1847272"/>
                </a:lnTo>
                <a:lnTo>
                  <a:pt x="1045424" y="1853383"/>
                </a:lnTo>
                <a:lnTo>
                  <a:pt x="1020780" y="1892735"/>
                </a:lnTo>
                <a:lnTo>
                  <a:pt x="986313" y="1924974"/>
                </a:lnTo>
                <a:lnTo>
                  <a:pt x="985739" y="1925186"/>
                </a:lnTo>
                <a:lnTo>
                  <a:pt x="942721" y="1947992"/>
                </a:lnTo>
                <a:lnTo>
                  <a:pt x="432437" y="2136537"/>
                </a:lnTo>
                <a:lnTo>
                  <a:pt x="384925" y="2147181"/>
                </a:lnTo>
                <a:lnTo>
                  <a:pt x="337899" y="2145054"/>
                </a:lnTo>
                <a:lnTo>
                  <a:pt x="293588" y="2131180"/>
                </a:lnTo>
                <a:lnTo>
                  <a:pt x="254365" y="2106674"/>
                </a:lnTo>
                <a:lnTo>
                  <a:pt x="254221" y="2106583"/>
                </a:lnTo>
                <a:lnTo>
                  <a:pt x="222025" y="2072289"/>
                </a:lnTo>
                <a:lnTo>
                  <a:pt x="217087" y="2062981"/>
                </a:lnTo>
                <a:lnTo>
                  <a:pt x="2300" y="1481676"/>
                </a:lnTo>
                <a:lnTo>
                  <a:pt x="0" y="1471394"/>
                </a:lnTo>
                <a:lnTo>
                  <a:pt x="2162" y="1424405"/>
                </a:lnTo>
                <a:lnTo>
                  <a:pt x="16078" y="1380121"/>
                </a:lnTo>
                <a:lnTo>
                  <a:pt x="40722" y="1340768"/>
                </a:lnTo>
                <a:lnTo>
                  <a:pt x="75067" y="1308575"/>
                </a:lnTo>
                <a:lnTo>
                  <a:pt x="111666" y="1289172"/>
                </a:lnTo>
                <a:lnTo>
                  <a:pt x="638290" y="1094589"/>
                </a:lnTo>
                <a:lnTo>
                  <a:pt x="817402" y="706102"/>
                </a:lnTo>
                <a:close/>
              </a:path>
              <a:path w="3362325" h="3111500">
                <a:moveTo>
                  <a:pt x="118086" y="1285768"/>
                </a:moveTo>
                <a:lnTo>
                  <a:pt x="632164" y="1095821"/>
                </a:lnTo>
                <a:lnTo>
                  <a:pt x="635744" y="1095530"/>
                </a:lnTo>
                <a:lnTo>
                  <a:pt x="111666" y="1289172"/>
                </a:lnTo>
                <a:lnTo>
                  <a:pt x="118086" y="1285768"/>
                </a:lnTo>
                <a:close/>
              </a:path>
              <a:path w="3362325" h="3111500">
                <a:moveTo>
                  <a:pt x="881964" y="37634"/>
                </a:moveTo>
                <a:lnTo>
                  <a:pt x="983819" y="0"/>
                </a:lnTo>
                <a:lnTo>
                  <a:pt x="1384305" y="0"/>
                </a:lnTo>
                <a:lnTo>
                  <a:pt x="1486499" y="276580"/>
                </a:lnTo>
                <a:lnTo>
                  <a:pt x="1912181" y="472284"/>
                </a:lnTo>
                <a:lnTo>
                  <a:pt x="1591038" y="590944"/>
                </a:lnTo>
                <a:lnTo>
                  <a:pt x="1385194" y="496308"/>
                </a:lnTo>
                <a:lnTo>
                  <a:pt x="817402" y="706102"/>
                </a:lnTo>
                <a:lnTo>
                  <a:pt x="918708" y="486374"/>
                </a:lnTo>
                <a:lnTo>
                  <a:pt x="810319" y="193029"/>
                </a:lnTo>
                <a:lnTo>
                  <a:pt x="802938" y="145589"/>
                </a:lnTo>
                <a:lnTo>
                  <a:pt x="813959" y="100535"/>
                </a:lnTo>
                <a:lnTo>
                  <a:pt x="841071" y="62880"/>
                </a:lnTo>
                <a:lnTo>
                  <a:pt x="881964" y="37634"/>
                </a:lnTo>
                <a:close/>
              </a:path>
            </a:pathLst>
          </a:custGeom>
          <a:solidFill>
            <a:srgbClr val="000000"/>
          </a:solidFill>
        </p:spPr>
        <p:txBody>
          <a:bodyPr wrap="square" lIns="0" tIns="0" rIns="0" bIns="0" rtlCol="0"/>
          <a:lstStyle/>
          <a:p>
            <a:endParaRPr/>
          </a:p>
        </p:txBody>
      </p:sp>
      <p:sp>
        <p:nvSpPr>
          <p:cNvPr id="10" name="object 10"/>
          <p:cNvSpPr txBox="1"/>
          <p:nvPr/>
        </p:nvSpPr>
        <p:spPr>
          <a:xfrm rot="21480000">
            <a:off x="5750599" y="4169559"/>
            <a:ext cx="5745379" cy="1374775"/>
          </a:xfrm>
          <a:prstGeom prst="rect">
            <a:avLst/>
          </a:prstGeom>
        </p:spPr>
        <p:txBody>
          <a:bodyPr vert="horz" wrap="square" lIns="0" tIns="0" rIns="0" bIns="0" rtlCol="0">
            <a:spAutoFit/>
          </a:bodyPr>
          <a:lstStyle/>
          <a:p>
            <a:pPr>
              <a:lnSpc>
                <a:spcPts val="10825"/>
              </a:lnSpc>
            </a:pPr>
            <a:r>
              <a:rPr sz="10800" b="1" spc="-25" dirty="0">
                <a:latin typeface="Tahoma"/>
                <a:cs typeface="Tahoma"/>
              </a:rPr>
              <a:t>F</a:t>
            </a:r>
            <a:r>
              <a:rPr sz="10800" b="1" spc="-155" dirty="0">
                <a:latin typeface="Tahoma"/>
                <a:cs typeface="Tahoma"/>
              </a:rPr>
              <a:t>U</a:t>
            </a:r>
            <a:r>
              <a:rPr sz="10800" b="1" spc="-170" dirty="0">
                <a:latin typeface="Tahoma"/>
                <a:cs typeface="Tahoma"/>
              </a:rPr>
              <a:t>T</a:t>
            </a:r>
            <a:r>
              <a:rPr sz="10800" b="1" spc="-40" dirty="0">
                <a:latin typeface="Tahoma"/>
                <a:cs typeface="Tahoma"/>
              </a:rPr>
              <a:t>U</a:t>
            </a:r>
            <a:r>
              <a:rPr sz="10800" b="1" spc="-60" dirty="0">
                <a:latin typeface="Tahoma"/>
                <a:cs typeface="Tahoma"/>
              </a:rPr>
              <a:t>R</a:t>
            </a:r>
            <a:r>
              <a:rPr sz="10800" b="1" spc="380" dirty="0">
                <a:latin typeface="Tahoma"/>
                <a:cs typeface="Tahoma"/>
              </a:rPr>
              <a:t>E</a:t>
            </a:r>
            <a:endParaRPr sz="10800">
              <a:latin typeface="Tahoma"/>
              <a:cs typeface="Tahoma"/>
            </a:endParaRPr>
          </a:p>
        </p:txBody>
      </p:sp>
      <p:sp>
        <p:nvSpPr>
          <p:cNvPr id="11" name="object 11"/>
          <p:cNvSpPr txBox="1"/>
          <p:nvPr/>
        </p:nvSpPr>
        <p:spPr>
          <a:xfrm rot="21480000">
            <a:off x="2157875" y="6112605"/>
            <a:ext cx="13042819" cy="2120068"/>
          </a:xfrm>
          <a:prstGeom prst="rect">
            <a:avLst/>
          </a:prstGeom>
        </p:spPr>
        <p:txBody>
          <a:bodyPr vert="horz" wrap="square" lIns="0" tIns="0" rIns="0" bIns="0" rtlCol="0">
            <a:spAutoFit/>
          </a:bodyPr>
          <a:lstStyle/>
          <a:p>
            <a:r>
              <a:rPr lang="en-IN" sz="6000" b="1" dirty="0">
                <a:latin typeface="Tahoma"/>
                <a:cs typeface="Tahoma"/>
              </a:rPr>
              <a:t>                 OF FINANCIAL </a:t>
            </a:r>
          </a:p>
          <a:p>
            <a:pPr>
              <a:lnSpc>
                <a:spcPts val="10815"/>
              </a:lnSpc>
            </a:pPr>
            <a:r>
              <a:rPr lang="en-IN" sz="6000" b="1" dirty="0">
                <a:latin typeface="Tahoma"/>
                <a:cs typeface="Tahoma"/>
              </a:rPr>
              <a:t>CONVERSATION  INTELLIGENCE</a:t>
            </a:r>
            <a:endParaRPr sz="6000" b="1" dirty="0">
              <a:latin typeface="Tahoma"/>
              <a:cs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87041" y="1723039"/>
            <a:ext cx="8997315" cy="2417970"/>
          </a:xfrm>
          <a:prstGeom prst="rect">
            <a:avLst/>
          </a:prstGeom>
        </p:spPr>
        <p:txBody>
          <a:bodyPr vert="horz" wrap="square" lIns="0" tIns="133985" rIns="0" bIns="0" rtlCol="0">
            <a:spAutoFit/>
          </a:bodyPr>
          <a:lstStyle/>
          <a:p>
            <a:pPr marL="12700" marR="5080" indent="4806950">
              <a:lnSpc>
                <a:spcPts val="8850"/>
              </a:lnSpc>
              <a:spcBef>
                <a:spcPts val="1055"/>
              </a:spcBef>
            </a:pPr>
            <a:r>
              <a:rPr sz="8050" spc="40" dirty="0">
                <a:solidFill>
                  <a:srgbClr val="002060"/>
                </a:solidFill>
              </a:rPr>
              <a:t>FUTURE</a:t>
            </a:r>
            <a:r>
              <a:rPr lang="en-IN" sz="8050" spc="40" dirty="0">
                <a:solidFill>
                  <a:srgbClr val="002060"/>
                </a:solidFill>
              </a:rPr>
              <a:t> SCOPE &amp; IMPACT</a:t>
            </a:r>
            <a:endParaRPr sz="8050" dirty="0">
              <a:solidFill>
                <a:srgbClr val="002060"/>
              </a:solidFill>
            </a:endParaRPr>
          </a:p>
        </p:txBody>
      </p:sp>
      <p:pic>
        <p:nvPicPr>
          <p:cNvPr id="3" name="object 3"/>
          <p:cNvPicPr/>
          <p:nvPr/>
        </p:nvPicPr>
        <p:blipFill>
          <a:blip r:embed="rId2" cstate="print"/>
          <a:stretch>
            <a:fillRect/>
          </a:stretch>
        </p:blipFill>
        <p:spPr>
          <a:xfrm>
            <a:off x="0" y="437738"/>
            <a:ext cx="9889940" cy="9080629"/>
          </a:xfrm>
          <a:prstGeom prst="rect">
            <a:avLst/>
          </a:prstGeom>
        </p:spPr>
      </p:pic>
      <p:sp>
        <p:nvSpPr>
          <p:cNvPr id="4" name="object 4"/>
          <p:cNvSpPr txBox="1"/>
          <p:nvPr/>
        </p:nvSpPr>
        <p:spPr>
          <a:xfrm>
            <a:off x="3429000" y="5753100"/>
            <a:ext cx="6477400" cy="3413113"/>
          </a:xfrm>
          <a:prstGeom prst="rect">
            <a:avLst/>
          </a:prstGeom>
        </p:spPr>
        <p:txBody>
          <a:bodyPr vert="horz" wrap="square" lIns="0" tIns="14604" rIns="0" bIns="0" rtlCol="0">
            <a:spAutoFit/>
          </a:bodyPr>
          <a:lstStyle/>
          <a:p>
            <a:pPr marL="12700">
              <a:lnSpc>
                <a:spcPct val="100000"/>
              </a:lnSpc>
              <a:spcBef>
                <a:spcPts val="114"/>
              </a:spcBef>
              <a:tabLst>
                <a:tab pos="1765935" algn="l"/>
              </a:tabLst>
            </a:pPr>
            <a:r>
              <a:rPr lang="en-US" sz="2150" b="1" u="sng" dirty="0">
                <a:latin typeface="Verdana"/>
                <a:cs typeface="Verdana"/>
              </a:rPr>
              <a:t>AI-POWERED FINANCIAL ASSISTANT</a:t>
            </a:r>
          </a:p>
          <a:p>
            <a:pPr marL="12700">
              <a:lnSpc>
                <a:spcPct val="100000"/>
              </a:lnSpc>
              <a:spcBef>
                <a:spcPts val="114"/>
              </a:spcBef>
              <a:tabLst>
                <a:tab pos="1765935" algn="l"/>
              </a:tabLst>
            </a:pPr>
            <a:endParaRPr lang="en-US" sz="2150" dirty="0">
              <a:latin typeface="Verdana"/>
              <a:cs typeface="Verdana"/>
            </a:endParaRPr>
          </a:p>
          <a:p>
            <a:pPr marL="12700">
              <a:lnSpc>
                <a:spcPct val="100000"/>
              </a:lnSpc>
              <a:spcBef>
                <a:spcPts val="114"/>
              </a:spcBef>
              <a:tabLst>
                <a:tab pos="1765935" algn="l"/>
              </a:tabLst>
            </a:pPr>
            <a:r>
              <a:rPr lang="en-US" sz="2150" dirty="0">
                <a:latin typeface="Verdana"/>
                <a:cs typeface="Verdana"/>
              </a:rPr>
              <a:t>Our system can evolve into a smart personal assistant:</a:t>
            </a:r>
          </a:p>
          <a:p>
            <a:pPr marL="12700">
              <a:lnSpc>
                <a:spcPct val="100000"/>
              </a:lnSpc>
              <a:spcBef>
                <a:spcPts val="114"/>
              </a:spcBef>
              <a:tabLst>
                <a:tab pos="1765935" algn="l"/>
              </a:tabLst>
            </a:pPr>
            <a:r>
              <a:rPr lang="en-US" sz="2150" dirty="0">
                <a:latin typeface="Verdana"/>
                <a:cs typeface="Verdana"/>
              </a:rPr>
              <a:t>• Tracks financial conversations in real-time  </a:t>
            </a:r>
          </a:p>
          <a:p>
            <a:pPr marL="12700">
              <a:lnSpc>
                <a:spcPct val="100000"/>
              </a:lnSpc>
              <a:spcBef>
                <a:spcPts val="114"/>
              </a:spcBef>
              <a:tabLst>
                <a:tab pos="1765935" algn="l"/>
              </a:tabLst>
            </a:pPr>
            <a:r>
              <a:rPr lang="en-US" sz="2150" dirty="0">
                <a:latin typeface="Verdana"/>
                <a:cs typeface="Verdana"/>
              </a:rPr>
              <a:t>• Sends reminders for EMIs, loans, and payments  </a:t>
            </a:r>
          </a:p>
          <a:p>
            <a:pPr marL="12700">
              <a:lnSpc>
                <a:spcPct val="100000"/>
              </a:lnSpc>
              <a:spcBef>
                <a:spcPts val="114"/>
              </a:spcBef>
              <a:tabLst>
                <a:tab pos="1765935" algn="l"/>
              </a:tabLst>
            </a:pPr>
            <a:r>
              <a:rPr lang="en-US" sz="2150" dirty="0">
                <a:latin typeface="Verdana"/>
                <a:cs typeface="Verdana"/>
              </a:rPr>
              <a:t>• Suggests better financial decisions  </a:t>
            </a:r>
          </a:p>
          <a:p>
            <a:pPr marL="12700">
              <a:lnSpc>
                <a:spcPct val="100000"/>
              </a:lnSpc>
              <a:spcBef>
                <a:spcPts val="114"/>
              </a:spcBef>
              <a:tabLst>
                <a:tab pos="1765935" algn="l"/>
              </a:tabLst>
            </a:pPr>
            <a:endParaRPr lang="en-US" sz="2150" dirty="0">
              <a:latin typeface="Verdana"/>
              <a:cs typeface="Verdana"/>
            </a:endParaRPr>
          </a:p>
          <a:p>
            <a:pPr marL="12700">
              <a:lnSpc>
                <a:spcPct val="100000"/>
              </a:lnSpc>
              <a:spcBef>
                <a:spcPts val="114"/>
              </a:spcBef>
              <a:tabLst>
                <a:tab pos="1765935" algn="l"/>
              </a:tabLst>
            </a:pPr>
            <a:r>
              <a:rPr lang="en-US" sz="2150" u="sng" dirty="0">
                <a:latin typeface="Verdana"/>
                <a:cs typeface="Verdana"/>
              </a:rPr>
              <a:t>Making financial planning effortless</a:t>
            </a:r>
            <a:endParaRPr lang="en-IN" sz="2150" u="sng" dirty="0">
              <a:latin typeface="Verdana"/>
              <a:cs typeface="Verdana"/>
            </a:endParaRPr>
          </a:p>
        </p:txBody>
      </p:sp>
      <p:grpSp>
        <p:nvGrpSpPr>
          <p:cNvPr id="8" name="object 8"/>
          <p:cNvGrpSpPr/>
          <p:nvPr/>
        </p:nvGrpSpPr>
        <p:grpSpPr>
          <a:xfrm>
            <a:off x="10199473" y="5059639"/>
            <a:ext cx="6610350" cy="4458970"/>
            <a:chOff x="10199473" y="5059639"/>
            <a:chExt cx="6610350" cy="4458970"/>
          </a:xfrm>
        </p:grpSpPr>
        <p:sp>
          <p:nvSpPr>
            <p:cNvPr id="9" name="object 9"/>
            <p:cNvSpPr/>
            <p:nvPr/>
          </p:nvSpPr>
          <p:spPr>
            <a:xfrm>
              <a:off x="10215933" y="5076099"/>
              <a:ext cx="6577965" cy="4425950"/>
            </a:xfrm>
            <a:custGeom>
              <a:avLst/>
              <a:gdLst/>
              <a:ahLst/>
              <a:cxnLst/>
              <a:rect l="l" t="t" r="r" b="b"/>
              <a:pathLst>
                <a:path w="6577965" h="4425950">
                  <a:moveTo>
                    <a:pt x="6330553" y="4425822"/>
                  </a:moveTo>
                  <a:lnTo>
                    <a:pt x="246869" y="4425822"/>
                  </a:lnTo>
                  <a:lnTo>
                    <a:pt x="197116" y="4420807"/>
                  </a:lnTo>
                  <a:lnTo>
                    <a:pt x="150775" y="4406422"/>
                  </a:lnTo>
                  <a:lnTo>
                    <a:pt x="108841" y="4383661"/>
                  </a:lnTo>
                  <a:lnTo>
                    <a:pt x="72305" y="4353517"/>
                  </a:lnTo>
                  <a:lnTo>
                    <a:pt x="42160" y="4316981"/>
                  </a:lnTo>
                  <a:lnTo>
                    <a:pt x="19399" y="4275046"/>
                  </a:lnTo>
                  <a:lnTo>
                    <a:pt x="5015" y="4228706"/>
                  </a:lnTo>
                  <a:lnTo>
                    <a:pt x="0" y="4178952"/>
                  </a:lnTo>
                  <a:lnTo>
                    <a:pt x="0" y="246869"/>
                  </a:lnTo>
                  <a:lnTo>
                    <a:pt x="5015" y="197116"/>
                  </a:lnTo>
                  <a:lnTo>
                    <a:pt x="19399" y="150775"/>
                  </a:lnTo>
                  <a:lnTo>
                    <a:pt x="42160" y="108841"/>
                  </a:lnTo>
                  <a:lnTo>
                    <a:pt x="72305" y="72305"/>
                  </a:lnTo>
                  <a:lnTo>
                    <a:pt x="108841" y="42160"/>
                  </a:lnTo>
                  <a:lnTo>
                    <a:pt x="150775" y="19399"/>
                  </a:lnTo>
                  <a:lnTo>
                    <a:pt x="197116" y="5015"/>
                  </a:lnTo>
                  <a:lnTo>
                    <a:pt x="246869" y="0"/>
                  </a:lnTo>
                  <a:lnTo>
                    <a:pt x="6330553" y="0"/>
                  </a:lnTo>
                  <a:lnTo>
                    <a:pt x="6380306" y="5015"/>
                  </a:lnTo>
                  <a:lnTo>
                    <a:pt x="6426647" y="19399"/>
                  </a:lnTo>
                  <a:lnTo>
                    <a:pt x="6468581" y="42160"/>
                  </a:lnTo>
                  <a:lnTo>
                    <a:pt x="6505117" y="72305"/>
                  </a:lnTo>
                  <a:lnTo>
                    <a:pt x="6535262" y="108841"/>
                  </a:lnTo>
                  <a:lnTo>
                    <a:pt x="6558023" y="150775"/>
                  </a:lnTo>
                  <a:lnTo>
                    <a:pt x="6572407" y="197116"/>
                  </a:lnTo>
                  <a:lnTo>
                    <a:pt x="6577422" y="246869"/>
                  </a:lnTo>
                  <a:lnTo>
                    <a:pt x="6577422" y="4178952"/>
                  </a:lnTo>
                  <a:lnTo>
                    <a:pt x="6572407" y="4228706"/>
                  </a:lnTo>
                  <a:lnTo>
                    <a:pt x="6558023" y="4275046"/>
                  </a:lnTo>
                  <a:lnTo>
                    <a:pt x="6535262" y="4316981"/>
                  </a:lnTo>
                  <a:lnTo>
                    <a:pt x="6505117" y="4353517"/>
                  </a:lnTo>
                  <a:lnTo>
                    <a:pt x="6468581" y="4383661"/>
                  </a:lnTo>
                  <a:lnTo>
                    <a:pt x="6426647" y="4406422"/>
                  </a:lnTo>
                  <a:lnTo>
                    <a:pt x="6380306" y="4420807"/>
                  </a:lnTo>
                  <a:lnTo>
                    <a:pt x="6330553" y="4425822"/>
                  </a:lnTo>
                  <a:close/>
                </a:path>
              </a:pathLst>
            </a:custGeom>
            <a:solidFill>
              <a:srgbClr val="D4E74E"/>
            </a:solidFill>
          </p:spPr>
          <p:txBody>
            <a:bodyPr wrap="square" lIns="0" tIns="0" rIns="0" bIns="0" rtlCol="0"/>
            <a:lstStyle/>
            <a:p>
              <a:endParaRPr/>
            </a:p>
          </p:txBody>
        </p:sp>
        <p:pic>
          <p:nvPicPr>
            <p:cNvPr id="10" name="object 10"/>
            <p:cNvPicPr/>
            <p:nvPr/>
          </p:nvPicPr>
          <p:blipFill>
            <a:blip r:embed="rId3" cstate="print"/>
            <a:stretch>
              <a:fillRect/>
            </a:stretch>
          </p:blipFill>
          <p:spPr>
            <a:xfrm>
              <a:off x="10710135" y="5313450"/>
              <a:ext cx="163196" cy="163196"/>
            </a:xfrm>
            <a:prstGeom prst="rect">
              <a:avLst/>
            </a:prstGeom>
          </p:spPr>
        </p:pic>
        <p:pic>
          <p:nvPicPr>
            <p:cNvPr id="11" name="object 11"/>
            <p:cNvPicPr/>
            <p:nvPr/>
          </p:nvPicPr>
          <p:blipFill>
            <a:blip r:embed="rId4" cstate="print"/>
            <a:stretch>
              <a:fillRect/>
            </a:stretch>
          </p:blipFill>
          <p:spPr>
            <a:xfrm>
              <a:off x="10447863" y="5313450"/>
              <a:ext cx="163196" cy="163196"/>
            </a:xfrm>
            <a:prstGeom prst="rect">
              <a:avLst/>
            </a:prstGeom>
          </p:spPr>
        </p:pic>
        <p:pic>
          <p:nvPicPr>
            <p:cNvPr id="12" name="object 12"/>
            <p:cNvPicPr/>
            <p:nvPr/>
          </p:nvPicPr>
          <p:blipFill>
            <a:blip r:embed="rId5" cstate="print"/>
            <a:stretch>
              <a:fillRect/>
            </a:stretch>
          </p:blipFill>
          <p:spPr>
            <a:xfrm>
              <a:off x="10972420" y="5313450"/>
              <a:ext cx="163196" cy="163196"/>
            </a:xfrm>
            <a:prstGeom prst="rect">
              <a:avLst/>
            </a:prstGeom>
          </p:spPr>
        </p:pic>
        <p:sp>
          <p:nvSpPr>
            <p:cNvPr id="13" name="object 13"/>
            <p:cNvSpPr/>
            <p:nvPr/>
          </p:nvSpPr>
          <p:spPr>
            <a:xfrm>
              <a:off x="10199473" y="5059639"/>
              <a:ext cx="6610350" cy="4458970"/>
            </a:xfrm>
            <a:custGeom>
              <a:avLst/>
              <a:gdLst/>
              <a:ahLst/>
              <a:cxnLst/>
              <a:rect l="l" t="t" r="r" b="b"/>
              <a:pathLst>
                <a:path w="6610350" h="4458970">
                  <a:moveTo>
                    <a:pt x="6347012" y="4458728"/>
                  </a:moveTo>
                  <a:lnTo>
                    <a:pt x="263329" y="4458728"/>
                  </a:lnTo>
                  <a:lnTo>
                    <a:pt x="216056" y="4454478"/>
                  </a:lnTo>
                  <a:lnTo>
                    <a:pt x="171538" y="4442227"/>
                  </a:lnTo>
                  <a:lnTo>
                    <a:pt x="130524" y="4422725"/>
                  </a:lnTo>
                  <a:lnTo>
                    <a:pt x="93764" y="4396721"/>
                  </a:lnTo>
                  <a:lnTo>
                    <a:pt x="62007" y="4364964"/>
                  </a:lnTo>
                  <a:lnTo>
                    <a:pt x="36003" y="4328204"/>
                  </a:lnTo>
                  <a:lnTo>
                    <a:pt x="16501" y="4287190"/>
                  </a:lnTo>
                  <a:lnTo>
                    <a:pt x="4250" y="4242672"/>
                  </a:lnTo>
                  <a:lnTo>
                    <a:pt x="0" y="4195399"/>
                  </a:lnTo>
                  <a:lnTo>
                    <a:pt x="0" y="263329"/>
                  </a:lnTo>
                  <a:lnTo>
                    <a:pt x="4169" y="216951"/>
                  </a:lnTo>
                  <a:lnTo>
                    <a:pt x="16501" y="171538"/>
                  </a:lnTo>
                  <a:lnTo>
                    <a:pt x="36003" y="130524"/>
                  </a:lnTo>
                  <a:lnTo>
                    <a:pt x="62007" y="93764"/>
                  </a:lnTo>
                  <a:lnTo>
                    <a:pt x="93764" y="62007"/>
                  </a:lnTo>
                  <a:lnTo>
                    <a:pt x="130524" y="36003"/>
                  </a:lnTo>
                  <a:lnTo>
                    <a:pt x="171538" y="16501"/>
                  </a:lnTo>
                  <a:lnTo>
                    <a:pt x="216056" y="4250"/>
                  </a:lnTo>
                  <a:lnTo>
                    <a:pt x="263329" y="0"/>
                  </a:lnTo>
                  <a:lnTo>
                    <a:pt x="6347012" y="0"/>
                  </a:lnTo>
                  <a:lnTo>
                    <a:pt x="6394286" y="4250"/>
                  </a:lnTo>
                  <a:lnTo>
                    <a:pt x="6438804" y="16501"/>
                  </a:lnTo>
                  <a:lnTo>
                    <a:pt x="6473332" y="32919"/>
                  </a:lnTo>
                  <a:lnTo>
                    <a:pt x="263329" y="32919"/>
                  </a:lnTo>
                  <a:lnTo>
                    <a:pt x="216951" y="37608"/>
                  </a:lnTo>
                  <a:lnTo>
                    <a:pt x="173728" y="51054"/>
                  </a:lnTo>
                  <a:lnTo>
                    <a:pt x="134593" y="72322"/>
                  </a:lnTo>
                  <a:lnTo>
                    <a:pt x="100480" y="100480"/>
                  </a:lnTo>
                  <a:lnTo>
                    <a:pt x="72322" y="134593"/>
                  </a:lnTo>
                  <a:lnTo>
                    <a:pt x="51054" y="173728"/>
                  </a:lnTo>
                  <a:lnTo>
                    <a:pt x="37608" y="216951"/>
                  </a:lnTo>
                  <a:lnTo>
                    <a:pt x="32919" y="263329"/>
                  </a:lnTo>
                  <a:lnTo>
                    <a:pt x="32919" y="4195399"/>
                  </a:lnTo>
                  <a:lnTo>
                    <a:pt x="37608" y="4241777"/>
                  </a:lnTo>
                  <a:lnTo>
                    <a:pt x="51054" y="4285000"/>
                  </a:lnTo>
                  <a:lnTo>
                    <a:pt x="72322" y="4324135"/>
                  </a:lnTo>
                  <a:lnTo>
                    <a:pt x="100480" y="4358248"/>
                  </a:lnTo>
                  <a:lnTo>
                    <a:pt x="134593" y="4386405"/>
                  </a:lnTo>
                  <a:lnTo>
                    <a:pt x="173728" y="4407674"/>
                  </a:lnTo>
                  <a:lnTo>
                    <a:pt x="216951" y="4421120"/>
                  </a:lnTo>
                  <a:lnTo>
                    <a:pt x="263329" y="4425809"/>
                  </a:lnTo>
                  <a:lnTo>
                    <a:pt x="6473332" y="4425809"/>
                  </a:lnTo>
                  <a:lnTo>
                    <a:pt x="6438804" y="4442227"/>
                  </a:lnTo>
                  <a:lnTo>
                    <a:pt x="6394286" y="4454478"/>
                  </a:lnTo>
                  <a:lnTo>
                    <a:pt x="6347012" y="4458728"/>
                  </a:lnTo>
                  <a:close/>
                </a:path>
                <a:path w="6610350" h="4458970">
                  <a:moveTo>
                    <a:pt x="6473332" y="4425809"/>
                  </a:moveTo>
                  <a:lnTo>
                    <a:pt x="6347012" y="4425809"/>
                  </a:lnTo>
                  <a:lnTo>
                    <a:pt x="6393390" y="4421120"/>
                  </a:lnTo>
                  <a:lnTo>
                    <a:pt x="6436614" y="4407674"/>
                  </a:lnTo>
                  <a:lnTo>
                    <a:pt x="6475749" y="4386405"/>
                  </a:lnTo>
                  <a:lnTo>
                    <a:pt x="6509862" y="4358248"/>
                  </a:lnTo>
                  <a:lnTo>
                    <a:pt x="6538019" y="4324135"/>
                  </a:lnTo>
                  <a:lnTo>
                    <a:pt x="6559287" y="4285000"/>
                  </a:lnTo>
                  <a:lnTo>
                    <a:pt x="6572733" y="4241777"/>
                  </a:lnTo>
                  <a:lnTo>
                    <a:pt x="6577423" y="4195399"/>
                  </a:lnTo>
                  <a:lnTo>
                    <a:pt x="6577423" y="263329"/>
                  </a:lnTo>
                  <a:lnTo>
                    <a:pt x="6572733" y="216951"/>
                  </a:lnTo>
                  <a:lnTo>
                    <a:pt x="6559287" y="173728"/>
                  </a:lnTo>
                  <a:lnTo>
                    <a:pt x="6538019" y="134593"/>
                  </a:lnTo>
                  <a:lnTo>
                    <a:pt x="6509861" y="100480"/>
                  </a:lnTo>
                  <a:lnTo>
                    <a:pt x="6475748" y="72322"/>
                  </a:lnTo>
                  <a:lnTo>
                    <a:pt x="6436613" y="51054"/>
                  </a:lnTo>
                  <a:lnTo>
                    <a:pt x="6393390" y="37608"/>
                  </a:lnTo>
                  <a:lnTo>
                    <a:pt x="6347012" y="32919"/>
                  </a:lnTo>
                  <a:lnTo>
                    <a:pt x="6473332" y="32919"/>
                  </a:lnTo>
                  <a:lnTo>
                    <a:pt x="6516578" y="62007"/>
                  </a:lnTo>
                  <a:lnTo>
                    <a:pt x="6548334" y="93764"/>
                  </a:lnTo>
                  <a:lnTo>
                    <a:pt x="6574339" y="130524"/>
                  </a:lnTo>
                  <a:lnTo>
                    <a:pt x="6593841" y="171538"/>
                  </a:lnTo>
                  <a:lnTo>
                    <a:pt x="6606092" y="216056"/>
                  </a:lnTo>
                  <a:lnTo>
                    <a:pt x="6610342" y="263329"/>
                  </a:lnTo>
                  <a:lnTo>
                    <a:pt x="6610342" y="4195399"/>
                  </a:lnTo>
                  <a:lnTo>
                    <a:pt x="6606172" y="4241777"/>
                  </a:lnTo>
                  <a:lnTo>
                    <a:pt x="6593841" y="4287190"/>
                  </a:lnTo>
                  <a:lnTo>
                    <a:pt x="6574339" y="4328204"/>
                  </a:lnTo>
                  <a:lnTo>
                    <a:pt x="6548334" y="4364964"/>
                  </a:lnTo>
                  <a:lnTo>
                    <a:pt x="6516578" y="4396721"/>
                  </a:lnTo>
                  <a:lnTo>
                    <a:pt x="6479818" y="4422725"/>
                  </a:lnTo>
                  <a:lnTo>
                    <a:pt x="6473332" y="4425809"/>
                  </a:lnTo>
                  <a:close/>
                </a:path>
                <a:path w="6610350" h="4458970">
                  <a:moveTo>
                    <a:pt x="329975" y="433466"/>
                  </a:moveTo>
                  <a:lnTo>
                    <a:pt x="291849" y="425749"/>
                  </a:lnTo>
                  <a:lnTo>
                    <a:pt x="260680" y="404714"/>
                  </a:lnTo>
                  <a:lnTo>
                    <a:pt x="239647" y="373542"/>
                  </a:lnTo>
                  <a:lnTo>
                    <a:pt x="231930" y="335408"/>
                  </a:lnTo>
                  <a:lnTo>
                    <a:pt x="239645" y="297275"/>
                  </a:lnTo>
                  <a:lnTo>
                    <a:pt x="260675" y="266102"/>
                  </a:lnTo>
                  <a:lnTo>
                    <a:pt x="291843" y="245068"/>
                  </a:lnTo>
                  <a:lnTo>
                    <a:pt x="329975" y="237350"/>
                  </a:lnTo>
                  <a:lnTo>
                    <a:pt x="368108" y="245068"/>
                  </a:lnTo>
                  <a:lnTo>
                    <a:pt x="399281" y="266102"/>
                  </a:lnTo>
                  <a:lnTo>
                    <a:pt x="402102" y="270283"/>
                  </a:lnTo>
                  <a:lnTo>
                    <a:pt x="329975" y="270283"/>
                  </a:lnTo>
                  <a:lnTo>
                    <a:pt x="304643" y="275410"/>
                  </a:lnTo>
                  <a:lnTo>
                    <a:pt x="283935" y="289382"/>
                  </a:lnTo>
                  <a:lnTo>
                    <a:pt x="269963" y="310090"/>
                  </a:lnTo>
                  <a:lnTo>
                    <a:pt x="264839" y="335408"/>
                  </a:lnTo>
                  <a:lnTo>
                    <a:pt x="269965" y="360753"/>
                  </a:lnTo>
                  <a:lnTo>
                    <a:pt x="283940" y="381461"/>
                  </a:lnTo>
                  <a:lnTo>
                    <a:pt x="304648" y="395433"/>
                  </a:lnTo>
                  <a:lnTo>
                    <a:pt x="329975" y="400560"/>
                  </a:lnTo>
                  <a:lnTo>
                    <a:pt x="402080" y="400560"/>
                  </a:lnTo>
                  <a:lnTo>
                    <a:pt x="399276" y="404714"/>
                  </a:lnTo>
                  <a:lnTo>
                    <a:pt x="368102" y="425749"/>
                  </a:lnTo>
                  <a:lnTo>
                    <a:pt x="329975" y="433466"/>
                  </a:lnTo>
                  <a:close/>
                </a:path>
                <a:path w="6610350" h="4458970">
                  <a:moveTo>
                    <a:pt x="592260" y="433466"/>
                  </a:moveTo>
                  <a:lnTo>
                    <a:pt x="554126" y="425749"/>
                  </a:lnTo>
                  <a:lnTo>
                    <a:pt x="522954" y="404714"/>
                  </a:lnTo>
                  <a:lnTo>
                    <a:pt x="501920" y="373542"/>
                  </a:lnTo>
                  <a:lnTo>
                    <a:pt x="494202" y="335408"/>
                  </a:lnTo>
                  <a:lnTo>
                    <a:pt x="501920" y="297275"/>
                  </a:lnTo>
                  <a:lnTo>
                    <a:pt x="522954" y="266102"/>
                  </a:lnTo>
                  <a:lnTo>
                    <a:pt x="554126" y="245068"/>
                  </a:lnTo>
                  <a:lnTo>
                    <a:pt x="592260" y="237350"/>
                  </a:lnTo>
                  <a:lnTo>
                    <a:pt x="630391" y="245068"/>
                  </a:lnTo>
                  <a:lnTo>
                    <a:pt x="661559" y="266102"/>
                  </a:lnTo>
                  <a:lnTo>
                    <a:pt x="664380" y="270283"/>
                  </a:lnTo>
                  <a:lnTo>
                    <a:pt x="592260" y="270283"/>
                  </a:lnTo>
                  <a:lnTo>
                    <a:pt x="566928" y="275410"/>
                  </a:lnTo>
                  <a:lnTo>
                    <a:pt x="546220" y="289382"/>
                  </a:lnTo>
                  <a:lnTo>
                    <a:pt x="532248" y="310090"/>
                  </a:lnTo>
                  <a:lnTo>
                    <a:pt x="527124" y="335408"/>
                  </a:lnTo>
                  <a:lnTo>
                    <a:pt x="532248" y="360753"/>
                  </a:lnTo>
                  <a:lnTo>
                    <a:pt x="546220" y="381461"/>
                  </a:lnTo>
                  <a:lnTo>
                    <a:pt x="566928" y="395433"/>
                  </a:lnTo>
                  <a:lnTo>
                    <a:pt x="592260" y="400560"/>
                  </a:lnTo>
                  <a:lnTo>
                    <a:pt x="664362" y="400560"/>
                  </a:lnTo>
                  <a:lnTo>
                    <a:pt x="661559" y="404714"/>
                  </a:lnTo>
                  <a:lnTo>
                    <a:pt x="630391" y="425749"/>
                  </a:lnTo>
                  <a:lnTo>
                    <a:pt x="592260" y="433466"/>
                  </a:lnTo>
                  <a:close/>
                </a:path>
                <a:path w="6610350" h="4458970">
                  <a:moveTo>
                    <a:pt x="854545" y="433466"/>
                  </a:moveTo>
                  <a:lnTo>
                    <a:pt x="816412" y="425749"/>
                  </a:lnTo>
                  <a:lnTo>
                    <a:pt x="785239" y="404714"/>
                  </a:lnTo>
                  <a:lnTo>
                    <a:pt x="764205" y="373542"/>
                  </a:lnTo>
                  <a:lnTo>
                    <a:pt x="756487" y="335408"/>
                  </a:lnTo>
                  <a:lnTo>
                    <a:pt x="764205" y="297275"/>
                  </a:lnTo>
                  <a:lnTo>
                    <a:pt x="785239" y="266102"/>
                  </a:lnTo>
                  <a:lnTo>
                    <a:pt x="816412" y="245068"/>
                  </a:lnTo>
                  <a:lnTo>
                    <a:pt x="854545" y="237350"/>
                  </a:lnTo>
                  <a:lnTo>
                    <a:pt x="892673" y="245068"/>
                  </a:lnTo>
                  <a:lnTo>
                    <a:pt x="923846" y="266102"/>
                  </a:lnTo>
                  <a:lnTo>
                    <a:pt x="926668" y="270283"/>
                  </a:lnTo>
                  <a:lnTo>
                    <a:pt x="854545" y="270283"/>
                  </a:lnTo>
                  <a:lnTo>
                    <a:pt x="829213" y="275410"/>
                  </a:lnTo>
                  <a:lnTo>
                    <a:pt x="808506" y="289382"/>
                  </a:lnTo>
                  <a:lnTo>
                    <a:pt x="794533" y="310090"/>
                  </a:lnTo>
                  <a:lnTo>
                    <a:pt x="789409" y="335408"/>
                  </a:lnTo>
                  <a:lnTo>
                    <a:pt x="794533" y="360753"/>
                  </a:lnTo>
                  <a:lnTo>
                    <a:pt x="808506" y="381461"/>
                  </a:lnTo>
                  <a:lnTo>
                    <a:pt x="829213" y="395433"/>
                  </a:lnTo>
                  <a:lnTo>
                    <a:pt x="854545" y="400560"/>
                  </a:lnTo>
                  <a:lnTo>
                    <a:pt x="926654" y="400560"/>
                  </a:lnTo>
                  <a:lnTo>
                    <a:pt x="923851" y="404714"/>
                  </a:lnTo>
                  <a:lnTo>
                    <a:pt x="892678" y="425749"/>
                  </a:lnTo>
                  <a:lnTo>
                    <a:pt x="854545" y="433466"/>
                  </a:lnTo>
                  <a:close/>
                </a:path>
                <a:path w="6610350" h="4458970">
                  <a:moveTo>
                    <a:pt x="402080" y="400560"/>
                  </a:moveTo>
                  <a:lnTo>
                    <a:pt x="329975" y="400560"/>
                  </a:lnTo>
                  <a:lnTo>
                    <a:pt x="355312" y="395433"/>
                  </a:lnTo>
                  <a:lnTo>
                    <a:pt x="376019" y="381461"/>
                  </a:lnTo>
                  <a:lnTo>
                    <a:pt x="389988" y="360753"/>
                  </a:lnTo>
                  <a:lnTo>
                    <a:pt x="395110" y="335408"/>
                  </a:lnTo>
                  <a:lnTo>
                    <a:pt x="389986" y="310090"/>
                  </a:lnTo>
                  <a:lnTo>
                    <a:pt x="376014" y="289382"/>
                  </a:lnTo>
                  <a:lnTo>
                    <a:pt x="355306" y="275410"/>
                  </a:lnTo>
                  <a:lnTo>
                    <a:pt x="329975" y="270283"/>
                  </a:lnTo>
                  <a:lnTo>
                    <a:pt x="402102" y="270283"/>
                  </a:lnTo>
                  <a:lnTo>
                    <a:pt x="420315" y="297275"/>
                  </a:lnTo>
                  <a:lnTo>
                    <a:pt x="428032" y="335408"/>
                  </a:lnTo>
                  <a:lnTo>
                    <a:pt x="420313" y="373542"/>
                  </a:lnTo>
                  <a:lnTo>
                    <a:pt x="402080" y="400560"/>
                  </a:lnTo>
                  <a:close/>
                </a:path>
                <a:path w="6610350" h="4458970">
                  <a:moveTo>
                    <a:pt x="664362" y="400560"/>
                  </a:moveTo>
                  <a:lnTo>
                    <a:pt x="592260" y="400560"/>
                  </a:lnTo>
                  <a:lnTo>
                    <a:pt x="617592" y="395433"/>
                  </a:lnTo>
                  <a:lnTo>
                    <a:pt x="638299" y="381461"/>
                  </a:lnTo>
                  <a:lnTo>
                    <a:pt x="652272" y="360753"/>
                  </a:lnTo>
                  <a:lnTo>
                    <a:pt x="657395" y="335408"/>
                  </a:lnTo>
                  <a:lnTo>
                    <a:pt x="652270" y="310090"/>
                  </a:lnTo>
                  <a:lnTo>
                    <a:pt x="638294" y="289382"/>
                  </a:lnTo>
                  <a:lnTo>
                    <a:pt x="617586" y="275410"/>
                  </a:lnTo>
                  <a:lnTo>
                    <a:pt x="592260" y="270283"/>
                  </a:lnTo>
                  <a:lnTo>
                    <a:pt x="664380" y="270283"/>
                  </a:lnTo>
                  <a:lnTo>
                    <a:pt x="682589" y="297275"/>
                  </a:lnTo>
                  <a:lnTo>
                    <a:pt x="690304" y="335408"/>
                  </a:lnTo>
                  <a:lnTo>
                    <a:pt x="682589" y="373542"/>
                  </a:lnTo>
                  <a:lnTo>
                    <a:pt x="664362" y="400560"/>
                  </a:lnTo>
                  <a:close/>
                </a:path>
                <a:path w="6610350" h="4458970">
                  <a:moveTo>
                    <a:pt x="926654" y="400560"/>
                  </a:moveTo>
                  <a:lnTo>
                    <a:pt x="854545" y="400560"/>
                  </a:lnTo>
                  <a:lnTo>
                    <a:pt x="879877" y="395433"/>
                  </a:lnTo>
                  <a:lnTo>
                    <a:pt x="900584" y="381461"/>
                  </a:lnTo>
                  <a:lnTo>
                    <a:pt x="914557" y="360753"/>
                  </a:lnTo>
                  <a:lnTo>
                    <a:pt x="919681" y="335408"/>
                  </a:lnTo>
                  <a:lnTo>
                    <a:pt x="914557" y="310090"/>
                  </a:lnTo>
                  <a:lnTo>
                    <a:pt x="900584" y="289382"/>
                  </a:lnTo>
                  <a:lnTo>
                    <a:pt x="879877" y="275410"/>
                  </a:lnTo>
                  <a:lnTo>
                    <a:pt x="854545" y="270283"/>
                  </a:lnTo>
                  <a:lnTo>
                    <a:pt x="926668" y="270283"/>
                  </a:lnTo>
                  <a:lnTo>
                    <a:pt x="944883" y="297275"/>
                  </a:lnTo>
                  <a:lnTo>
                    <a:pt x="952603" y="335408"/>
                  </a:lnTo>
                  <a:lnTo>
                    <a:pt x="944885" y="373542"/>
                  </a:lnTo>
                  <a:lnTo>
                    <a:pt x="926654" y="400560"/>
                  </a:lnTo>
                  <a:close/>
                </a:path>
              </a:pathLst>
            </a:custGeom>
            <a:solidFill>
              <a:srgbClr val="000000"/>
            </a:solidFill>
          </p:spPr>
          <p:txBody>
            <a:bodyPr wrap="square" lIns="0" tIns="0" rIns="0" bIns="0" rtlCol="0"/>
            <a:lstStyle/>
            <a:p>
              <a:endParaRPr/>
            </a:p>
          </p:txBody>
        </p:sp>
      </p:grpSp>
      <p:sp>
        <p:nvSpPr>
          <p:cNvPr id="14" name="object 14"/>
          <p:cNvSpPr txBox="1"/>
          <p:nvPr/>
        </p:nvSpPr>
        <p:spPr>
          <a:xfrm>
            <a:off x="10379128" y="5493106"/>
            <a:ext cx="6994471" cy="3902094"/>
          </a:xfrm>
          <a:prstGeom prst="rect">
            <a:avLst/>
          </a:prstGeom>
        </p:spPr>
        <p:txBody>
          <a:bodyPr vert="horz" wrap="square" lIns="0" tIns="12700" rIns="0" bIns="0" rtlCol="0">
            <a:spAutoFit/>
          </a:bodyPr>
          <a:lstStyle/>
          <a:p>
            <a:pPr marL="12700" marR="1104900">
              <a:lnSpc>
                <a:spcPct val="115700"/>
              </a:lnSpc>
              <a:spcBef>
                <a:spcPts val="100"/>
              </a:spcBef>
            </a:pPr>
            <a:r>
              <a:rPr lang="en-US" sz="2150" b="1" u="sng" dirty="0">
                <a:latin typeface="Verdana"/>
                <a:cs typeface="Verdana"/>
              </a:rPr>
              <a:t>ENTERPRISE &amp; INDUSTRY APPLICATIONS</a:t>
            </a:r>
          </a:p>
          <a:p>
            <a:pPr marL="12700" marR="1104900">
              <a:lnSpc>
                <a:spcPct val="115700"/>
              </a:lnSpc>
              <a:spcBef>
                <a:spcPts val="100"/>
              </a:spcBef>
            </a:pPr>
            <a:endParaRPr lang="en-US" sz="2150" b="1" dirty="0">
              <a:latin typeface="Verdana"/>
              <a:cs typeface="Verdana"/>
            </a:endParaRPr>
          </a:p>
          <a:p>
            <a:pPr marL="12700" marR="1104900">
              <a:lnSpc>
                <a:spcPct val="115700"/>
              </a:lnSpc>
              <a:spcBef>
                <a:spcPts val="100"/>
              </a:spcBef>
            </a:pPr>
            <a:r>
              <a:rPr lang="en-US" sz="2150" dirty="0">
                <a:latin typeface="Verdana"/>
                <a:cs typeface="Verdana"/>
              </a:rPr>
              <a:t>The system can be used by:</a:t>
            </a:r>
          </a:p>
          <a:p>
            <a:pPr marL="12700" marR="1104900">
              <a:lnSpc>
                <a:spcPct val="115700"/>
              </a:lnSpc>
              <a:spcBef>
                <a:spcPts val="100"/>
              </a:spcBef>
            </a:pPr>
            <a:r>
              <a:rPr lang="en-US" sz="2150" dirty="0">
                <a:latin typeface="Verdana"/>
                <a:cs typeface="Verdana"/>
              </a:rPr>
              <a:t>• Banks for customer interaction tracking  </a:t>
            </a:r>
          </a:p>
          <a:p>
            <a:pPr marL="12700" marR="1104900">
              <a:lnSpc>
                <a:spcPct val="115700"/>
              </a:lnSpc>
              <a:spcBef>
                <a:spcPts val="100"/>
              </a:spcBef>
            </a:pPr>
            <a:r>
              <a:rPr lang="en-US" sz="2150" dirty="0">
                <a:latin typeface="Verdana"/>
                <a:cs typeface="Verdana"/>
              </a:rPr>
              <a:t>• Finance companies for loan discussions  </a:t>
            </a:r>
          </a:p>
          <a:p>
            <a:pPr marL="12700" marR="1104900">
              <a:lnSpc>
                <a:spcPct val="115700"/>
              </a:lnSpc>
              <a:spcBef>
                <a:spcPts val="100"/>
              </a:spcBef>
            </a:pPr>
            <a:r>
              <a:rPr lang="en-US" sz="2150" dirty="0">
                <a:latin typeface="Verdana"/>
                <a:cs typeface="Verdana"/>
              </a:rPr>
              <a:t>• Businesses for financial decision analysis </a:t>
            </a:r>
          </a:p>
          <a:p>
            <a:pPr marL="12700" marR="1104900">
              <a:lnSpc>
                <a:spcPct val="115700"/>
              </a:lnSpc>
              <a:spcBef>
                <a:spcPts val="100"/>
              </a:spcBef>
            </a:pPr>
            <a:r>
              <a:rPr lang="en-US" sz="2150" dirty="0">
                <a:latin typeface="Verdana"/>
                <a:cs typeface="Verdana"/>
              </a:rPr>
              <a:t> </a:t>
            </a:r>
          </a:p>
          <a:p>
            <a:pPr marL="12700" marR="1104900">
              <a:lnSpc>
                <a:spcPct val="115700"/>
              </a:lnSpc>
              <a:spcBef>
                <a:spcPts val="100"/>
              </a:spcBef>
            </a:pPr>
            <a:r>
              <a:rPr lang="en-US" sz="2150" u="sng" dirty="0">
                <a:latin typeface="Verdana"/>
                <a:cs typeface="Verdana"/>
              </a:rPr>
              <a:t>Transforming conversations into valuable insights</a:t>
            </a:r>
            <a:endParaRPr sz="2150" u="sng" dirty="0">
              <a:latin typeface="Verdana"/>
              <a:cs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98316" y="1530463"/>
            <a:ext cx="8997315" cy="2417970"/>
          </a:xfrm>
          <a:prstGeom prst="rect">
            <a:avLst/>
          </a:prstGeom>
        </p:spPr>
        <p:txBody>
          <a:bodyPr vert="horz" wrap="square" lIns="0" tIns="133985" rIns="0" bIns="0" rtlCol="0">
            <a:spAutoFit/>
          </a:bodyPr>
          <a:lstStyle/>
          <a:p>
            <a:pPr marL="12700" marR="5080">
              <a:lnSpc>
                <a:spcPts val="8850"/>
              </a:lnSpc>
              <a:spcBef>
                <a:spcPts val="1055"/>
              </a:spcBef>
            </a:pPr>
            <a:r>
              <a:rPr lang="en-IN" sz="8050" dirty="0">
                <a:solidFill>
                  <a:srgbClr val="002060"/>
                </a:solidFill>
              </a:rPr>
              <a:t>REAL-WORLD APPLICATIONS</a:t>
            </a:r>
            <a:endParaRPr sz="8050" dirty="0">
              <a:solidFill>
                <a:srgbClr val="002060"/>
              </a:solidFill>
            </a:endParaRPr>
          </a:p>
        </p:txBody>
      </p:sp>
      <p:grpSp>
        <p:nvGrpSpPr>
          <p:cNvPr id="3" name="object 3"/>
          <p:cNvGrpSpPr/>
          <p:nvPr/>
        </p:nvGrpSpPr>
        <p:grpSpPr>
          <a:xfrm>
            <a:off x="1028926" y="4798920"/>
            <a:ext cx="6610350" cy="4458970"/>
            <a:chOff x="1028926" y="4798920"/>
            <a:chExt cx="6610350" cy="4458970"/>
          </a:xfrm>
        </p:grpSpPr>
        <p:sp>
          <p:nvSpPr>
            <p:cNvPr id="4" name="object 4"/>
            <p:cNvSpPr/>
            <p:nvPr/>
          </p:nvSpPr>
          <p:spPr>
            <a:xfrm>
              <a:off x="1045386" y="4815379"/>
              <a:ext cx="6577965" cy="4425950"/>
            </a:xfrm>
            <a:custGeom>
              <a:avLst/>
              <a:gdLst/>
              <a:ahLst/>
              <a:cxnLst/>
              <a:rect l="l" t="t" r="r" b="b"/>
              <a:pathLst>
                <a:path w="6577965" h="4425950">
                  <a:moveTo>
                    <a:pt x="6330553" y="4425822"/>
                  </a:moveTo>
                  <a:lnTo>
                    <a:pt x="246869" y="4425822"/>
                  </a:lnTo>
                  <a:lnTo>
                    <a:pt x="197116" y="4420807"/>
                  </a:lnTo>
                  <a:lnTo>
                    <a:pt x="150775" y="4406422"/>
                  </a:lnTo>
                  <a:lnTo>
                    <a:pt x="108841" y="4383661"/>
                  </a:lnTo>
                  <a:lnTo>
                    <a:pt x="72305" y="4353517"/>
                  </a:lnTo>
                  <a:lnTo>
                    <a:pt x="42160" y="4316981"/>
                  </a:lnTo>
                  <a:lnTo>
                    <a:pt x="19399" y="4275046"/>
                  </a:lnTo>
                  <a:lnTo>
                    <a:pt x="5015" y="4228706"/>
                  </a:lnTo>
                  <a:lnTo>
                    <a:pt x="0" y="4178952"/>
                  </a:lnTo>
                  <a:lnTo>
                    <a:pt x="0" y="246869"/>
                  </a:lnTo>
                  <a:lnTo>
                    <a:pt x="5015" y="197116"/>
                  </a:lnTo>
                  <a:lnTo>
                    <a:pt x="19399" y="150775"/>
                  </a:lnTo>
                  <a:lnTo>
                    <a:pt x="42160" y="108841"/>
                  </a:lnTo>
                  <a:lnTo>
                    <a:pt x="72305" y="72305"/>
                  </a:lnTo>
                  <a:lnTo>
                    <a:pt x="108841" y="42160"/>
                  </a:lnTo>
                  <a:lnTo>
                    <a:pt x="150775" y="19399"/>
                  </a:lnTo>
                  <a:lnTo>
                    <a:pt x="197116" y="5015"/>
                  </a:lnTo>
                  <a:lnTo>
                    <a:pt x="246869" y="0"/>
                  </a:lnTo>
                  <a:lnTo>
                    <a:pt x="6330553" y="0"/>
                  </a:lnTo>
                  <a:lnTo>
                    <a:pt x="6380306" y="5015"/>
                  </a:lnTo>
                  <a:lnTo>
                    <a:pt x="6426647" y="19399"/>
                  </a:lnTo>
                  <a:lnTo>
                    <a:pt x="6468581" y="42160"/>
                  </a:lnTo>
                  <a:lnTo>
                    <a:pt x="6505117" y="72305"/>
                  </a:lnTo>
                  <a:lnTo>
                    <a:pt x="6535262" y="108841"/>
                  </a:lnTo>
                  <a:lnTo>
                    <a:pt x="6558023" y="150775"/>
                  </a:lnTo>
                  <a:lnTo>
                    <a:pt x="6572407" y="197116"/>
                  </a:lnTo>
                  <a:lnTo>
                    <a:pt x="6577422" y="246869"/>
                  </a:lnTo>
                  <a:lnTo>
                    <a:pt x="6577422" y="4178952"/>
                  </a:lnTo>
                  <a:lnTo>
                    <a:pt x="6572407" y="4228706"/>
                  </a:lnTo>
                  <a:lnTo>
                    <a:pt x="6558023" y="4275046"/>
                  </a:lnTo>
                  <a:lnTo>
                    <a:pt x="6535262" y="4316981"/>
                  </a:lnTo>
                  <a:lnTo>
                    <a:pt x="6505117" y="4353517"/>
                  </a:lnTo>
                  <a:lnTo>
                    <a:pt x="6468581" y="4383661"/>
                  </a:lnTo>
                  <a:lnTo>
                    <a:pt x="6426647" y="4406422"/>
                  </a:lnTo>
                  <a:lnTo>
                    <a:pt x="6380306" y="4420807"/>
                  </a:lnTo>
                  <a:lnTo>
                    <a:pt x="6330553" y="4425822"/>
                  </a:lnTo>
                  <a:close/>
                </a:path>
              </a:pathLst>
            </a:custGeom>
            <a:solidFill>
              <a:srgbClr val="D4E74E"/>
            </a:solidFill>
          </p:spPr>
          <p:txBody>
            <a:bodyPr wrap="square" lIns="0" tIns="0" rIns="0" bIns="0" rtlCol="0"/>
            <a:lstStyle/>
            <a:p>
              <a:endParaRPr/>
            </a:p>
          </p:txBody>
        </p:sp>
        <p:pic>
          <p:nvPicPr>
            <p:cNvPr id="5" name="object 5"/>
            <p:cNvPicPr/>
            <p:nvPr/>
          </p:nvPicPr>
          <p:blipFill>
            <a:blip r:embed="rId2" cstate="print"/>
            <a:stretch>
              <a:fillRect/>
            </a:stretch>
          </p:blipFill>
          <p:spPr>
            <a:xfrm>
              <a:off x="1277317" y="5052730"/>
              <a:ext cx="163196" cy="163196"/>
            </a:xfrm>
            <a:prstGeom prst="rect">
              <a:avLst/>
            </a:prstGeom>
          </p:spPr>
        </p:pic>
        <p:pic>
          <p:nvPicPr>
            <p:cNvPr id="6" name="object 6"/>
            <p:cNvPicPr/>
            <p:nvPr/>
          </p:nvPicPr>
          <p:blipFill>
            <a:blip r:embed="rId3" cstate="print"/>
            <a:stretch>
              <a:fillRect/>
            </a:stretch>
          </p:blipFill>
          <p:spPr>
            <a:xfrm>
              <a:off x="1539588" y="5052730"/>
              <a:ext cx="163196" cy="163196"/>
            </a:xfrm>
            <a:prstGeom prst="rect">
              <a:avLst/>
            </a:prstGeom>
          </p:spPr>
        </p:pic>
        <p:pic>
          <p:nvPicPr>
            <p:cNvPr id="7" name="object 7"/>
            <p:cNvPicPr/>
            <p:nvPr/>
          </p:nvPicPr>
          <p:blipFill>
            <a:blip r:embed="rId4" cstate="print"/>
            <a:stretch>
              <a:fillRect/>
            </a:stretch>
          </p:blipFill>
          <p:spPr>
            <a:xfrm>
              <a:off x="1801874" y="5052730"/>
              <a:ext cx="163196" cy="163196"/>
            </a:xfrm>
            <a:prstGeom prst="rect">
              <a:avLst/>
            </a:prstGeom>
          </p:spPr>
        </p:pic>
        <p:sp>
          <p:nvSpPr>
            <p:cNvPr id="8" name="object 8"/>
            <p:cNvSpPr/>
            <p:nvPr/>
          </p:nvSpPr>
          <p:spPr>
            <a:xfrm>
              <a:off x="1028926" y="4798920"/>
              <a:ext cx="6610350" cy="4458970"/>
            </a:xfrm>
            <a:custGeom>
              <a:avLst/>
              <a:gdLst/>
              <a:ahLst/>
              <a:cxnLst/>
              <a:rect l="l" t="t" r="r" b="b"/>
              <a:pathLst>
                <a:path w="6610350" h="4458970">
                  <a:moveTo>
                    <a:pt x="6347012" y="4458728"/>
                  </a:moveTo>
                  <a:lnTo>
                    <a:pt x="263329" y="4458728"/>
                  </a:lnTo>
                  <a:lnTo>
                    <a:pt x="216056" y="4454478"/>
                  </a:lnTo>
                  <a:lnTo>
                    <a:pt x="171538" y="4442227"/>
                  </a:lnTo>
                  <a:lnTo>
                    <a:pt x="130524" y="4422725"/>
                  </a:lnTo>
                  <a:lnTo>
                    <a:pt x="93764" y="4396721"/>
                  </a:lnTo>
                  <a:lnTo>
                    <a:pt x="62007" y="4364964"/>
                  </a:lnTo>
                  <a:lnTo>
                    <a:pt x="36003" y="4328204"/>
                  </a:lnTo>
                  <a:lnTo>
                    <a:pt x="16501" y="4287190"/>
                  </a:lnTo>
                  <a:lnTo>
                    <a:pt x="4250" y="4242672"/>
                  </a:lnTo>
                  <a:lnTo>
                    <a:pt x="0" y="4195399"/>
                  </a:lnTo>
                  <a:lnTo>
                    <a:pt x="0" y="263329"/>
                  </a:lnTo>
                  <a:lnTo>
                    <a:pt x="4169" y="216951"/>
                  </a:lnTo>
                  <a:lnTo>
                    <a:pt x="16501" y="171538"/>
                  </a:lnTo>
                  <a:lnTo>
                    <a:pt x="36003" y="130524"/>
                  </a:lnTo>
                  <a:lnTo>
                    <a:pt x="62007" y="93764"/>
                  </a:lnTo>
                  <a:lnTo>
                    <a:pt x="93764" y="62007"/>
                  </a:lnTo>
                  <a:lnTo>
                    <a:pt x="130524" y="36003"/>
                  </a:lnTo>
                  <a:lnTo>
                    <a:pt x="171538" y="16501"/>
                  </a:lnTo>
                  <a:lnTo>
                    <a:pt x="216056" y="4250"/>
                  </a:lnTo>
                  <a:lnTo>
                    <a:pt x="263329" y="0"/>
                  </a:lnTo>
                  <a:lnTo>
                    <a:pt x="6347012" y="0"/>
                  </a:lnTo>
                  <a:lnTo>
                    <a:pt x="6394286" y="4250"/>
                  </a:lnTo>
                  <a:lnTo>
                    <a:pt x="6438804" y="16501"/>
                  </a:lnTo>
                  <a:lnTo>
                    <a:pt x="6473332" y="32919"/>
                  </a:lnTo>
                  <a:lnTo>
                    <a:pt x="263329" y="32919"/>
                  </a:lnTo>
                  <a:lnTo>
                    <a:pt x="216951" y="37608"/>
                  </a:lnTo>
                  <a:lnTo>
                    <a:pt x="173728" y="51054"/>
                  </a:lnTo>
                  <a:lnTo>
                    <a:pt x="134593" y="72322"/>
                  </a:lnTo>
                  <a:lnTo>
                    <a:pt x="100480" y="100480"/>
                  </a:lnTo>
                  <a:lnTo>
                    <a:pt x="72322" y="134593"/>
                  </a:lnTo>
                  <a:lnTo>
                    <a:pt x="51054" y="173728"/>
                  </a:lnTo>
                  <a:lnTo>
                    <a:pt x="37608" y="216951"/>
                  </a:lnTo>
                  <a:lnTo>
                    <a:pt x="32919" y="263329"/>
                  </a:lnTo>
                  <a:lnTo>
                    <a:pt x="32919" y="4195399"/>
                  </a:lnTo>
                  <a:lnTo>
                    <a:pt x="37608" y="4241777"/>
                  </a:lnTo>
                  <a:lnTo>
                    <a:pt x="51054" y="4285000"/>
                  </a:lnTo>
                  <a:lnTo>
                    <a:pt x="72322" y="4324135"/>
                  </a:lnTo>
                  <a:lnTo>
                    <a:pt x="100480" y="4358248"/>
                  </a:lnTo>
                  <a:lnTo>
                    <a:pt x="134593" y="4386405"/>
                  </a:lnTo>
                  <a:lnTo>
                    <a:pt x="173728" y="4407674"/>
                  </a:lnTo>
                  <a:lnTo>
                    <a:pt x="216951" y="4421120"/>
                  </a:lnTo>
                  <a:lnTo>
                    <a:pt x="263329" y="4425809"/>
                  </a:lnTo>
                  <a:lnTo>
                    <a:pt x="6473332" y="4425809"/>
                  </a:lnTo>
                  <a:lnTo>
                    <a:pt x="6438804" y="4442227"/>
                  </a:lnTo>
                  <a:lnTo>
                    <a:pt x="6394286" y="4454478"/>
                  </a:lnTo>
                  <a:lnTo>
                    <a:pt x="6347012" y="4458728"/>
                  </a:lnTo>
                  <a:close/>
                </a:path>
                <a:path w="6610350" h="4458970">
                  <a:moveTo>
                    <a:pt x="6473332" y="4425809"/>
                  </a:moveTo>
                  <a:lnTo>
                    <a:pt x="6347012" y="4425809"/>
                  </a:lnTo>
                  <a:lnTo>
                    <a:pt x="6393390" y="4421120"/>
                  </a:lnTo>
                  <a:lnTo>
                    <a:pt x="6436614" y="4407674"/>
                  </a:lnTo>
                  <a:lnTo>
                    <a:pt x="6475749" y="4386405"/>
                  </a:lnTo>
                  <a:lnTo>
                    <a:pt x="6509862" y="4358248"/>
                  </a:lnTo>
                  <a:lnTo>
                    <a:pt x="6538019" y="4324135"/>
                  </a:lnTo>
                  <a:lnTo>
                    <a:pt x="6559287" y="4285000"/>
                  </a:lnTo>
                  <a:lnTo>
                    <a:pt x="6572733" y="4241777"/>
                  </a:lnTo>
                  <a:lnTo>
                    <a:pt x="6577423" y="4195399"/>
                  </a:lnTo>
                  <a:lnTo>
                    <a:pt x="6577423" y="263329"/>
                  </a:lnTo>
                  <a:lnTo>
                    <a:pt x="6572733" y="216951"/>
                  </a:lnTo>
                  <a:lnTo>
                    <a:pt x="6559287" y="173728"/>
                  </a:lnTo>
                  <a:lnTo>
                    <a:pt x="6538019" y="134593"/>
                  </a:lnTo>
                  <a:lnTo>
                    <a:pt x="6509861" y="100480"/>
                  </a:lnTo>
                  <a:lnTo>
                    <a:pt x="6475748" y="72322"/>
                  </a:lnTo>
                  <a:lnTo>
                    <a:pt x="6436613" y="51054"/>
                  </a:lnTo>
                  <a:lnTo>
                    <a:pt x="6393390" y="37608"/>
                  </a:lnTo>
                  <a:lnTo>
                    <a:pt x="6347012" y="32919"/>
                  </a:lnTo>
                  <a:lnTo>
                    <a:pt x="6473332" y="32919"/>
                  </a:lnTo>
                  <a:lnTo>
                    <a:pt x="6516578" y="62007"/>
                  </a:lnTo>
                  <a:lnTo>
                    <a:pt x="6548334" y="93764"/>
                  </a:lnTo>
                  <a:lnTo>
                    <a:pt x="6574339" y="130524"/>
                  </a:lnTo>
                  <a:lnTo>
                    <a:pt x="6593841" y="171538"/>
                  </a:lnTo>
                  <a:lnTo>
                    <a:pt x="6606092" y="216056"/>
                  </a:lnTo>
                  <a:lnTo>
                    <a:pt x="6610342" y="263329"/>
                  </a:lnTo>
                  <a:lnTo>
                    <a:pt x="6610342" y="4195399"/>
                  </a:lnTo>
                  <a:lnTo>
                    <a:pt x="6606172" y="4241777"/>
                  </a:lnTo>
                  <a:lnTo>
                    <a:pt x="6593841" y="4287190"/>
                  </a:lnTo>
                  <a:lnTo>
                    <a:pt x="6574339" y="4328204"/>
                  </a:lnTo>
                  <a:lnTo>
                    <a:pt x="6548334" y="4364964"/>
                  </a:lnTo>
                  <a:lnTo>
                    <a:pt x="6516578" y="4396721"/>
                  </a:lnTo>
                  <a:lnTo>
                    <a:pt x="6479818" y="4422725"/>
                  </a:lnTo>
                  <a:lnTo>
                    <a:pt x="6473332" y="4425809"/>
                  </a:lnTo>
                  <a:close/>
                </a:path>
                <a:path w="6610350" h="4458970">
                  <a:moveTo>
                    <a:pt x="329975" y="433466"/>
                  </a:moveTo>
                  <a:lnTo>
                    <a:pt x="291849" y="425749"/>
                  </a:lnTo>
                  <a:lnTo>
                    <a:pt x="260680" y="404714"/>
                  </a:lnTo>
                  <a:lnTo>
                    <a:pt x="239647" y="373542"/>
                  </a:lnTo>
                  <a:lnTo>
                    <a:pt x="231930" y="335408"/>
                  </a:lnTo>
                  <a:lnTo>
                    <a:pt x="239645" y="297275"/>
                  </a:lnTo>
                  <a:lnTo>
                    <a:pt x="260675" y="266102"/>
                  </a:lnTo>
                  <a:lnTo>
                    <a:pt x="291843" y="245068"/>
                  </a:lnTo>
                  <a:lnTo>
                    <a:pt x="329975" y="237350"/>
                  </a:lnTo>
                  <a:lnTo>
                    <a:pt x="368108" y="245068"/>
                  </a:lnTo>
                  <a:lnTo>
                    <a:pt x="399281" y="266102"/>
                  </a:lnTo>
                  <a:lnTo>
                    <a:pt x="402102" y="270283"/>
                  </a:lnTo>
                  <a:lnTo>
                    <a:pt x="329975" y="270283"/>
                  </a:lnTo>
                  <a:lnTo>
                    <a:pt x="304643" y="275410"/>
                  </a:lnTo>
                  <a:lnTo>
                    <a:pt x="283935" y="289382"/>
                  </a:lnTo>
                  <a:lnTo>
                    <a:pt x="269963" y="310090"/>
                  </a:lnTo>
                  <a:lnTo>
                    <a:pt x="264839" y="335408"/>
                  </a:lnTo>
                  <a:lnTo>
                    <a:pt x="269965" y="360753"/>
                  </a:lnTo>
                  <a:lnTo>
                    <a:pt x="283940" y="381461"/>
                  </a:lnTo>
                  <a:lnTo>
                    <a:pt x="304648" y="395433"/>
                  </a:lnTo>
                  <a:lnTo>
                    <a:pt x="329975" y="400560"/>
                  </a:lnTo>
                  <a:lnTo>
                    <a:pt x="402080" y="400560"/>
                  </a:lnTo>
                  <a:lnTo>
                    <a:pt x="399276" y="404714"/>
                  </a:lnTo>
                  <a:lnTo>
                    <a:pt x="368102" y="425749"/>
                  </a:lnTo>
                  <a:lnTo>
                    <a:pt x="329975" y="433466"/>
                  </a:lnTo>
                  <a:close/>
                </a:path>
                <a:path w="6610350" h="4458970">
                  <a:moveTo>
                    <a:pt x="592260" y="433466"/>
                  </a:moveTo>
                  <a:lnTo>
                    <a:pt x="554126" y="425749"/>
                  </a:lnTo>
                  <a:lnTo>
                    <a:pt x="522954" y="404714"/>
                  </a:lnTo>
                  <a:lnTo>
                    <a:pt x="501920" y="373542"/>
                  </a:lnTo>
                  <a:lnTo>
                    <a:pt x="494202" y="335408"/>
                  </a:lnTo>
                  <a:lnTo>
                    <a:pt x="501920" y="297275"/>
                  </a:lnTo>
                  <a:lnTo>
                    <a:pt x="522954" y="266102"/>
                  </a:lnTo>
                  <a:lnTo>
                    <a:pt x="554126" y="245068"/>
                  </a:lnTo>
                  <a:lnTo>
                    <a:pt x="592260" y="237350"/>
                  </a:lnTo>
                  <a:lnTo>
                    <a:pt x="630391" y="245068"/>
                  </a:lnTo>
                  <a:lnTo>
                    <a:pt x="661559" y="266102"/>
                  </a:lnTo>
                  <a:lnTo>
                    <a:pt x="664380" y="270283"/>
                  </a:lnTo>
                  <a:lnTo>
                    <a:pt x="592260" y="270283"/>
                  </a:lnTo>
                  <a:lnTo>
                    <a:pt x="566928" y="275410"/>
                  </a:lnTo>
                  <a:lnTo>
                    <a:pt x="546220" y="289382"/>
                  </a:lnTo>
                  <a:lnTo>
                    <a:pt x="532248" y="310090"/>
                  </a:lnTo>
                  <a:lnTo>
                    <a:pt x="527124" y="335408"/>
                  </a:lnTo>
                  <a:lnTo>
                    <a:pt x="532248" y="360753"/>
                  </a:lnTo>
                  <a:lnTo>
                    <a:pt x="546220" y="381461"/>
                  </a:lnTo>
                  <a:lnTo>
                    <a:pt x="566928" y="395433"/>
                  </a:lnTo>
                  <a:lnTo>
                    <a:pt x="592260" y="400560"/>
                  </a:lnTo>
                  <a:lnTo>
                    <a:pt x="664362" y="400560"/>
                  </a:lnTo>
                  <a:lnTo>
                    <a:pt x="661559" y="404714"/>
                  </a:lnTo>
                  <a:lnTo>
                    <a:pt x="630391" y="425749"/>
                  </a:lnTo>
                  <a:lnTo>
                    <a:pt x="592260" y="433466"/>
                  </a:lnTo>
                  <a:close/>
                </a:path>
                <a:path w="6610350" h="4458970">
                  <a:moveTo>
                    <a:pt x="854545" y="433466"/>
                  </a:moveTo>
                  <a:lnTo>
                    <a:pt x="816412" y="425749"/>
                  </a:lnTo>
                  <a:lnTo>
                    <a:pt x="785239" y="404714"/>
                  </a:lnTo>
                  <a:lnTo>
                    <a:pt x="764205" y="373542"/>
                  </a:lnTo>
                  <a:lnTo>
                    <a:pt x="756487" y="335408"/>
                  </a:lnTo>
                  <a:lnTo>
                    <a:pt x="764205" y="297275"/>
                  </a:lnTo>
                  <a:lnTo>
                    <a:pt x="785239" y="266102"/>
                  </a:lnTo>
                  <a:lnTo>
                    <a:pt x="816412" y="245068"/>
                  </a:lnTo>
                  <a:lnTo>
                    <a:pt x="854545" y="237350"/>
                  </a:lnTo>
                  <a:lnTo>
                    <a:pt x="892673" y="245068"/>
                  </a:lnTo>
                  <a:lnTo>
                    <a:pt x="923846" y="266102"/>
                  </a:lnTo>
                  <a:lnTo>
                    <a:pt x="926668" y="270283"/>
                  </a:lnTo>
                  <a:lnTo>
                    <a:pt x="854545" y="270283"/>
                  </a:lnTo>
                  <a:lnTo>
                    <a:pt x="829213" y="275410"/>
                  </a:lnTo>
                  <a:lnTo>
                    <a:pt x="808506" y="289382"/>
                  </a:lnTo>
                  <a:lnTo>
                    <a:pt x="794533" y="310090"/>
                  </a:lnTo>
                  <a:lnTo>
                    <a:pt x="789409" y="335408"/>
                  </a:lnTo>
                  <a:lnTo>
                    <a:pt x="794533" y="360753"/>
                  </a:lnTo>
                  <a:lnTo>
                    <a:pt x="808506" y="381461"/>
                  </a:lnTo>
                  <a:lnTo>
                    <a:pt x="829213" y="395433"/>
                  </a:lnTo>
                  <a:lnTo>
                    <a:pt x="854545" y="400560"/>
                  </a:lnTo>
                  <a:lnTo>
                    <a:pt x="926654" y="400560"/>
                  </a:lnTo>
                  <a:lnTo>
                    <a:pt x="923851" y="404714"/>
                  </a:lnTo>
                  <a:lnTo>
                    <a:pt x="892678" y="425749"/>
                  </a:lnTo>
                  <a:lnTo>
                    <a:pt x="854545" y="433466"/>
                  </a:lnTo>
                  <a:close/>
                </a:path>
                <a:path w="6610350" h="4458970">
                  <a:moveTo>
                    <a:pt x="402080" y="400560"/>
                  </a:moveTo>
                  <a:lnTo>
                    <a:pt x="329975" y="400560"/>
                  </a:lnTo>
                  <a:lnTo>
                    <a:pt x="355312" y="395433"/>
                  </a:lnTo>
                  <a:lnTo>
                    <a:pt x="376019" y="381461"/>
                  </a:lnTo>
                  <a:lnTo>
                    <a:pt x="389988" y="360753"/>
                  </a:lnTo>
                  <a:lnTo>
                    <a:pt x="395110" y="335408"/>
                  </a:lnTo>
                  <a:lnTo>
                    <a:pt x="389986" y="310090"/>
                  </a:lnTo>
                  <a:lnTo>
                    <a:pt x="376014" y="289382"/>
                  </a:lnTo>
                  <a:lnTo>
                    <a:pt x="355306" y="275410"/>
                  </a:lnTo>
                  <a:lnTo>
                    <a:pt x="329975" y="270283"/>
                  </a:lnTo>
                  <a:lnTo>
                    <a:pt x="402102" y="270283"/>
                  </a:lnTo>
                  <a:lnTo>
                    <a:pt x="420315" y="297275"/>
                  </a:lnTo>
                  <a:lnTo>
                    <a:pt x="428032" y="335408"/>
                  </a:lnTo>
                  <a:lnTo>
                    <a:pt x="420313" y="373542"/>
                  </a:lnTo>
                  <a:lnTo>
                    <a:pt x="402080" y="400560"/>
                  </a:lnTo>
                  <a:close/>
                </a:path>
                <a:path w="6610350" h="4458970">
                  <a:moveTo>
                    <a:pt x="664362" y="400560"/>
                  </a:moveTo>
                  <a:lnTo>
                    <a:pt x="592260" y="400560"/>
                  </a:lnTo>
                  <a:lnTo>
                    <a:pt x="617592" y="395433"/>
                  </a:lnTo>
                  <a:lnTo>
                    <a:pt x="638299" y="381461"/>
                  </a:lnTo>
                  <a:lnTo>
                    <a:pt x="652272" y="360753"/>
                  </a:lnTo>
                  <a:lnTo>
                    <a:pt x="657395" y="335408"/>
                  </a:lnTo>
                  <a:lnTo>
                    <a:pt x="652270" y="310090"/>
                  </a:lnTo>
                  <a:lnTo>
                    <a:pt x="638294" y="289382"/>
                  </a:lnTo>
                  <a:lnTo>
                    <a:pt x="617586" y="275410"/>
                  </a:lnTo>
                  <a:lnTo>
                    <a:pt x="592260" y="270283"/>
                  </a:lnTo>
                  <a:lnTo>
                    <a:pt x="664380" y="270283"/>
                  </a:lnTo>
                  <a:lnTo>
                    <a:pt x="682589" y="297275"/>
                  </a:lnTo>
                  <a:lnTo>
                    <a:pt x="690304" y="335408"/>
                  </a:lnTo>
                  <a:lnTo>
                    <a:pt x="682589" y="373542"/>
                  </a:lnTo>
                  <a:lnTo>
                    <a:pt x="664362" y="400560"/>
                  </a:lnTo>
                  <a:close/>
                </a:path>
                <a:path w="6610350" h="4458970">
                  <a:moveTo>
                    <a:pt x="926654" y="400560"/>
                  </a:moveTo>
                  <a:lnTo>
                    <a:pt x="854545" y="400560"/>
                  </a:lnTo>
                  <a:lnTo>
                    <a:pt x="879877" y="395433"/>
                  </a:lnTo>
                  <a:lnTo>
                    <a:pt x="900584" y="381461"/>
                  </a:lnTo>
                  <a:lnTo>
                    <a:pt x="914557" y="360753"/>
                  </a:lnTo>
                  <a:lnTo>
                    <a:pt x="919681" y="335408"/>
                  </a:lnTo>
                  <a:lnTo>
                    <a:pt x="914557" y="310090"/>
                  </a:lnTo>
                  <a:lnTo>
                    <a:pt x="900584" y="289382"/>
                  </a:lnTo>
                  <a:lnTo>
                    <a:pt x="879877" y="275410"/>
                  </a:lnTo>
                  <a:lnTo>
                    <a:pt x="854545" y="270283"/>
                  </a:lnTo>
                  <a:lnTo>
                    <a:pt x="926668" y="270283"/>
                  </a:lnTo>
                  <a:lnTo>
                    <a:pt x="944883" y="297275"/>
                  </a:lnTo>
                  <a:lnTo>
                    <a:pt x="952603" y="335408"/>
                  </a:lnTo>
                  <a:lnTo>
                    <a:pt x="944885" y="373542"/>
                  </a:lnTo>
                  <a:lnTo>
                    <a:pt x="926654" y="400560"/>
                  </a:lnTo>
                  <a:close/>
                </a:path>
              </a:pathLst>
            </a:custGeom>
            <a:solidFill>
              <a:srgbClr val="000000"/>
            </a:solidFill>
          </p:spPr>
          <p:txBody>
            <a:bodyPr wrap="square" lIns="0" tIns="0" rIns="0" bIns="0" rtlCol="0"/>
            <a:lstStyle/>
            <a:p>
              <a:endParaRPr/>
            </a:p>
          </p:txBody>
        </p:sp>
      </p:grpSp>
      <p:sp>
        <p:nvSpPr>
          <p:cNvPr id="9" name="object 9"/>
          <p:cNvSpPr txBox="1"/>
          <p:nvPr/>
        </p:nvSpPr>
        <p:spPr>
          <a:xfrm>
            <a:off x="1539588" y="5605677"/>
            <a:ext cx="5552113" cy="3453837"/>
          </a:xfrm>
          <a:prstGeom prst="rect">
            <a:avLst/>
          </a:prstGeom>
        </p:spPr>
        <p:txBody>
          <a:bodyPr vert="horz" wrap="square" lIns="0" tIns="13970" rIns="0" bIns="0" rtlCol="0">
            <a:spAutoFit/>
          </a:bodyPr>
          <a:lstStyle/>
          <a:p>
            <a:pPr marL="23495">
              <a:lnSpc>
                <a:spcPct val="100000"/>
              </a:lnSpc>
              <a:spcBef>
                <a:spcPts val="110"/>
              </a:spcBef>
            </a:pPr>
            <a:r>
              <a:rPr lang="en-US" sz="2150" b="1" dirty="0">
                <a:latin typeface="Verdana"/>
                <a:cs typeface="Verdana"/>
              </a:rPr>
              <a:t>PERSONAL FINANCIAL MANAGEMENT</a:t>
            </a:r>
          </a:p>
          <a:p>
            <a:pPr marL="23495">
              <a:lnSpc>
                <a:spcPct val="100000"/>
              </a:lnSpc>
              <a:spcBef>
                <a:spcPts val="110"/>
              </a:spcBef>
            </a:pPr>
            <a:endParaRPr lang="en-US" sz="2150" dirty="0">
              <a:latin typeface="Verdana"/>
              <a:cs typeface="Verdana"/>
            </a:endParaRPr>
          </a:p>
          <a:p>
            <a:pPr marL="23495">
              <a:lnSpc>
                <a:spcPct val="100000"/>
              </a:lnSpc>
              <a:spcBef>
                <a:spcPts val="110"/>
              </a:spcBef>
            </a:pPr>
            <a:r>
              <a:rPr lang="en-US" sz="2150" dirty="0">
                <a:latin typeface="Verdana"/>
                <a:cs typeface="Verdana"/>
              </a:rPr>
              <a:t>• Tracks daily financial conversations  </a:t>
            </a:r>
          </a:p>
          <a:p>
            <a:pPr marL="23495">
              <a:lnSpc>
                <a:spcPct val="100000"/>
              </a:lnSpc>
              <a:spcBef>
                <a:spcPts val="110"/>
              </a:spcBef>
            </a:pPr>
            <a:r>
              <a:rPr lang="en-US" sz="2150" dirty="0">
                <a:latin typeface="Verdana"/>
                <a:cs typeface="Verdana"/>
              </a:rPr>
              <a:t>• Records commitments like loans, EMIs, and payments  </a:t>
            </a:r>
          </a:p>
          <a:p>
            <a:pPr marL="23495">
              <a:lnSpc>
                <a:spcPct val="100000"/>
              </a:lnSpc>
              <a:spcBef>
                <a:spcPts val="110"/>
              </a:spcBef>
            </a:pPr>
            <a:r>
              <a:rPr lang="en-US" sz="2150" dirty="0">
                <a:latin typeface="Verdana"/>
                <a:cs typeface="Verdana"/>
              </a:rPr>
              <a:t>• Helps users avoid missed deadlines  </a:t>
            </a:r>
          </a:p>
          <a:p>
            <a:pPr marL="23495">
              <a:lnSpc>
                <a:spcPct val="100000"/>
              </a:lnSpc>
              <a:spcBef>
                <a:spcPts val="110"/>
              </a:spcBef>
            </a:pPr>
            <a:endParaRPr lang="en-US" sz="2150" dirty="0">
              <a:latin typeface="Verdana"/>
              <a:cs typeface="Verdana"/>
            </a:endParaRPr>
          </a:p>
          <a:p>
            <a:pPr marL="23495">
              <a:lnSpc>
                <a:spcPct val="100000"/>
              </a:lnSpc>
              <a:spcBef>
                <a:spcPts val="110"/>
              </a:spcBef>
            </a:pPr>
            <a:r>
              <a:rPr lang="en-US" sz="2150" dirty="0">
                <a:latin typeface="Verdana"/>
                <a:cs typeface="Verdana"/>
              </a:rPr>
              <a:t> Improves financial discipline in everyday life</a:t>
            </a:r>
            <a:endParaRPr sz="2150" dirty="0">
              <a:latin typeface="Verdana"/>
              <a:cs typeface="Verdana"/>
            </a:endParaRPr>
          </a:p>
        </p:txBody>
      </p:sp>
      <p:pic>
        <p:nvPicPr>
          <p:cNvPr id="10" name="object 10"/>
          <p:cNvPicPr/>
          <p:nvPr/>
        </p:nvPicPr>
        <p:blipFill>
          <a:blip r:embed="rId5" cstate="print"/>
          <a:stretch>
            <a:fillRect/>
          </a:stretch>
        </p:blipFill>
        <p:spPr>
          <a:xfrm>
            <a:off x="8064806" y="511260"/>
            <a:ext cx="10223195" cy="8746388"/>
          </a:xfrm>
          <a:prstGeom prst="rect">
            <a:avLst/>
          </a:prstGeom>
        </p:spPr>
      </p:pic>
      <p:sp>
        <p:nvSpPr>
          <p:cNvPr id="11" name="object 11"/>
          <p:cNvSpPr txBox="1"/>
          <p:nvPr/>
        </p:nvSpPr>
        <p:spPr>
          <a:xfrm>
            <a:off x="8645590" y="5455649"/>
            <a:ext cx="5481955" cy="3399649"/>
          </a:xfrm>
          <a:prstGeom prst="rect">
            <a:avLst/>
          </a:prstGeom>
        </p:spPr>
        <p:txBody>
          <a:bodyPr vert="horz" wrap="square" lIns="0" tIns="13970" rIns="0" bIns="0" rtlCol="0">
            <a:spAutoFit/>
          </a:bodyPr>
          <a:lstStyle/>
          <a:p>
            <a:pPr marL="12700">
              <a:lnSpc>
                <a:spcPct val="100000"/>
              </a:lnSpc>
              <a:spcBef>
                <a:spcPts val="110"/>
              </a:spcBef>
            </a:pPr>
            <a:r>
              <a:rPr lang="en-US" sz="2150" b="1" dirty="0">
                <a:latin typeface="Verdana"/>
                <a:cs typeface="Verdana"/>
              </a:rPr>
              <a:t>SMART FINANCIAL INSIGHTS</a:t>
            </a:r>
          </a:p>
          <a:p>
            <a:pPr marL="12700">
              <a:lnSpc>
                <a:spcPct val="100000"/>
              </a:lnSpc>
              <a:spcBef>
                <a:spcPts val="110"/>
              </a:spcBef>
            </a:pPr>
            <a:endParaRPr lang="en-US" sz="2150" dirty="0">
              <a:latin typeface="Verdana"/>
              <a:cs typeface="Verdana"/>
            </a:endParaRPr>
          </a:p>
          <a:p>
            <a:pPr marL="12700">
              <a:lnSpc>
                <a:spcPct val="100000"/>
              </a:lnSpc>
              <a:spcBef>
                <a:spcPts val="110"/>
              </a:spcBef>
            </a:pPr>
            <a:r>
              <a:rPr lang="en-US" sz="2150" dirty="0">
                <a:latin typeface="Verdana"/>
                <a:cs typeface="Verdana"/>
              </a:rPr>
              <a:t>• Converts conversations into structured data  </a:t>
            </a:r>
          </a:p>
          <a:p>
            <a:pPr marL="12700">
              <a:lnSpc>
                <a:spcPct val="100000"/>
              </a:lnSpc>
              <a:spcBef>
                <a:spcPts val="110"/>
              </a:spcBef>
            </a:pPr>
            <a:r>
              <a:rPr lang="en-US" sz="2150" dirty="0">
                <a:latin typeface="Verdana"/>
                <a:cs typeface="Verdana"/>
              </a:rPr>
              <a:t>• Identifies spending patterns and risks  </a:t>
            </a:r>
          </a:p>
          <a:p>
            <a:pPr marL="12700">
              <a:lnSpc>
                <a:spcPct val="100000"/>
              </a:lnSpc>
              <a:spcBef>
                <a:spcPts val="110"/>
              </a:spcBef>
            </a:pPr>
            <a:r>
              <a:rPr lang="en-US" sz="2150" dirty="0">
                <a:latin typeface="Verdana"/>
                <a:cs typeface="Verdana"/>
              </a:rPr>
              <a:t>• Helps users make better financial decisions  </a:t>
            </a:r>
          </a:p>
          <a:p>
            <a:pPr marL="12700">
              <a:lnSpc>
                <a:spcPct val="100000"/>
              </a:lnSpc>
              <a:spcBef>
                <a:spcPts val="110"/>
              </a:spcBef>
            </a:pPr>
            <a:endParaRPr lang="en-US" sz="2150" dirty="0">
              <a:latin typeface="Verdana"/>
              <a:cs typeface="Verdana"/>
            </a:endParaRPr>
          </a:p>
          <a:p>
            <a:pPr marL="12700">
              <a:lnSpc>
                <a:spcPct val="100000"/>
              </a:lnSpc>
              <a:spcBef>
                <a:spcPts val="110"/>
              </a:spcBef>
            </a:pPr>
            <a:r>
              <a:rPr lang="en-US" sz="2150" dirty="0">
                <a:latin typeface="Verdana"/>
                <a:cs typeface="Verdana"/>
              </a:rPr>
              <a:t> Turns raw conversations into useful insights</a:t>
            </a:r>
            <a:endParaRPr sz="2150" dirty="0">
              <a:latin typeface="Verdana"/>
              <a:cs typeface="Verdana"/>
            </a:endParaRPr>
          </a:p>
        </p:txBody>
      </p:sp>
      <p:sp>
        <p:nvSpPr>
          <p:cNvPr id="12" name="Arrow: Right 11">
            <a:extLst>
              <a:ext uri="{FF2B5EF4-FFF2-40B4-BE49-F238E27FC236}">
                <a16:creationId xmlns:a16="http://schemas.microsoft.com/office/drawing/2014/main" id="{56EC6402-E6CC-4226-175B-8B794F303F33}"/>
              </a:ext>
            </a:extLst>
          </p:cNvPr>
          <p:cNvSpPr/>
          <p:nvPr/>
        </p:nvSpPr>
        <p:spPr>
          <a:xfrm>
            <a:off x="1300898" y="8496300"/>
            <a:ext cx="320288"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Right 12">
            <a:extLst>
              <a:ext uri="{FF2B5EF4-FFF2-40B4-BE49-F238E27FC236}">
                <a16:creationId xmlns:a16="http://schemas.microsoft.com/office/drawing/2014/main" id="{F6C4A180-C8A1-0AE9-6644-319088D5846D}"/>
              </a:ext>
            </a:extLst>
          </p:cNvPr>
          <p:cNvSpPr/>
          <p:nvPr/>
        </p:nvSpPr>
        <p:spPr>
          <a:xfrm>
            <a:off x="8325302" y="8343900"/>
            <a:ext cx="320288"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154830" y="5807680"/>
            <a:ext cx="5125085" cy="1605280"/>
            <a:chOff x="11154830" y="5807680"/>
            <a:chExt cx="5125085" cy="1605280"/>
          </a:xfrm>
        </p:grpSpPr>
        <p:sp>
          <p:nvSpPr>
            <p:cNvPr id="3" name="object 3"/>
            <p:cNvSpPr/>
            <p:nvPr/>
          </p:nvSpPr>
          <p:spPr>
            <a:xfrm>
              <a:off x="11283687" y="5959128"/>
              <a:ext cx="4948555" cy="1407160"/>
            </a:xfrm>
            <a:custGeom>
              <a:avLst/>
              <a:gdLst/>
              <a:ahLst/>
              <a:cxnLst/>
              <a:rect l="l" t="t" r="r" b="b"/>
              <a:pathLst>
                <a:path w="4948555" h="1407159">
                  <a:moveTo>
                    <a:pt x="4820324" y="1229355"/>
                  </a:moveTo>
                  <a:lnTo>
                    <a:pt x="175142" y="1406878"/>
                  </a:lnTo>
                  <a:lnTo>
                    <a:pt x="132764" y="1401695"/>
                  </a:lnTo>
                  <a:lnTo>
                    <a:pt x="95462" y="1384176"/>
                  </a:lnTo>
                  <a:lnTo>
                    <a:pt x="65514" y="1356433"/>
                  </a:lnTo>
                  <a:lnTo>
                    <a:pt x="45200" y="1320577"/>
                  </a:lnTo>
                  <a:lnTo>
                    <a:pt x="36796" y="1278718"/>
                  </a:lnTo>
                  <a:lnTo>
                    <a:pt x="0" y="315868"/>
                  </a:lnTo>
                  <a:lnTo>
                    <a:pt x="5183" y="273490"/>
                  </a:lnTo>
                  <a:lnTo>
                    <a:pt x="22702" y="236188"/>
                  </a:lnTo>
                  <a:lnTo>
                    <a:pt x="50445" y="206240"/>
                  </a:lnTo>
                  <a:lnTo>
                    <a:pt x="86301" y="185926"/>
                  </a:lnTo>
                  <a:lnTo>
                    <a:pt x="128160" y="177523"/>
                  </a:lnTo>
                  <a:lnTo>
                    <a:pt x="4773342" y="0"/>
                  </a:lnTo>
                  <a:lnTo>
                    <a:pt x="4815719" y="5183"/>
                  </a:lnTo>
                  <a:lnTo>
                    <a:pt x="4853021" y="22702"/>
                  </a:lnTo>
                  <a:lnTo>
                    <a:pt x="4882968" y="50445"/>
                  </a:lnTo>
                  <a:lnTo>
                    <a:pt x="4903283" y="86301"/>
                  </a:lnTo>
                  <a:lnTo>
                    <a:pt x="4911686" y="128160"/>
                  </a:lnTo>
                  <a:lnTo>
                    <a:pt x="4948482" y="1091010"/>
                  </a:lnTo>
                  <a:lnTo>
                    <a:pt x="4943299" y="1133388"/>
                  </a:lnTo>
                  <a:lnTo>
                    <a:pt x="4925780" y="1170690"/>
                  </a:lnTo>
                  <a:lnTo>
                    <a:pt x="4898038" y="1200638"/>
                  </a:lnTo>
                  <a:lnTo>
                    <a:pt x="4862182" y="1220952"/>
                  </a:lnTo>
                  <a:lnTo>
                    <a:pt x="4820324" y="1229355"/>
                  </a:lnTo>
                  <a:close/>
                </a:path>
              </a:pathLst>
            </a:custGeom>
            <a:solidFill>
              <a:srgbClr val="000000"/>
            </a:solidFill>
          </p:spPr>
          <p:txBody>
            <a:bodyPr wrap="square" lIns="0" tIns="0" rIns="0" bIns="0" rtlCol="0"/>
            <a:lstStyle/>
            <a:p>
              <a:endParaRPr/>
            </a:p>
          </p:txBody>
        </p:sp>
        <p:sp>
          <p:nvSpPr>
            <p:cNvPr id="4" name="object 4"/>
            <p:cNvSpPr/>
            <p:nvPr/>
          </p:nvSpPr>
          <p:spPr>
            <a:xfrm>
              <a:off x="11283693" y="5959133"/>
              <a:ext cx="4948555" cy="1405890"/>
            </a:xfrm>
            <a:custGeom>
              <a:avLst/>
              <a:gdLst/>
              <a:ahLst/>
              <a:cxnLst/>
              <a:rect l="l" t="t" r="r" b="b"/>
              <a:pathLst>
                <a:path w="4948555" h="1405890">
                  <a:moveTo>
                    <a:pt x="4948165" y="1092567"/>
                  </a:moveTo>
                  <a:lnTo>
                    <a:pt x="4943176" y="1133351"/>
                  </a:lnTo>
                  <a:lnTo>
                    <a:pt x="4925658" y="1170652"/>
                  </a:lnTo>
                  <a:lnTo>
                    <a:pt x="4897916" y="1200599"/>
                  </a:lnTo>
                  <a:lnTo>
                    <a:pt x="4862061" y="1220913"/>
                  </a:lnTo>
                  <a:lnTo>
                    <a:pt x="4829369" y="1227475"/>
                  </a:lnTo>
                </a:path>
                <a:path w="4948555" h="1405890">
                  <a:moveTo>
                    <a:pt x="165897" y="1405698"/>
                  </a:moveTo>
                  <a:lnTo>
                    <a:pt x="95495" y="1384131"/>
                  </a:lnTo>
                  <a:lnTo>
                    <a:pt x="65548" y="1356389"/>
                  </a:lnTo>
                  <a:lnTo>
                    <a:pt x="45234" y="1320534"/>
                  </a:lnTo>
                  <a:lnTo>
                    <a:pt x="36827" y="1278677"/>
                  </a:lnTo>
                  <a:lnTo>
                    <a:pt x="0" y="315853"/>
                  </a:lnTo>
                  <a:lnTo>
                    <a:pt x="5219" y="273481"/>
                  </a:lnTo>
                  <a:lnTo>
                    <a:pt x="22738" y="236181"/>
                  </a:lnTo>
                  <a:lnTo>
                    <a:pt x="50480" y="206234"/>
                  </a:lnTo>
                  <a:lnTo>
                    <a:pt x="86335" y="185920"/>
                  </a:lnTo>
                  <a:lnTo>
                    <a:pt x="128192" y="177517"/>
                  </a:lnTo>
                  <a:lnTo>
                    <a:pt x="4773223" y="0"/>
                  </a:lnTo>
                  <a:lnTo>
                    <a:pt x="4815600" y="5183"/>
                  </a:lnTo>
                  <a:lnTo>
                    <a:pt x="4852901" y="22701"/>
                  </a:lnTo>
                  <a:lnTo>
                    <a:pt x="4882848" y="50443"/>
                  </a:lnTo>
                  <a:lnTo>
                    <a:pt x="4903162" y="86298"/>
                  </a:lnTo>
                  <a:lnTo>
                    <a:pt x="4911247" y="126575"/>
                  </a:lnTo>
                </a:path>
              </a:pathLst>
            </a:custGeom>
            <a:ln w="95249">
              <a:solidFill>
                <a:srgbClr val="000000"/>
              </a:solidFill>
            </a:ln>
          </p:spPr>
          <p:txBody>
            <a:bodyPr wrap="square" lIns="0" tIns="0" rIns="0" bIns="0" rtlCol="0"/>
            <a:lstStyle/>
            <a:p>
              <a:endParaRPr/>
            </a:p>
          </p:txBody>
        </p:sp>
        <p:sp>
          <p:nvSpPr>
            <p:cNvPr id="5" name="object 5"/>
            <p:cNvSpPr/>
            <p:nvPr/>
          </p:nvSpPr>
          <p:spPr>
            <a:xfrm>
              <a:off x="11202450" y="5855300"/>
              <a:ext cx="4948555" cy="1407160"/>
            </a:xfrm>
            <a:custGeom>
              <a:avLst/>
              <a:gdLst/>
              <a:ahLst/>
              <a:cxnLst/>
              <a:rect l="l" t="t" r="r" b="b"/>
              <a:pathLst>
                <a:path w="4948555" h="1407159">
                  <a:moveTo>
                    <a:pt x="4820322" y="1229355"/>
                  </a:moveTo>
                  <a:lnTo>
                    <a:pt x="175142" y="1406878"/>
                  </a:lnTo>
                  <a:lnTo>
                    <a:pt x="132764" y="1401695"/>
                  </a:lnTo>
                  <a:lnTo>
                    <a:pt x="95462" y="1384176"/>
                  </a:lnTo>
                  <a:lnTo>
                    <a:pt x="65514" y="1356433"/>
                  </a:lnTo>
                  <a:lnTo>
                    <a:pt x="45199" y="1320577"/>
                  </a:lnTo>
                  <a:lnTo>
                    <a:pt x="36796" y="1278718"/>
                  </a:lnTo>
                  <a:lnTo>
                    <a:pt x="0" y="315868"/>
                  </a:lnTo>
                  <a:lnTo>
                    <a:pt x="5183" y="273490"/>
                  </a:lnTo>
                  <a:lnTo>
                    <a:pt x="22702" y="236188"/>
                  </a:lnTo>
                  <a:lnTo>
                    <a:pt x="50445" y="206241"/>
                  </a:lnTo>
                  <a:lnTo>
                    <a:pt x="86301" y="185926"/>
                  </a:lnTo>
                  <a:lnTo>
                    <a:pt x="128160" y="177523"/>
                  </a:lnTo>
                  <a:lnTo>
                    <a:pt x="4773342" y="0"/>
                  </a:lnTo>
                  <a:lnTo>
                    <a:pt x="4815719" y="5183"/>
                  </a:lnTo>
                  <a:lnTo>
                    <a:pt x="4853021" y="22702"/>
                  </a:lnTo>
                  <a:lnTo>
                    <a:pt x="4882968" y="50445"/>
                  </a:lnTo>
                  <a:lnTo>
                    <a:pt x="4903283" y="86301"/>
                  </a:lnTo>
                  <a:lnTo>
                    <a:pt x="4911686" y="128160"/>
                  </a:lnTo>
                  <a:lnTo>
                    <a:pt x="4948484" y="1091010"/>
                  </a:lnTo>
                  <a:lnTo>
                    <a:pt x="4943300" y="1133388"/>
                  </a:lnTo>
                  <a:lnTo>
                    <a:pt x="4925780" y="1170690"/>
                  </a:lnTo>
                  <a:lnTo>
                    <a:pt x="4898037" y="1200638"/>
                  </a:lnTo>
                  <a:lnTo>
                    <a:pt x="4862181" y="1220952"/>
                  </a:lnTo>
                  <a:lnTo>
                    <a:pt x="4820322" y="1229355"/>
                  </a:lnTo>
                  <a:close/>
                </a:path>
              </a:pathLst>
            </a:custGeom>
            <a:solidFill>
              <a:srgbClr val="FFFFFF"/>
            </a:solidFill>
          </p:spPr>
          <p:txBody>
            <a:bodyPr wrap="square" lIns="0" tIns="0" rIns="0" bIns="0" rtlCol="0"/>
            <a:lstStyle/>
            <a:p>
              <a:endParaRPr/>
            </a:p>
          </p:txBody>
        </p:sp>
        <p:sp>
          <p:nvSpPr>
            <p:cNvPr id="6" name="object 6"/>
            <p:cNvSpPr/>
            <p:nvPr/>
          </p:nvSpPr>
          <p:spPr>
            <a:xfrm>
              <a:off x="11202455" y="5855305"/>
              <a:ext cx="4948555" cy="1405890"/>
            </a:xfrm>
            <a:custGeom>
              <a:avLst/>
              <a:gdLst/>
              <a:ahLst/>
              <a:cxnLst/>
              <a:rect l="l" t="t" r="r" b="b"/>
              <a:pathLst>
                <a:path w="4948555" h="1405890">
                  <a:moveTo>
                    <a:pt x="4948165" y="1092565"/>
                  </a:moveTo>
                  <a:lnTo>
                    <a:pt x="4943176" y="1133351"/>
                  </a:lnTo>
                  <a:lnTo>
                    <a:pt x="4925658" y="1170652"/>
                  </a:lnTo>
                  <a:lnTo>
                    <a:pt x="4897916" y="1200599"/>
                  </a:lnTo>
                  <a:lnTo>
                    <a:pt x="4862060" y="1220913"/>
                  </a:lnTo>
                  <a:lnTo>
                    <a:pt x="4829369" y="1227476"/>
                  </a:lnTo>
                </a:path>
                <a:path w="4948555" h="1405890">
                  <a:moveTo>
                    <a:pt x="165895" y="1405698"/>
                  </a:moveTo>
                  <a:lnTo>
                    <a:pt x="95495" y="1384131"/>
                  </a:lnTo>
                  <a:lnTo>
                    <a:pt x="65548" y="1356389"/>
                  </a:lnTo>
                  <a:lnTo>
                    <a:pt x="45234" y="1320534"/>
                  </a:lnTo>
                  <a:lnTo>
                    <a:pt x="36827" y="1278677"/>
                  </a:lnTo>
                  <a:lnTo>
                    <a:pt x="0" y="315854"/>
                  </a:lnTo>
                  <a:lnTo>
                    <a:pt x="5219" y="273482"/>
                  </a:lnTo>
                  <a:lnTo>
                    <a:pt x="22737" y="236181"/>
                  </a:lnTo>
                  <a:lnTo>
                    <a:pt x="50479" y="206234"/>
                  </a:lnTo>
                  <a:lnTo>
                    <a:pt x="86334" y="185920"/>
                  </a:lnTo>
                  <a:lnTo>
                    <a:pt x="128192" y="177517"/>
                  </a:lnTo>
                  <a:lnTo>
                    <a:pt x="4773223" y="0"/>
                  </a:lnTo>
                  <a:lnTo>
                    <a:pt x="4815599" y="5183"/>
                  </a:lnTo>
                  <a:lnTo>
                    <a:pt x="4852900" y="22701"/>
                  </a:lnTo>
                  <a:lnTo>
                    <a:pt x="4882847" y="50443"/>
                  </a:lnTo>
                  <a:lnTo>
                    <a:pt x="4903161" y="86299"/>
                  </a:lnTo>
                  <a:lnTo>
                    <a:pt x="4911250" y="126591"/>
                  </a:lnTo>
                </a:path>
              </a:pathLst>
            </a:custGeom>
            <a:ln w="95249">
              <a:solidFill>
                <a:srgbClr val="000000"/>
              </a:solidFill>
            </a:ln>
          </p:spPr>
          <p:txBody>
            <a:bodyPr wrap="square" lIns="0" tIns="0" rIns="0" bIns="0" rtlCol="0"/>
            <a:lstStyle/>
            <a:p>
              <a:endParaRPr/>
            </a:p>
          </p:txBody>
        </p:sp>
      </p:grpSp>
      <p:grpSp>
        <p:nvGrpSpPr>
          <p:cNvPr id="7" name="object 7"/>
          <p:cNvGrpSpPr/>
          <p:nvPr/>
        </p:nvGrpSpPr>
        <p:grpSpPr>
          <a:xfrm>
            <a:off x="9975736" y="0"/>
            <a:ext cx="8312784" cy="5715000"/>
            <a:chOff x="9975736" y="0"/>
            <a:chExt cx="8312784" cy="5715000"/>
          </a:xfrm>
        </p:grpSpPr>
        <p:pic>
          <p:nvPicPr>
            <p:cNvPr id="8" name="object 8"/>
            <p:cNvPicPr/>
            <p:nvPr/>
          </p:nvPicPr>
          <p:blipFill>
            <a:blip r:embed="rId2" cstate="print"/>
            <a:stretch>
              <a:fillRect/>
            </a:stretch>
          </p:blipFill>
          <p:spPr>
            <a:xfrm>
              <a:off x="9975736" y="0"/>
              <a:ext cx="8312262" cy="5715004"/>
            </a:xfrm>
            <a:prstGeom prst="rect">
              <a:avLst/>
            </a:prstGeom>
          </p:spPr>
        </p:pic>
        <p:sp>
          <p:nvSpPr>
            <p:cNvPr id="9" name="object 9"/>
            <p:cNvSpPr/>
            <p:nvPr/>
          </p:nvSpPr>
          <p:spPr>
            <a:xfrm>
              <a:off x="11817134" y="3507066"/>
              <a:ext cx="4231005" cy="1362075"/>
            </a:xfrm>
            <a:custGeom>
              <a:avLst/>
              <a:gdLst/>
              <a:ahLst/>
              <a:cxnLst/>
              <a:rect l="l" t="t" r="r" b="b"/>
              <a:pathLst>
                <a:path w="4231005" h="1362075">
                  <a:moveTo>
                    <a:pt x="4230865" y="62001"/>
                  </a:moveTo>
                  <a:lnTo>
                    <a:pt x="4223588" y="0"/>
                  </a:lnTo>
                  <a:lnTo>
                    <a:pt x="3284677" y="543407"/>
                  </a:lnTo>
                  <a:lnTo>
                    <a:pt x="2640063" y="612089"/>
                  </a:lnTo>
                  <a:lnTo>
                    <a:pt x="2632354" y="561365"/>
                  </a:lnTo>
                  <a:lnTo>
                    <a:pt x="2617165" y="508673"/>
                  </a:lnTo>
                  <a:lnTo>
                    <a:pt x="2594432" y="458762"/>
                  </a:lnTo>
                  <a:lnTo>
                    <a:pt x="2564650" y="412711"/>
                  </a:lnTo>
                  <a:lnTo>
                    <a:pt x="2528468" y="371513"/>
                  </a:lnTo>
                  <a:lnTo>
                    <a:pt x="2486634" y="336042"/>
                  </a:lnTo>
                  <a:lnTo>
                    <a:pt x="2440089" y="307060"/>
                  </a:lnTo>
                  <a:lnTo>
                    <a:pt x="2389784" y="285203"/>
                  </a:lnTo>
                  <a:lnTo>
                    <a:pt x="2336838" y="270941"/>
                  </a:lnTo>
                  <a:lnTo>
                    <a:pt x="2282367" y="264566"/>
                  </a:lnTo>
                  <a:lnTo>
                    <a:pt x="2264079" y="264223"/>
                  </a:lnTo>
                  <a:lnTo>
                    <a:pt x="2245779" y="264769"/>
                  </a:lnTo>
                  <a:lnTo>
                    <a:pt x="1097356" y="411962"/>
                  </a:lnTo>
                  <a:lnTo>
                    <a:pt x="1042746" y="424662"/>
                  </a:lnTo>
                  <a:lnTo>
                    <a:pt x="990638" y="445389"/>
                  </a:lnTo>
                  <a:lnTo>
                    <a:pt x="942225" y="473671"/>
                  </a:lnTo>
                  <a:lnTo>
                    <a:pt x="898588" y="508876"/>
                  </a:lnTo>
                  <a:lnTo>
                    <a:pt x="860691" y="550202"/>
                  </a:lnTo>
                  <a:lnTo>
                    <a:pt x="829411" y="596747"/>
                  </a:lnTo>
                  <a:lnTo>
                    <a:pt x="805434" y="647420"/>
                  </a:lnTo>
                  <a:lnTo>
                    <a:pt x="789305" y="701128"/>
                  </a:lnTo>
                  <a:lnTo>
                    <a:pt x="781380" y="756627"/>
                  </a:lnTo>
                  <a:lnTo>
                    <a:pt x="780605" y="775322"/>
                  </a:lnTo>
                  <a:lnTo>
                    <a:pt x="780757" y="794029"/>
                  </a:lnTo>
                  <a:lnTo>
                    <a:pt x="781685" y="810094"/>
                  </a:lnTo>
                  <a:lnTo>
                    <a:pt x="0" y="893368"/>
                  </a:lnTo>
                  <a:lnTo>
                    <a:pt x="9207" y="949833"/>
                  </a:lnTo>
                  <a:lnTo>
                    <a:pt x="789622" y="866736"/>
                  </a:lnTo>
                  <a:lnTo>
                    <a:pt x="869911" y="1361592"/>
                  </a:lnTo>
                  <a:lnTo>
                    <a:pt x="2711704" y="1145489"/>
                  </a:lnTo>
                  <a:lnTo>
                    <a:pt x="2647683" y="668883"/>
                  </a:lnTo>
                  <a:lnTo>
                    <a:pt x="3302978" y="599097"/>
                  </a:lnTo>
                  <a:lnTo>
                    <a:pt x="4230865" y="62001"/>
                  </a:lnTo>
                  <a:close/>
                </a:path>
              </a:pathLst>
            </a:custGeom>
            <a:solidFill>
              <a:srgbClr val="232323"/>
            </a:solidFill>
          </p:spPr>
          <p:txBody>
            <a:bodyPr wrap="square" lIns="0" tIns="0" rIns="0" bIns="0" rtlCol="0"/>
            <a:lstStyle/>
            <a:p>
              <a:endParaRPr/>
            </a:p>
          </p:txBody>
        </p:sp>
        <p:pic>
          <p:nvPicPr>
            <p:cNvPr id="10" name="object 10"/>
            <p:cNvPicPr/>
            <p:nvPr/>
          </p:nvPicPr>
          <p:blipFill>
            <a:blip r:embed="rId3" cstate="print"/>
            <a:stretch>
              <a:fillRect/>
            </a:stretch>
          </p:blipFill>
          <p:spPr>
            <a:xfrm>
              <a:off x="12161717" y="811379"/>
              <a:ext cx="4892656" cy="4452970"/>
            </a:xfrm>
            <a:prstGeom prst="rect">
              <a:avLst/>
            </a:prstGeom>
          </p:spPr>
        </p:pic>
      </p:grpSp>
      <p:sp>
        <p:nvSpPr>
          <p:cNvPr id="11" name="object 11"/>
          <p:cNvSpPr txBox="1">
            <a:spLocks noGrp="1"/>
          </p:cNvSpPr>
          <p:nvPr>
            <p:ph type="title"/>
          </p:nvPr>
        </p:nvSpPr>
        <p:spPr>
          <a:xfrm>
            <a:off x="533401" y="495300"/>
            <a:ext cx="9260964" cy="6405151"/>
          </a:xfrm>
          <a:prstGeom prst="rect">
            <a:avLst/>
          </a:prstGeom>
        </p:spPr>
        <p:txBody>
          <a:bodyPr vert="horz" wrap="square" lIns="0" tIns="12700" rIns="0" bIns="0" rtlCol="0">
            <a:spAutoFit/>
          </a:bodyPr>
          <a:lstStyle/>
          <a:p>
            <a:pPr marL="12700" marR="5080" algn="l">
              <a:lnSpc>
                <a:spcPct val="114599"/>
              </a:lnSpc>
              <a:spcBef>
                <a:spcPts val="100"/>
              </a:spcBef>
            </a:pPr>
            <a:r>
              <a:rPr lang="en-US" sz="2800" dirty="0">
                <a:solidFill>
                  <a:schemeClr val="tx1"/>
                </a:solidFill>
                <a:latin typeface="Verdana"/>
                <a:cs typeface="Verdana"/>
              </a:rPr>
              <a:t>Our system handles sensitive financial conversations, so key challenges include:</a:t>
            </a:r>
            <a:br>
              <a:rPr lang="en-US" sz="2800" dirty="0">
                <a:solidFill>
                  <a:schemeClr val="tx1"/>
                </a:solidFill>
                <a:latin typeface="Verdana"/>
                <a:cs typeface="Verdana"/>
              </a:rPr>
            </a:br>
            <a:br>
              <a:rPr lang="en-US" sz="2800" dirty="0">
                <a:solidFill>
                  <a:schemeClr val="tx1"/>
                </a:solidFill>
                <a:latin typeface="Verdana"/>
                <a:cs typeface="Verdana"/>
              </a:rPr>
            </a:br>
            <a:r>
              <a:rPr lang="en-US" sz="2800" dirty="0">
                <a:solidFill>
                  <a:schemeClr val="tx1"/>
                </a:solidFill>
                <a:latin typeface="Verdana"/>
                <a:cs typeface="Verdana"/>
              </a:rPr>
              <a:t>• Ensuring user data privacy and secure storage  </a:t>
            </a:r>
            <a:br>
              <a:rPr lang="en-US" sz="2800" dirty="0">
                <a:solidFill>
                  <a:schemeClr val="tx1"/>
                </a:solidFill>
                <a:latin typeface="Verdana"/>
                <a:cs typeface="Verdana"/>
              </a:rPr>
            </a:br>
            <a:r>
              <a:rPr lang="en-US" sz="2800" dirty="0">
                <a:solidFill>
                  <a:schemeClr val="tx1"/>
                </a:solidFill>
                <a:latin typeface="Verdana"/>
                <a:cs typeface="Verdana"/>
              </a:rPr>
              <a:t>• Accurately handling multilingual and code-mixed speech</a:t>
            </a:r>
            <a:br>
              <a:rPr lang="en-US" sz="2800" dirty="0">
                <a:solidFill>
                  <a:schemeClr val="tx1"/>
                </a:solidFill>
                <a:latin typeface="Verdana"/>
                <a:cs typeface="Verdana"/>
              </a:rPr>
            </a:br>
            <a:r>
              <a:rPr lang="en-US" sz="2800" dirty="0">
                <a:solidFill>
                  <a:schemeClr val="tx1"/>
                </a:solidFill>
                <a:latin typeface="Verdana"/>
                <a:cs typeface="Verdana"/>
              </a:rPr>
              <a:t>• Avoiding misinterpretation of financial discussions  </a:t>
            </a:r>
            <a:br>
              <a:rPr lang="en-US" sz="2800" dirty="0">
                <a:solidFill>
                  <a:schemeClr val="tx1"/>
                </a:solidFill>
                <a:latin typeface="Verdana"/>
                <a:cs typeface="Verdana"/>
              </a:rPr>
            </a:br>
            <a:r>
              <a:rPr lang="en-US" sz="2800" dirty="0">
                <a:solidFill>
                  <a:schemeClr val="tx1"/>
                </a:solidFill>
                <a:latin typeface="Verdana"/>
                <a:cs typeface="Verdana"/>
              </a:rPr>
              <a:t>• Maintaining transparency in AI-generated insights  </a:t>
            </a:r>
            <a:br>
              <a:rPr lang="en-US" sz="2800" dirty="0">
                <a:solidFill>
                  <a:schemeClr val="tx1"/>
                </a:solidFill>
                <a:latin typeface="Verdana"/>
                <a:cs typeface="Verdana"/>
              </a:rPr>
            </a:br>
            <a:br>
              <a:rPr lang="en-US" sz="2800" dirty="0">
                <a:solidFill>
                  <a:schemeClr val="tx1"/>
                </a:solidFill>
                <a:latin typeface="Verdana"/>
                <a:cs typeface="Verdana"/>
              </a:rPr>
            </a:br>
            <a:r>
              <a:rPr lang="en-US" sz="2800" dirty="0">
                <a:solidFill>
                  <a:schemeClr val="tx1"/>
                </a:solidFill>
                <a:latin typeface="Verdana"/>
                <a:cs typeface="Verdana"/>
              </a:rPr>
              <a:t>- Building trust is critical for adoption</a:t>
            </a:r>
            <a:endParaRPr sz="2800" dirty="0">
              <a:solidFill>
                <a:schemeClr val="tx1"/>
              </a:solidFill>
              <a:latin typeface="Verdana"/>
              <a:cs typeface="Verdana"/>
            </a:endParaRPr>
          </a:p>
        </p:txBody>
      </p:sp>
      <p:sp>
        <p:nvSpPr>
          <p:cNvPr id="12" name="object 12"/>
          <p:cNvSpPr txBox="1"/>
          <p:nvPr/>
        </p:nvSpPr>
        <p:spPr>
          <a:xfrm>
            <a:off x="9875603" y="7504033"/>
            <a:ext cx="7047865" cy="1776127"/>
          </a:xfrm>
          <a:prstGeom prst="rect">
            <a:avLst/>
          </a:prstGeom>
        </p:spPr>
        <p:txBody>
          <a:bodyPr vert="horz" wrap="square" lIns="0" tIns="107950" rIns="0" bIns="0" rtlCol="0">
            <a:spAutoFit/>
          </a:bodyPr>
          <a:lstStyle/>
          <a:p>
            <a:pPr marL="12700" marR="5080" indent="152400">
              <a:lnSpc>
                <a:spcPts val="6450"/>
              </a:lnSpc>
              <a:spcBef>
                <a:spcPts val="850"/>
              </a:spcBef>
            </a:pPr>
            <a:r>
              <a:rPr sz="5900" b="1" spc="-95" dirty="0">
                <a:solidFill>
                  <a:srgbClr val="002060"/>
                </a:solidFill>
                <a:latin typeface="Tahoma"/>
                <a:cs typeface="Tahoma"/>
              </a:rPr>
              <a:t>CONSIDERATIONS </a:t>
            </a:r>
            <a:r>
              <a:rPr sz="5900" b="1" spc="245" dirty="0">
                <a:solidFill>
                  <a:srgbClr val="002060"/>
                </a:solidFill>
                <a:latin typeface="Tahoma"/>
                <a:cs typeface="Tahoma"/>
              </a:rPr>
              <a:t>AND</a:t>
            </a:r>
            <a:r>
              <a:rPr sz="5900" b="1" spc="-440" dirty="0">
                <a:solidFill>
                  <a:srgbClr val="002060"/>
                </a:solidFill>
                <a:latin typeface="Tahoma"/>
                <a:cs typeface="Tahoma"/>
              </a:rPr>
              <a:t> </a:t>
            </a:r>
            <a:r>
              <a:rPr sz="5900" b="1" spc="55" dirty="0">
                <a:solidFill>
                  <a:srgbClr val="002060"/>
                </a:solidFill>
                <a:latin typeface="Tahoma"/>
                <a:cs typeface="Tahoma"/>
              </a:rPr>
              <a:t>CHALLENGES</a:t>
            </a:r>
            <a:endParaRPr sz="5900" dirty="0">
              <a:solidFill>
                <a:srgbClr val="002060"/>
              </a:solidFill>
              <a:latin typeface="Tahoma"/>
              <a:cs typeface="Tahoma"/>
            </a:endParaRPr>
          </a:p>
        </p:txBody>
      </p:sp>
      <p:sp>
        <p:nvSpPr>
          <p:cNvPr id="13" name="object 13"/>
          <p:cNvSpPr txBox="1"/>
          <p:nvPr/>
        </p:nvSpPr>
        <p:spPr>
          <a:xfrm rot="21480000">
            <a:off x="11913451" y="6166947"/>
            <a:ext cx="3610475" cy="828040"/>
          </a:xfrm>
          <a:prstGeom prst="rect">
            <a:avLst/>
          </a:prstGeom>
        </p:spPr>
        <p:txBody>
          <a:bodyPr vert="horz" wrap="square" lIns="0" tIns="0" rIns="0" bIns="0" rtlCol="0">
            <a:spAutoFit/>
          </a:bodyPr>
          <a:lstStyle/>
          <a:p>
            <a:pPr>
              <a:lnSpc>
                <a:spcPts val="6520"/>
              </a:lnSpc>
            </a:pPr>
            <a:r>
              <a:rPr sz="6500" b="1" spc="-145" dirty="0">
                <a:latin typeface="Tahoma"/>
                <a:cs typeface="Tahoma"/>
              </a:rPr>
              <a:t>ETHICAL</a:t>
            </a:r>
            <a:endParaRPr sz="6500">
              <a:latin typeface="Tahoma"/>
              <a:cs typeface="Tahoma"/>
            </a:endParaRPr>
          </a:p>
        </p:txBody>
      </p:sp>
      <p:sp>
        <p:nvSpPr>
          <p:cNvPr id="15" name="object 15"/>
          <p:cNvSpPr/>
          <p:nvPr/>
        </p:nvSpPr>
        <p:spPr>
          <a:xfrm>
            <a:off x="0" y="7245139"/>
            <a:ext cx="3277235" cy="3042285"/>
          </a:xfrm>
          <a:custGeom>
            <a:avLst/>
            <a:gdLst/>
            <a:ahLst/>
            <a:cxnLst/>
            <a:rect l="l" t="t" r="r" b="b"/>
            <a:pathLst>
              <a:path w="3277235" h="3042284">
                <a:moveTo>
                  <a:pt x="1579012" y="1403198"/>
                </a:moveTo>
                <a:lnTo>
                  <a:pt x="1914499" y="1588520"/>
                </a:lnTo>
                <a:lnTo>
                  <a:pt x="1835091" y="1313111"/>
                </a:lnTo>
                <a:lnTo>
                  <a:pt x="1837032" y="1310159"/>
                </a:lnTo>
                <a:lnTo>
                  <a:pt x="1839381" y="1307587"/>
                </a:lnTo>
                <a:lnTo>
                  <a:pt x="2137639" y="767654"/>
                </a:lnTo>
                <a:lnTo>
                  <a:pt x="2138512" y="764112"/>
                </a:lnTo>
                <a:lnTo>
                  <a:pt x="2140097" y="760963"/>
                </a:lnTo>
                <a:lnTo>
                  <a:pt x="2574013" y="635852"/>
                </a:lnTo>
                <a:lnTo>
                  <a:pt x="2880683" y="805257"/>
                </a:lnTo>
                <a:lnTo>
                  <a:pt x="2921495" y="819906"/>
                </a:lnTo>
                <a:lnTo>
                  <a:pt x="2963350" y="821046"/>
                </a:lnTo>
                <a:lnTo>
                  <a:pt x="3003209" y="809554"/>
                </a:lnTo>
                <a:lnTo>
                  <a:pt x="3038032" y="786305"/>
                </a:lnTo>
                <a:lnTo>
                  <a:pt x="3064780" y="752176"/>
                </a:lnTo>
                <a:lnTo>
                  <a:pt x="3261304" y="396410"/>
                </a:lnTo>
                <a:lnTo>
                  <a:pt x="3275954" y="355599"/>
                </a:lnTo>
                <a:lnTo>
                  <a:pt x="3277094" y="313744"/>
                </a:lnTo>
                <a:lnTo>
                  <a:pt x="3265602" y="273884"/>
                </a:lnTo>
                <a:lnTo>
                  <a:pt x="3242353" y="239061"/>
                </a:lnTo>
                <a:lnTo>
                  <a:pt x="3208224" y="212314"/>
                </a:lnTo>
                <a:lnTo>
                  <a:pt x="2852458" y="15789"/>
                </a:lnTo>
                <a:lnTo>
                  <a:pt x="2811647" y="1140"/>
                </a:lnTo>
                <a:lnTo>
                  <a:pt x="2769791" y="0"/>
                </a:lnTo>
                <a:lnTo>
                  <a:pt x="2729932" y="11492"/>
                </a:lnTo>
                <a:lnTo>
                  <a:pt x="2695109" y="34741"/>
                </a:lnTo>
                <a:lnTo>
                  <a:pt x="2668361" y="68870"/>
                </a:lnTo>
                <a:lnTo>
                  <a:pt x="2498892" y="375658"/>
                </a:lnTo>
                <a:lnTo>
                  <a:pt x="2064976" y="500769"/>
                </a:lnTo>
                <a:lnTo>
                  <a:pt x="1513849" y="196327"/>
                </a:lnTo>
                <a:lnTo>
                  <a:pt x="1479234" y="182103"/>
                </a:lnTo>
                <a:lnTo>
                  <a:pt x="1434403" y="174812"/>
                </a:lnTo>
                <a:lnTo>
                  <a:pt x="1389770" y="177572"/>
                </a:lnTo>
                <a:lnTo>
                  <a:pt x="1346997" y="189905"/>
                </a:lnTo>
                <a:lnTo>
                  <a:pt x="1307746" y="211330"/>
                </a:lnTo>
                <a:lnTo>
                  <a:pt x="1273679" y="241370"/>
                </a:lnTo>
                <a:lnTo>
                  <a:pt x="1246456" y="279544"/>
                </a:lnTo>
                <a:lnTo>
                  <a:pt x="951670" y="813193"/>
                </a:lnTo>
                <a:lnTo>
                  <a:pt x="933848" y="856560"/>
                </a:lnTo>
                <a:lnTo>
                  <a:pt x="926558" y="901391"/>
                </a:lnTo>
                <a:lnTo>
                  <a:pt x="929318" y="946024"/>
                </a:lnTo>
                <a:lnTo>
                  <a:pt x="941651" y="988797"/>
                </a:lnTo>
                <a:lnTo>
                  <a:pt x="963076" y="1028048"/>
                </a:lnTo>
                <a:lnTo>
                  <a:pt x="993116" y="1062115"/>
                </a:lnTo>
                <a:lnTo>
                  <a:pt x="1574713" y="1388285"/>
                </a:lnTo>
                <a:lnTo>
                  <a:pt x="1579012" y="1403198"/>
                </a:lnTo>
                <a:close/>
              </a:path>
              <a:path w="3277235" h="3042284">
                <a:moveTo>
                  <a:pt x="1513849" y="196327"/>
                </a:moveTo>
                <a:lnTo>
                  <a:pt x="2064976" y="500769"/>
                </a:lnTo>
                <a:lnTo>
                  <a:pt x="2062024" y="498828"/>
                </a:lnTo>
                <a:lnTo>
                  <a:pt x="2059452" y="496479"/>
                </a:lnTo>
                <a:lnTo>
                  <a:pt x="1522601" y="199924"/>
                </a:lnTo>
                <a:lnTo>
                  <a:pt x="1513849" y="196327"/>
                </a:lnTo>
                <a:close/>
              </a:path>
              <a:path w="3277235" h="3042284">
                <a:moveTo>
                  <a:pt x="1031290" y="1089338"/>
                </a:moveTo>
                <a:lnTo>
                  <a:pt x="1568141" y="1385893"/>
                </a:lnTo>
                <a:lnTo>
                  <a:pt x="1571564" y="1386701"/>
                </a:lnTo>
                <a:lnTo>
                  <a:pt x="1574713" y="1388285"/>
                </a:lnTo>
                <a:lnTo>
                  <a:pt x="1023585" y="1083843"/>
                </a:lnTo>
                <a:lnTo>
                  <a:pt x="1031290" y="1089338"/>
                </a:lnTo>
                <a:close/>
              </a:path>
              <a:path w="3277235" h="3042284">
                <a:moveTo>
                  <a:pt x="1324864" y="2799105"/>
                </a:moveTo>
                <a:lnTo>
                  <a:pt x="1764321" y="3041860"/>
                </a:lnTo>
                <a:lnTo>
                  <a:pt x="2428968" y="3041860"/>
                </a:lnTo>
                <a:lnTo>
                  <a:pt x="2797638" y="2374461"/>
                </a:lnTo>
                <a:lnTo>
                  <a:pt x="2817376" y="2329705"/>
                </a:lnTo>
                <a:lnTo>
                  <a:pt x="2828532" y="2283489"/>
                </a:lnTo>
                <a:lnTo>
                  <a:pt x="2831406" y="2236850"/>
                </a:lnTo>
                <a:lnTo>
                  <a:pt x="2826297" y="2190826"/>
                </a:lnTo>
                <a:lnTo>
                  <a:pt x="2813504" y="2146456"/>
                </a:lnTo>
                <a:lnTo>
                  <a:pt x="2793326" y="2104777"/>
                </a:lnTo>
                <a:lnTo>
                  <a:pt x="2766063" y="2066828"/>
                </a:lnTo>
                <a:lnTo>
                  <a:pt x="2732013" y="2033645"/>
                </a:lnTo>
                <a:lnTo>
                  <a:pt x="2691477" y="2006268"/>
                </a:lnTo>
                <a:lnTo>
                  <a:pt x="1980064" y="1613285"/>
                </a:lnTo>
                <a:lnTo>
                  <a:pt x="1931196" y="1593081"/>
                </a:lnTo>
                <a:lnTo>
                  <a:pt x="1914499" y="1588520"/>
                </a:lnTo>
                <a:lnTo>
                  <a:pt x="1579012" y="1403198"/>
                </a:lnTo>
                <a:lnTo>
                  <a:pt x="1654121" y="1663694"/>
                </a:lnTo>
                <a:lnTo>
                  <a:pt x="1642476" y="1676453"/>
                </a:lnTo>
                <a:lnTo>
                  <a:pt x="1631428" y="1689891"/>
                </a:lnTo>
                <a:lnTo>
                  <a:pt x="1218822" y="2430977"/>
                </a:lnTo>
                <a:lnTo>
                  <a:pt x="1198673" y="2479745"/>
                </a:lnTo>
                <a:lnTo>
                  <a:pt x="1194123" y="2496423"/>
                </a:lnTo>
                <a:lnTo>
                  <a:pt x="933625" y="2571532"/>
                </a:lnTo>
                <a:lnTo>
                  <a:pt x="1268994" y="2756789"/>
                </a:lnTo>
                <a:lnTo>
                  <a:pt x="1281822" y="2768472"/>
                </a:lnTo>
                <a:lnTo>
                  <a:pt x="1295294" y="2779540"/>
                </a:lnTo>
                <a:lnTo>
                  <a:pt x="1309584" y="2789811"/>
                </a:lnTo>
                <a:lnTo>
                  <a:pt x="1324864" y="2799105"/>
                </a:lnTo>
                <a:close/>
              </a:path>
              <a:path w="3277235" h="3042284">
                <a:moveTo>
                  <a:pt x="96938" y="2314269"/>
                </a:moveTo>
                <a:lnTo>
                  <a:pt x="432307" y="2499527"/>
                </a:lnTo>
                <a:lnTo>
                  <a:pt x="224604" y="1779156"/>
                </a:lnTo>
                <a:lnTo>
                  <a:pt x="226544" y="1776204"/>
                </a:lnTo>
                <a:lnTo>
                  <a:pt x="228893" y="1773632"/>
                </a:lnTo>
                <a:lnTo>
                  <a:pt x="525449" y="1236782"/>
                </a:lnTo>
                <a:lnTo>
                  <a:pt x="543270" y="1193414"/>
                </a:lnTo>
                <a:lnTo>
                  <a:pt x="550561" y="1148583"/>
                </a:lnTo>
                <a:lnTo>
                  <a:pt x="547800" y="1103950"/>
                </a:lnTo>
                <a:lnTo>
                  <a:pt x="535468" y="1061178"/>
                </a:lnTo>
                <a:lnTo>
                  <a:pt x="514042" y="1021927"/>
                </a:lnTo>
                <a:lnTo>
                  <a:pt x="484002" y="987859"/>
                </a:lnTo>
                <a:lnTo>
                  <a:pt x="445828" y="960637"/>
                </a:lnTo>
                <a:lnTo>
                  <a:pt x="0" y="714362"/>
                </a:lnTo>
                <a:lnTo>
                  <a:pt x="0" y="1978060"/>
                </a:lnTo>
                <a:lnTo>
                  <a:pt x="96938" y="2314269"/>
                </a:lnTo>
                <a:close/>
              </a:path>
              <a:path w="3277235" h="3042284">
                <a:moveTo>
                  <a:pt x="25699" y="3041860"/>
                </a:moveTo>
                <a:lnTo>
                  <a:pt x="687747" y="3041860"/>
                </a:lnTo>
                <a:lnTo>
                  <a:pt x="764937" y="2902123"/>
                </a:lnTo>
                <a:lnTo>
                  <a:pt x="1268994" y="2756789"/>
                </a:lnTo>
                <a:lnTo>
                  <a:pt x="933625" y="2571532"/>
                </a:lnTo>
                <a:lnTo>
                  <a:pt x="689882" y="2641810"/>
                </a:lnTo>
                <a:lnTo>
                  <a:pt x="96938" y="2314269"/>
                </a:lnTo>
                <a:lnTo>
                  <a:pt x="171994" y="2574583"/>
                </a:lnTo>
                <a:lnTo>
                  <a:pt x="2590" y="2881253"/>
                </a:lnTo>
                <a:lnTo>
                  <a:pt x="0" y="2888470"/>
                </a:lnTo>
                <a:lnTo>
                  <a:pt x="0" y="3006335"/>
                </a:lnTo>
                <a:lnTo>
                  <a:pt x="21542" y="3038602"/>
                </a:lnTo>
                <a:lnTo>
                  <a:pt x="25699" y="3041860"/>
                </a:lnTo>
                <a:close/>
              </a:path>
            </a:pathLst>
          </a:custGeom>
          <a:solidFill>
            <a:srgbClr val="000000"/>
          </a:solidFill>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09162" y="4808443"/>
            <a:ext cx="9869805" cy="2623282"/>
          </a:xfrm>
          <a:prstGeom prst="rect">
            <a:avLst/>
          </a:prstGeom>
        </p:spPr>
        <p:txBody>
          <a:bodyPr vert="horz" wrap="square" lIns="0" tIns="12700" rIns="0" bIns="0" rtlCol="0">
            <a:spAutoFit/>
          </a:bodyPr>
          <a:lstStyle/>
          <a:p>
            <a:pPr marL="12065" marR="5080" indent="-635" algn="ctr">
              <a:lnSpc>
                <a:spcPct val="114999"/>
              </a:lnSpc>
              <a:spcBef>
                <a:spcPts val="100"/>
              </a:spcBef>
            </a:pPr>
            <a:r>
              <a:rPr lang="en-US" sz="2500" spc="-70" dirty="0">
                <a:solidFill>
                  <a:srgbClr val="002060"/>
                </a:solidFill>
                <a:latin typeface="Verdana"/>
                <a:cs typeface="Verdana"/>
              </a:rPr>
              <a:t>AI can turn simple conversations into powerful financial insights. Our system helps people track commitments, plan better, and make smarter financial decisions. It improves financial awareness and reduces the chances of missing important discussions. This approach shows how AI can simplify everyday financial management and support better decision‑making. </a:t>
            </a:r>
            <a:endParaRPr sz="2500" dirty="0">
              <a:solidFill>
                <a:srgbClr val="002060"/>
              </a:solidFill>
              <a:latin typeface="Verdana"/>
              <a:cs typeface="Verdana"/>
            </a:endParaRPr>
          </a:p>
        </p:txBody>
      </p:sp>
      <p:grpSp>
        <p:nvGrpSpPr>
          <p:cNvPr id="3" name="object 3"/>
          <p:cNvGrpSpPr/>
          <p:nvPr/>
        </p:nvGrpSpPr>
        <p:grpSpPr>
          <a:xfrm>
            <a:off x="4840285" y="1623812"/>
            <a:ext cx="8607425" cy="2128520"/>
            <a:chOff x="4840285" y="1623812"/>
            <a:chExt cx="8607425" cy="2128520"/>
          </a:xfrm>
        </p:grpSpPr>
        <p:sp>
          <p:nvSpPr>
            <p:cNvPr id="4" name="object 4"/>
            <p:cNvSpPr/>
            <p:nvPr/>
          </p:nvSpPr>
          <p:spPr>
            <a:xfrm>
              <a:off x="5025273" y="1805959"/>
              <a:ext cx="8375015" cy="1901189"/>
            </a:xfrm>
            <a:custGeom>
              <a:avLst/>
              <a:gdLst/>
              <a:ahLst/>
              <a:cxnLst/>
              <a:rect l="l" t="t" r="r" b="b"/>
              <a:pathLst>
                <a:path w="8375015" h="1901189">
                  <a:moveTo>
                    <a:pt x="8246664" y="1592825"/>
                  </a:moveTo>
                  <a:lnTo>
                    <a:pt x="189032" y="1900761"/>
                  </a:lnTo>
                  <a:lnTo>
                    <a:pt x="162816" y="1899175"/>
                  </a:lnTo>
                  <a:lnTo>
                    <a:pt x="137651" y="1892567"/>
                  </a:lnTo>
                  <a:lnTo>
                    <a:pt x="93317" y="1865333"/>
                  </a:lnTo>
                  <a:lnTo>
                    <a:pt x="62779" y="1823207"/>
                  </a:lnTo>
                  <a:lnTo>
                    <a:pt x="50687" y="1772601"/>
                  </a:lnTo>
                  <a:lnTo>
                    <a:pt x="0" y="446280"/>
                  </a:lnTo>
                  <a:lnTo>
                    <a:pt x="1586" y="420064"/>
                  </a:lnTo>
                  <a:lnTo>
                    <a:pt x="19562" y="371496"/>
                  </a:lnTo>
                  <a:lnTo>
                    <a:pt x="55087" y="333149"/>
                  </a:lnTo>
                  <a:lnTo>
                    <a:pt x="102141" y="311517"/>
                  </a:lnTo>
                  <a:lnTo>
                    <a:pt x="8185792" y="0"/>
                  </a:lnTo>
                  <a:lnTo>
                    <a:pt x="8212009" y="1585"/>
                  </a:lnTo>
                  <a:lnTo>
                    <a:pt x="8260577" y="19562"/>
                  </a:lnTo>
                  <a:lnTo>
                    <a:pt x="8298924" y="55087"/>
                  </a:lnTo>
                  <a:lnTo>
                    <a:pt x="8320556" y="102141"/>
                  </a:lnTo>
                  <a:lnTo>
                    <a:pt x="8374826" y="1454480"/>
                  </a:lnTo>
                  <a:lnTo>
                    <a:pt x="8373240" y="1480696"/>
                  </a:lnTo>
                  <a:lnTo>
                    <a:pt x="8355263" y="1529264"/>
                  </a:lnTo>
                  <a:lnTo>
                    <a:pt x="8319738" y="1567612"/>
                  </a:lnTo>
                  <a:lnTo>
                    <a:pt x="8272684" y="1589243"/>
                  </a:lnTo>
                  <a:lnTo>
                    <a:pt x="8246664" y="1592825"/>
                  </a:lnTo>
                  <a:close/>
                </a:path>
              </a:pathLst>
            </a:custGeom>
            <a:solidFill>
              <a:srgbClr val="000000"/>
            </a:solidFill>
          </p:spPr>
          <p:txBody>
            <a:bodyPr wrap="square" lIns="0" tIns="0" rIns="0" bIns="0" rtlCol="0"/>
            <a:lstStyle/>
            <a:p>
              <a:endParaRPr/>
            </a:p>
          </p:txBody>
        </p:sp>
        <p:sp>
          <p:nvSpPr>
            <p:cNvPr id="5" name="object 5"/>
            <p:cNvSpPr/>
            <p:nvPr/>
          </p:nvSpPr>
          <p:spPr>
            <a:xfrm>
              <a:off x="5025282" y="1805962"/>
              <a:ext cx="8375015" cy="1898650"/>
            </a:xfrm>
            <a:custGeom>
              <a:avLst/>
              <a:gdLst/>
              <a:ahLst/>
              <a:cxnLst/>
              <a:rect l="l" t="t" r="r" b="b"/>
              <a:pathLst>
                <a:path w="8375015" h="1898650">
                  <a:moveTo>
                    <a:pt x="160613" y="1898527"/>
                  </a:moveTo>
                  <a:lnTo>
                    <a:pt x="114335" y="1881152"/>
                  </a:lnTo>
                  <a:lnTo>
                    <a:pt x="75989" y="1845628"/>
                  </a:lnTo>
                  <a:lnTo>
                    <a:pt x="54358" y="1798575"/>
                  </a:lnTo>
                  <a:lnTo>
                    <a:pt x="0" y="446264"/>
                  </a:lnTo>
                  <a:lnTo>
                    <a:pt x="1676" y="420054"/>
                  </a:lnTo>
                  <a:lnTo>
                    <a:pt x="19652" y="371487"/>
                  </a:lnTo>
                  <a:lnTo>
                    <a:pt x="55175" y="333140"/>
                  </a:lnTo>
                  <a:lnTo>
                    <a:pt x="102228" y="311510"/>
                  </a:lnTo>
                  <a:lnTo>
                    <a:pt x="8185680" y="0"/>
                  </a:lnTo>
                  <a:lnTo>
                    <a:pt x="8211895" y="1585"/>
                  </a:lnTo>
                  <a:lnTo>
                    <a:pt x="8260462" y="19561"/>
                  </a:lnTo>
                  <a:lnTo>
                    <a:pt x="8298809" y="55085"/>
                  </a:lnTo>
                  <a:lnTo>
                    <a:pt x="8320440" y="102138"/>
                  </a:lnTo>
                  <a:lnTo>
                    <a:pt x="8374709" y="1454444"/>
                  </a:lnTo>
                  <a:lnTo>
                    <a:pt x="8373122" y="1480660"/>
                  </a:lnTo>
                  <a:lnTo>
                    <a:pt x="8355146" y="1529227"/>
                  </a:lnTo>
                  <a:lnTo>
                    <a:pt x="8319622" y="1567574"/>
                  </a:lnTo>
                  <a:lnTo>
                    <a:pt x="8274806" y="1588429"/>
                  </a:lnTo>
                </a:path>
              </a:pathLst>
            </a:custGeom>
            <a:ln w="95249">
              <a:solidFill>
                <a:srgbClr val="000000"/>
              </a:solidFill>
            </a:ln>
          </p:spPr>
          <p:txBody>
            <a:bodyPr wrap="square" lIns="0" tIns="0" rIns="0" bIns="0" rtlCol="0"/>
            <a:lstStyle/>
            <a:p>
              <a:endParaRPr/>
            </a:p>
          </p:txBody>
        </p:sp>
        <p:sp>
          <p:nvSpPr>
            <p:cNvPr id="6" name="object 6"/>
            <p:cNvSpPr/>
            <p:nvPr/>
          </p:nvSpPr>
          <p:spPr>
            <a:xfrm>
              <a:off x="4887902" y="1671432"/>
              <a:ext cx="8375015" cy="1901189"/>
            </a:xfrm>
            <a:custGeom>
              <a:avLst/>
              <a:gdLst/>
              <a:ahLst/>
              <a:cxnLst/>
              <a:rect l="l" t="t" r="r" b="b"/>
              <a:pathLst>
                <a:path w="8375015" h="1901189">
                  <a:moveTo>
                    <a:pt x="8246664" y="1592825"/>
                  </a:moveTo>
                  <a:lnTo>
                    <a:pt x="189032" y="1900761"/>
                  </a:lnTo>
                  <a:lnTo>
                    <a:pt x="162816" y="1899175"/>
                  </a:lnTo>
                  <a:lnTo>
                    <a:pt x="137651" y="1892567"/>
                  </a:lnTo>
                  <a:lnTo>
                    <a:pt x="93317" y="1865333"/>
                  </a:lnTo>
                  <a:lnTo>
                    <a:pt x="62779" y="1823207"/>
                  </a:lnTo>
                  <a:lnTo>
                    <a:pt x="50687" y="1772601"/>
                  </a:lnTo>
                  <a:lnTo>
                    <a:pt x="0" y="446280"/>
                  </a:lnTo>
                  <a:lnTo>
                    <a:pt x="1586" y="420064"/>
                  </a:lnTo>
                  <a:lnTo>
                    <a:pt x="19562" y="371496"/>
                  </a:lnTo>
                  <a:lnTo>
                    <a:pt x="55087" y="333149"/>
                  </a:lnTo>
                  <a:lnTo>
                    <a:pt x="102141" y="311517"/>
                  </a:lnTo>
                  <a:lnTo>
                    <a:pt x="8185792" y="0"/>
                  </a:lnTo>
                  <a:lnTo>
                    <a:pt x="8212009" y="1585"/>
                  </a:lnTo>
                  <a:lnTo>
                    <a:pt x="8260577" y="19562"/>
                  </a:lnTo>
                  <a:lnTo>
                    <a:pt x="8298924" y="55087"/>
                  </a:lnTo>
                  <a:lnTo>
                    <a:pt x="8320556" y="102141"/>
                  </a:lnTo>
                  <a:lnTo>
                    <a:pt x="8374826" y="1454480"/>
                  </a:lnTo>
                  <a:lnTo>
                    <a:pt x="8373240" y="1480697"/>
                  </a:lnTo>
                  <a:lnTo>
                    <a:pt x="8355262" y="1529264"/>
                  </a:lnTo>
                  <a:lnTo>
                    <a:pt x="8319737" y="1567612"/>
                  </a:lnTo>
                  <a:lnTo>
                    <a:pt x="8272683" y="1589243"/>
                  </a:lnTo>
                  <a:lnTo>
                    <a:pt x="8246664" y="1592825"/>
                  </a:lnTo>
                  <a:close/>
                </a:path>
              </a:pathLst>
            </a:custGeom>
            <a:solidFill>
              <a:srgbClr val="D4E74E"/>
            </a:solidFill>
          </p:spPr>
          <p:txBody>
            <a:bodyPr wrap="square" lIns="0" tIns="0" rIns="0" bIns="0" rtlCol="0"/>
            <a:lstStyle/>
            <a:p>
              <a:endParaRPr/>
            </a:p>
          </p:txBody>
        </p:sp>
        <p:sp>
          <p:nvSpPr>
            <p:cNvPr id="7" name="object 7"/>
            <p:cNvSpPr/>
            <p:nvPr/>
          </p:nvSpPr>
          <p:spPr>
            <a:xfrm>
              <a:off x="4887910" y="1671437"/>
              <a:ext cx="8375015" cy="1898650"/>
            </a:xfrm>
            <a:custGeom>
              <a:avLst/>
              <a:gdLst/>
              <a:ahLst/>
              <a:cxnLst/>
              <a:rect l="l" t="t" r="r" b="b"/>
              <a:pathLst>
                <a:path w="8375015" h="1898650">
                  <a:moveTo>
                    <a:pt x="160611" y="1898527"/>
                  </a:moveTo>
                  <a:lnTo>
                    <a:pt x="114335" y="1881152"/>
                  </a:lnTo>
                  <a:lnTo>
                    <a:pt x="75989" y="1845628"/>
                  </a:lnTo>
                  <a:lnTo>
                    <a:pt x="54358" y="1798575"/>
                  </a:lnTo>
                  <a:lnTo>
                    <a:pt x="0" y="446264"/>
                  </a:lnTo>
                  <a:lnTo>
                    <a:pt x="1676" y="420054"/>
                  </a:lnTo>
                  <a:lnTo>
                    <a:pt x="19652" y="371487"/>
                  </a:lnTo>
                  <a:lnTo>
                    <a:pt x="55175" y="333140"/>
                  </a:lnTo>
                  <a:lnTo>
                    <a:pt x="102228" y="311510"/>
                  </a:lnTo>
                  <a:lnTo>
                    <a:pt x="8185680" y="0"/>
                  </a:lnTo>
                  <a:lnTo>
                    <a:pt x="8211895" y="1585"/>
                  </a:lnTo>
                  <a:lnTo>
                    <a:pt x="8260462" y="19562"/>
                  </a:lnTo>
                  <a:lnTo>
                    <a:pt x="8298809" y="55085"/>
                  </a:lnTo>
                  <a:lnTo>
                    <a:pt x="8320440" y="102138"/>
                  </a:lnTo>
                  <a:lnTo>
                    <a:pt x="8374707" y="1454444"/>
                  </a:lnTo>
                  <a:lnTo>
                    <a:pt x="8373122" y="1480660"/>
                  </a:lnTo>
                  <a:lnTo>
                    <a:pt x="8355146" y="1529227"/>
                  </a:lnTo>
                  <a:lnTo>
                    <a:pt x="8319622" y="1567573"/>
                  </a:lnTo>
                  <a:lnTo>
                    <a:pt x="8274806" y="1588429"/>
                  </a:lnTo>
                </a:path>
              </a:pathLst>
            </a:custGeom>
            <a:ln w="95249">
              <a:solidFill>
                <a:srgbClr val="000000"/>
              </a:solidFill>
            </a:ln>
          </p:spPr>
          <p:txBody>
            <a:bodyPr wrap="square" lIns="0" tIns="0" rIns="0" bIns="0" rtlCol="0"/>
            <a:lstStyle/>
            <a:p>
              <a:endParaRPr/>
            </a:p>
          </p:txBody>
        </p:sp>
      </p:grpSp>
      <p:sp>
        <p:nvSpPr>
          <p:cNvPr id="8" name="object 8"/>
          <p:cNvSpPr txBox="1"/>
          <p:nvPr/>
        </p:nvSpPr>
        <p:spPr>
          <a:xfrm rot="21480000">
            <a:off x="5452557" y="2124934"/>
            <a:ext cx="7387214" cy="1073150"/>
          </a:xfrm>
          <a:prstGeom prst="rect">
            <a:avLst/>
          </a:prstGeom>
        </p:spPr>
        <p:txBody>
          <a:bodyPr vert="horz" wrap="square" lIns="0" tIns="0" rIns="0" bIns="0" rtlCol="0">
            <a:spAutoFit/>
          </a:bodyPr>
          <a:lstStyle/>
          <a:p>
            <a:pPr>
              <a:lnSpc>
                <a:spcPts val="8450"/>
              </a:lnSpc>
            </a:pPr>
            <a:r>
              <a:rPr sz="8450" b="1" spc="-145" dirty="0">
                <a:latin typeface="Tahoma"/>
                <a:cs typeface="Tahoma"/>
              </a:rPr>
              <a:t>C</a:t>
            </a:r>
            <a:r>
              <a:rPr sz="8450" b="1" spc="-35" dirty="0">
                <a:latin typeface="Tahoma"/>
                <a:cs typeface="Tahoma"/>
              </a:rPr>
              <a:t>O</a:t>
            </a:r>
            <a:r>
              <a:rPr sz="8450" b="1" spc="-50" dirty="0">
                <a:latin typeface="Tahoma"/>
                <a:cs typeface="Tahoma"/>
              </a:rPr>
              <a:t>N</a:t>
            </a:r>
            <a:r>
              <a:rPr sz="8450" b="1" spc="-30" dirty="0">
                <a:latin typeface="Tahoma"/>
                <a:cs typeface="Tahoma"/>
              </a:rPr>
              <a:t>C</a:t>
            </a:r>
            <a:r>
              <a:rPr sz="8450" b="1" spc="-100" dirty="0">
                <a:latin typeface="Tahoma"/>
                <a:cs typeface="Tahoma"/>
              </a:rPr>
              <a:t>L</a:t>
            </a:r>
            <a:r>
              <a:rPr sz="8450" b="1" spc="-45" dirty="0">
                <a:latin typeface="Tahoma"/>
                <a:cs typeface="Tahoma"/>
              </a:rPr>
              <a:t>U</a:t>
            </a:r>
            <a:r>
              <a:rPr sz="8450" b="1" spc="-55" dirty="0">
                <a:latin typeface="Tahoma"/>
                <a:cs typeface="Tahoma"/>
              </a:rPr>
              <a:t>S</a:t>
            </a:r>
            <a:r>
              <a:rPr sz="8450" b="1" spc="-210" dirty="0">
                <a:latin typeface="Tahoma"/>
                <a:cs typeface="Tahoma"/>
              </a:rPr>
              <a:t>I</a:t>
            </a:r>
            <a:r>
              <a:rPr sz="8450" b="1" spc="-35" dirty="0">
                <a:latin typeface="Tahoma"/>
                <a:cs typeface="Tahoma"/>
              </a:rPr>
              <a:t>O</a:t>
            </a:r>
            <a:r>
              <a:rPr sz="8450" b="1" spc="290" dirty="0">
                <a:latin typeface="Tahoma"/>
                <a:cs typeface="Tahoma"/>
              </a:rPr>
              <a:t>N</a:t>
            </a:r>
            <a:endParaRPr sz="8450">
              <a:latin typeface="Tahoma"/>
              <a:cs typeface="Tahoma"/>
            </a:endParaRPr>
          </a:p>
        </p:txBody>
      </p:sp>
      <p:sp>
        <p:nvSpPr>
          <p:cNvPr id="9" name="object 9"/>
          <p:cNvSpPr/>
          <p:nvPr/>
        </p:nvSpPr>
        <p:spPr>
          <a:xfrm>
            <a:off x="14922245" y="0"/>
            <a:ext cx="3180715" cy="2944495"/>
          </a:xfrm>
          <a:custGeom>
            <a:avLst/>
            <a:gdLst/>
            <a:ahLst/>
            <a:cxnLst/>
            <a:rect l="l" t="t" r="r" b="b"/>
            <a:pathLst>
              <a:path w="3180715" h="2944495">
                <a:moveTo>
                  <a:pt x="1909554" y="1462550"/>
                </a:moveTo>
                <a:lnTo>
                  <a:pt x="2237290" y="1391802"/>
                </a:lnTo>
                <a:lnTo>
                  <a:pt x="2101346" y="1602306"/>
                </a:lnTo>
                <a:lnTo>
                  <a:pt x="2102227" y="1605264"/>
                </a:lnTo>
                <a:lnTo>
                  <a:pt x="2103546" y="1608006"/>
                </a:lnTo>
                <a:lnTo>
                  <a:pt x="2217266" y="2134801"/>
                </a:lnTo>
                <a:lnTo>
                  <a:pt x="2217104" y="2137984"/>
                </a:lnTo>
                <a:lnTo>
                  <a:pt x="2217638" y="2141017"/>
                </a:lnTo>
                <a:lnTo>
                  <a:pt x="2549563" y="2354784"/>
                </a:lnTo>
                <a:lnTo>
                  <a:pt x="2849148" y="2290113"/>
                </a:lnTo>
                <a:lnTo>
                  <a:pt x="2896191" y="2289478"/>
                </a:lnTo>
                <a:lnTo>
                  <a:pt x="2938371" y="2306333"/>
                </a:lnTo>
                <a:lnTo>
                  <a:pt x="2971145" y="2337751"/>
                </a:lnTo>
                <a:lnTo>
                  <a:pt x="2989973" y="2380807"/>
                </a:lnTo>
                <a:lnTo>
                  <a:pt x="3064903" y="2727915"/>
                </a:lnTo>
                <a:lnTo>
                  <a:pt x="3065514" y="2774904"/>
                </a:lnTo>
                <a:lnTo>
                  <a:pt x="3048618" y="2817044"/>
                </a:lnTo>
                <a:lnTo>
                  <a:pt x="3017147" y="2849798"/>
                </a:lnTo>
                <a:lnTo>
                  <a:pt x="2974032" y="2868626"/>
                </a:lnTo>
                <a:lnTo>
                  <a:pt x="2626486" y="2943651"/>
                </a:lnTo>
                <a:lnTo>
                  <a:pt x="2579442" y="2944285"/>
                </a:lnTo>
                <a:lnTo>
                  <a:pt x="2537263" y="2927431"/>
                </a:lnTo>
                <a:lnTo>
                  <a:pt x="2504488" y="2896013"/>
                </a:lnTo>
                <a:lnTo>
                  <a:pt x="2485660" y="2852957"/>
                </a:lnTo>
                <a:lnTo>
                  <a:pt x="2421045" y="2553634"/>
                </a:lnTo>
                <a:lnTo>
                  <a:pt x="2089120" y="2339867"/>
                </a:lnTo>
                <a:lnTo>
                  <a:pt x="1551874" y="2455842"/>
                </a:lnTo>
                <a:lnTo>
                  <a:pt x="1511447" y="2459046"/>
                </a:lnTo>
                <a:lnTo>
                  <a:pt x="1466163" y="2450503"/>
                </a:lnTo>
                <a:lnTo>
                  <a:pt x="1425130" y="2430951"/>
                </a:lnTo>
                <a:lnTo>
                  <a:pt x="1390367" y="2401689"/>
                </a:lnTo>
                <a:lnTo>
                  <a:pt x="1363893" y="2364019"/>
                </a:lnTo>
                <a:lnTo>
                  <a:pt x="1347727" y="2319239"/>
                </a:lnTo>
                <a:lnTo>
                  <a:pt x="1235331" y="1798577"/>
                </a:lnTo>
                <a:lnTo>
                  <a:pt x="1231586" y="1751116"/>
                </a:lnTo>
                <a:lnTo>
                  <a:pt x="1240162" y="1705879"/>
                </a:lnTo>
                <a:lnTo>
                  <a:pt x="1259759" y="1664883"/>
                </a:lnTo>
                <a:lnTo>
                  <a:pt x="1289072" y="1630145"/>
                </a:lnTo>
                <a:lnTo>
                  <a:pt x="1326799" y="1603682"/>
                </a:lnTo>
                <a:lnTo>
                  <a:pt x="1364947" y="1589924"/>
                </a:lnTo>
                <a:lnTo>
                  <a:pt x="1902194" y="1473948"/>
                </a:lnTo>
                <a:lnTo>
                  <a:pt x="1909554" y="1462550"/>
                </a:lnTo>
                <a:close/>
              </a:path>
              <a:path w="3180715" h="2944495">
                <a:moveTo>
                  <a:pt x="1551874" y="2455842"/>
                </a:moveTo>
                <a:lnTo>
                  <a:pt x="2089120" y="2339867"/>
                </a:lnTo>
                <a:lnTo>
                  <a:pt x="2086158" y="2340749"/>
                </a:lnTo>
                <a:lnTo>
                  <a:pt x="2083411" y="2342068"/>
                </a:lnTo>
                <a:lnTo>
                  <a:pt x="1558965" y="2455281"/>
                </a:lnTo>
                <a:lnTo>
                  <a:pt x="1551874" y="2455842"/>
                </a:lnTo>
                <a:close/>
              </a:path>
              <a:path w="3180715" h="2944495">
                <a:moveTo>
                  <a:pt x="1370803" y="1587812"/>
                </a:moveTo>
                <a:lnTo>
                  <a:pt x="1896524" y="1474324"/>
                </a:lnTo>
                <a:lnTo>
                  <a:pt x="1899595" y="1474509"/>
                </a:lnTo>
                <a:lnTo>
                  <a:pt x="1364947" y="1589924"/>
                </a:lnTo>
                <a:lnTo>
                  <a:pt x="1370803" y="1587812"/>
                </a:lnTo>
                <a:close/>
              </a:path>
              <a:path w="3180715" h="2944495">
                <a:moveTo>
                  <a:pt x="2048569" y="230558"/>
                </a:moveTo>
                <a:lnTo>
                  <a:pt x="2743661" y="80508"/>
                </a:lnTo>
                <a:lnTo>
                  <a:pt x="2791384" y="75124"/>
                </a:lnTo>
                <a:lnTo>
                  <a:pt x="2837793" y="79213"/>
                </a:lnTo>
                <a:lnTo>
                  <a:pt x="2881755" y="92046"/>
                </a:lnTo>
                <a:lnTo>
                  <a:pt x="2922141" y="112895"/>
                </a:lnTo>
                <a:lnTo>
                  <a:pt x="2957820" y="141033"/>
                </a:lnTo>
                <a:lnTo>
                  <a:pt x="2987662" y="175731"/>
                </a:lnTo>
                <a:lnTo>
                  <a:pt x="3010536" y="216262"/>
                </a:lnTo>
                <a:lnTo>
                  <a:pt x="3025311" y="261897"/>
                </a:lnTo>
                <a:lnTo>
                  <a:pt x="3175172" y="956113"/>
                </a:lnTo>
                <a:lnTo>
                  <a:pt x="3180537" y="1003779"/>
                </a:lnTo>
                <a:lnTo>
                  <a:pt x="3176420" y="1050137"/>
                </a:lnTo>
                <a:lnTo>
                  <a:pt x="3163549" y="1094055"/>
                </a:lnTo>
                <a:lnTo>
                  <a:pt x="3142655" y="1134406"/>
                </a:lnTo>
                <a:lnTo>
                  <a:pt x="3114466" y="1170058"/>
                </a:lnTo>
                <a:lnTo>
                  <a:pt x="3079712" y="1199884"/>
                </a:lnTo>
                <a:lnTo>
                  <a:pt x="3039123" y="1222753"/>
                </a:lnTo>
                <a:lnTo>
                  <a:pt x="2993428" y="1237535"/>
                </a:lnTo>
                <a:lnTo>
                  <a:pt x="2298453" y="1387560"/>
                </a:lnTo>
                <a:lnTo>
                  <a:pt x="2252426" y="1392182"/>
                </a:lnTo>
                <a:lnTo>
                  <a:pt x="2237290" y="1391802"/>
                </a:lnTo>
                <a:lnTo>
                  <a:pt x="1909554" y="1462550"/>
                </a:lnTo>
                <a:lnTo>
                  <a:pt x="2038138" y="1263444"/>
                </a:lnTo>
                <a:lnTo>
                  <a:pt x="2031600" y="1249840"/>
                </a:lnTo>
                <a:lnTo>
                  <a:pt x="2025733" y="1235818"/>
                </a:lnTo>
                <a:lnTo>
                  <a:pt x="1866640" y="510217"/>
                </a:lnTo>
                <a:lnTo>
                  <a:pt x="1862358" y="466081"/>
                </a:lnTo>
                <a:lnTo>
                  <a:pt x="1862751" y="450980"/>
                </a:lnTo>
                <a:lnTo>
                  <a:pt x="1663483" y="322647"/>
                </a:lnTo>
                <a:lnTo>
                  <a:pt x="1991103" y="251924"/>
                </a:lnTo>
                <a:lnTo>
                  <a:pt x="2004793" y="245372"/>
                </a:lnTo>
                <a:lnTo>
                  <a:pt x="2018868" y="239497"/>
                </a:lnTo>
                <a:lnTo>
                  <a:pt x="2033427" y="234494"/>
                </a:lnTo>
                <a:lnTo>
                  <a:pt x="2048569" y="230558"/>
                </a:lnTo>
                <a:close/>
              </a:path>
              <a:path w="3180715" h="2944495">
                <a:moveTo>
                  <a:pt x="897786" y="327610"/>
                </a:moveTo>
                <a:lnTo>
                  <a:pt x="1225407" y="256886"/>
                </a:lnTo>
                <a:lnTo>
                  <a:pt x="869825" y="807488"/>
                </a:lnTo>
                <a:lnTo>
                  <a:pt x="870706" y="810446"/>
                </a:lnTo>
                <a:lnTo>
                  <a:pt x="872026" y="813189"/>
                </a:lnTo>
                <a:lnTo>
                  <a:pt x="985096" y="1336975"/>
                </a:lnTo>
                <a:lnTo>
                  <a:pt x="988039" y="1374270"/>
                </a:lnTo>
                <a:lnTo>
                  <a:pt x="988817" y="1384562"/>
                </a:lnTo>
                <a:lnTo>
                  <a:pt x="980200" y="1429808"/>
                </a:lnTo>
                <a:lnTo>
                  <a:pt x="963298" y="1465167"/>
                </a:lnTo>
                <a:lnTo>
                  <a:pt x="934493" y="1501689"/>
                </a:lnTo>
                <a:lnTo>
                  <a:pt x="893379" y="1532044"/>
                </a:lnTo>
                <a:lnTo>
                  <a:pt x="892793" y="1532171"/>
                </a:lnTo>
                <a:lnTo>
                  <a:pt x="847954" y="1548342"/>
                </a:lnTo>
                <a:lnTo>
                  <a:pt x="327378" y="1660719"/>
                </a:lnTo>
                <a:lnTo>
                  <a:pt x="279861" y="1664485"/>
                </a:lnTo>
                <a:lnTo>
                  <a:pt x="234576" y="1655941"/>
                </a:lnTo>
                <a:lnTo>
                  <a:pt x="193544" y="1636389"/>
                </a:lnTo>
                <a:lnTo>
                  <a:pt x="158909" y="1607235"/>
                </a:lnTo>
                <a:lnTo>
                  <a:pt x="132307" y="1569457"/>
                </a:lnTo>
                <a:lnTo>
                  <a:pt x="811" y="966840"/>
                </a:lnTo>
                <a:lnTo>
                  <a:pt x="0" y="956554"/>
                </a:lnTo>
                <a:lnTo>
                  <a:pt x="8576" y="911317"/>
                </a:lnTo>
                <a:lnTo>
                  <a:pt x="28172" y="870321"/>
                </a:lnTo>
                <a:lnTo>
                  <a:pt x="57485" y="835584"/>
                </a:lnTo>
                <a:lnTo>
                  <a:pt x="95213" y="809120"/>
                </a:lnTo>
                <a:lnTo>
                  <a:pt x="133361" y="795362"/>
                </a:lnTo>
                <a:lnTo>
                  <a:pt x="670607" y="679387"/>
                </a:lnTo>
                <a:lnTo>
                  <a:pt x="897786" y="327610"/>
                </a:lnTo>
                <a:close/>
              </a:path>
              <a:path w="3180715" h="2944495">
                <a:moveTo>
                  <a:pt x="140052" y="792949"/>
                </a:moveTo>
                <a:lnTo>
                  <a:pt x="664499" y="679736"/>
                </a:lnTo>
                <a:lnTo>
                  <a:pt x="668009" y="679947"/>
                </a:lnTo>
                <a:lnTo>
                  <a:pt x="133361" y="795362"/>
                </a:lnTo>
                <a:lnTo>
                  <a:pt x="140052" y="792949"/>
                </a:lnTo>
                <a:close/>
              </a:path>
              <a:path w="3180715" h="2944495">
                <a:moveTo>
                  <a:pt x="998509" y="0"/>
                </a:moveTo>
                <a:lnTo>
                  <a:pt x="1604745" y="0"/>
                </a:lnTo>
                <a:lnTo>
                  <a:pt x="1605523" y="3602"/>
                </a:lnTo>
                <a:lnTo>
                  <a:pt x="1991103" y="251924"/>
                </a:lnTo>
                <a:lnTo>
                  <a:pt x="1663483" y="322647"/>
                </a:lnTo>
                <a:lnTo>
                  <a:pt x="1477030" y="202568"/>
                </a:lnTo>
                <a:lnTo>
                  <a:pt x="897786" y="327610"/>
                </a:lnTo>
                <a:lnTo>
                  <a:pt x="1026280" y="128644"/>
                </a:lnTo>
                <a:lnTo>
                  <a:pt x="998509" y="0"/>
                </a:lnTo>
                <a:close/>
              </a:path>
            </a:pathLst>
          </a:custGeom>
          <a:solidFill>
            <a:srgbClr val="000000"/>
          </a:solidFill>
        </p:spPr>
        <p:txBody>
          <a:bodyPr wrap="square" lIns="0" tIns="0" rIns="0" bIns="0" rtlCol="0"/>
          <a:lstStyle/>
          <a:p>
            <a:endParaRPr/>
          </a:p>
        </p:txBody>
      </p:sp>
      <p:sp>
        <p:nvSpPr>
          <p:cNvPr id="10" name="object 10"/>
          <p:cNvSpPr/>
          <p:nvPr/>
        </p:nvSpPr>
        <p:spPr>
          <a:xfrm>
            <a:off x="0" y="7031793"/>
            <a:ext cx="3492500" cy="3108960"/>
          </a:xfrm>
          <a:custGeom>
            <a:avLst/>
            <a:gdLst/>
            <a:ahLst/>
            <a:cxnLst/>
            <a:rect l="l" t="t" r="r" b="b"/>
            <a:pathLst>
              <a:path w="3492500" h="3108959">
                <a:moveTo>
                  <a:pt x="1684768" y="1403679"/>
                </a:moveTo>
                <a:lnTo>
                  <a:pt x="1861533" y="1697021"/>
                </a:lnTo>
                <a:lnTo>
                  <a:pt x="1923013" y="1448525"/>
                </a:lnTo>
                <a:lnTo>
                  <a:pt x="1925831" y="1447109"/>
                </a:lnTo>
                <a:lnTo>
                  <a:pt x="1928796" y="1446171"/>
                </a:lnTo>
                <a:lnTo>
                  <a:pt x="2400393" y="1161992"/>
                </a:lnTo>
                <a:lnTo>
                  <a:pt x="2402649" y="1159643"/>
                </a:lnTo>
                <a:lnTo>
                  <a:pt x="2405280" y="1157917"/>
                </a:lnTo>
                <a:lnTo>
                  <a:pt x="2796689" y="1255203"/>
                </a:lnTo>
                <a:lnTo>
                  <a:pt x="2958271" y="1523348"/>
                </a:lnTo>
                <a:lnTo>
                  <a:pt x="2990728" y="1558790"/>
                </a:lnTo>
                <a:lnTo>
                  <a:pt x="3032795" y="1578370"/>
                </a:lnTo>
                <a:lnTo>
                  <a:pt x="3079115" y="1580758"/>
                </a:lnTo>
                <a:lnTo>
                  <a:pt x="3124333" y="1564624"/>
                </a:lnTo>
                <a:lnTo>
                  <a:pt x="3435072" y="1377376"/>
                </a:lnTo>
                <a:lnTo>
                  <a:pt x="3470464" y="1344936"/>
                </a:lnTo>
                <a:lnTo>
                  <a:pt x="3489995" y="1302866"/>
                </a:lnTo>
                <a:lnTo>
                  <a:pt x="3492338" y="1256525"/>
                </a:lnTo>
                <a:lnTo>
                  <a:pt x="3476168" y="1211269"/>
                </a:lnTo>
                <a:lnTo>
                  <a:pt x="3288719" y="900195"/>
                </a:lnTo>
                <a:lnTo>
                  <a:pt x="3256261" y="864754"/>
                </a:lnTo>
                <a:lnTo>
                  <a:pt x="3214194" y="845173"/>
                </a:lnTo>
                <a:lnTo>
                  <a:pt x="3167874" y="842785"/>
                </a:lnTo>
                <a:lnTo>
                  <a:pt x="3122656" y="858920"/>
                </a:lnTo>
                <a:lnTo>
                  <a:pt x="2854696" y="1020390"/>
                </a:lnTo>
                <a:lnTo>
                  <a:pt x="2463286" y="923104"/>
                </a:lnTo>
                <a:lnTo>
                  <a:pt x="2173522" y="442237"/>
                </a:lnTo>
                <a:lnTo>
                  <a:pt x="2147607" y="409920"/>
                </a:lnTo>
                <a:lnTo>
                  <a:pt x="2109552" y="382211"/>
                </a:lnTo>
                <a:lnTo>
                  <a:pt x="2066280" y="365373"/>
                </a:lnTo>
                <a:lnTo>
                  <a:pt x="2020173" y="359996"/>
                </a:lnTo>
                <a:lnTo>
                  <a:pt x="1973611" y="366672"/>
                </a:lnTo>
                <a:lnTo>
                  <a:pt x="1928973" y="385993"/>
                </a:lnTo>
                <a:lnTo>
                  <a:pt x="1462865" y="666864"/>
                </a:lnTo>
                <a:lnTo>
                  <a:pt x="1424927" y="697303"/>
                </a:lnTo>
                <a:lnTo>
                  <a:pt x="1397269" y="735351"/>
                </a:lnTo>
                <a:lnTo>
                  <a:pt x="1380481" y="778628"/>
                </a:lnTo>
                <a:lnTo>
                  <a:pt x="1375150" y="824754"/>
                </a:lnTo>
                <a:lnTo>
                  <a:pt x="1381867" y="871346"/>
                </a:lnTo>
                <a:lnTo>
                  <a:pt x="1398333" y="909357"/>
                </a:lnTo>
                <a:lnTo>
                  <a:pt x="1688097" y="1390224"/>
                </a:lnTo>
                <a:lnTo>
                  <a:pt x="1684768" y="1403679"/>
                </a:lnTo>
                <a:close/>
              </a:path>
              <a:path w="3492500" h="3108959">
                <a:moveTo>
                  <a:pt x="2173522" y="442237"/>
                </a:moveTo>
                <a:lnTo>
                  <a:pt x="2463286" y="923104"/>
                </a:lnTo>
                <a:lnTo>
                  <a:pt x="2461869" y="920283"/>
                </a:lnTo>
                <a:lnTo>
                  <a:pt x="2460928" y="917316"/>
                </a:lnTo>
                <a:lnTo>
                  <a:pt x="2178067" y="447906"/>
                </a:lnTo>
                <a:lnTo>
                  <a:pt x="2173522" y="442237"/>
                </a:lnTo>
                <a:close/>
              </a:path>
              <a:path w="3492500" h="3108959">
                <a:moveTo>
                  <a:pt x="1400860" y="915192"/>
                </a:moveTo>
                <a:lnTo>
                  <a:pt x="1684409" y="1385743"/>
                </a:lnTo>
                <a:lnTo>
                  <a:pt x="1686696" y="1387898"/>
                </a:lnTo>
                <a:lnTo>
                  <a:pt x="1398333" y="909357"/>
                </a:lnTo>
                <a:lnTo>
                  <a:pt x="1400860" y="915192"/>
                </a:lnTo>
                <a:close/>
              </a:path>
              <a:path w="3492500" h="3108959">
                <a:moveTo>
                  <a:pt x="865332" y="2369547"/>
                </a:moveTo>
                <a:lnTo>
                  <a:pt x="1240231" y="2991694"/>
                </a:lnTo>
                <a:lnTo>
                  <a:pt x="1269631" y="3030966"/>
                </a:lnTo>
                <a:lnTo>
                  <a:pt x="1305158" y="3062629"/>
                </a:lnTo>
                <a:lnTo>
                  <a:pt x="1345480" y="3086351"/>
                </a:lnTo>
                <a:lnTo>
                  <a:pt x="1389264" y="3101800"/>
                </a:lnTo>
                <a:lnTo>
                  <a:pt x="1435177" y="3108645"/>
                </a:lnTo>
                <a:lnTo>
                  <a:pt x="1481885" y="3106555"/>
                </a:lnTo>
                <a:lnTo>
                  <a:pt x="1528056" y="3095199"/>
                </a:lnTo>
                <a:lnTo>
                  <a:pt x="1572357" y="3074245"/>
                </a:lnTo>
                <a:lnTo>
                  <a:pt x="2193833" y="2699750"/>
                </a:lnTo>
                <a:lnTo>
                  <a:pt x="2233058" y="2670372"/>
                </a:lnTo>
                <a:lnTo>
                  <a:pt x="2264671" y="2634857"/>
                </a:lnTo>
                <a:lnTo>
                  <a:pt x="2288342" y="2594537"/>
                </a:lnTo>
                <a:lnTo>
                  <a:pt x="2303742" y="2550746"/>
                </a:lnTo>
                <a:lnTo>
                  <a:pt x="2310540" y="2504817"/>
                </a:lnTo>
                <a:lnTo>
                  <a:pt x="2308406" y="2458083"/>
                </a:lnTo>
                <a:lnTo>
                  <a:pt x="2297012" y="2411878"/>
                </a:lnTo>
                <a:lnTo>
                  <a:pt x="2276026" y="2367535"/>
                </a:lnTo>
                <a:lnTo>
                  <a:pt x="1901190" y="1745492"/>
                </a:lnTo>
                <a:lnTo>
                  <a:pt x="1872411" y="1708015"/>
                </a:lnTo>
                <a:lnTo>
                  <a:pt x="1861533" y="1697021"/>
                </a:lnTo>
                <a:lnTo>
                  <a:pt x="1684768" y="1403679"/>
                </a:lnTo>
                <a:lnTo>
                  <a:pt x="1626617" y="1638720"/>
                </a:lnTo>
                <a:lnTo>
                  <a:pt x="1611917" y="1643379"/>
                </a:lnTo>
                <a:lnTo>
                  <a:pt x="1597377" y="1648831"/>
                </a:lnTo>
                <a:lnTo>
                  <a:pt x="947587" y="2037436"/>
                </a:lnTo>
                <a:lnTo>
                  <a:pt x="910244" y="2066141"/>
                </a:lnTo>
                <a:lnTo>
                  <a:pt x="899282" y="2077004"/>
                </a:lnTo>
                <a:lnTo>
                  <a:pt x="664303" y="2018599"/>
                </a:lnTo>
                <a:lnTo>
                  <a:pt x="841005" y="2311838"/>
                </a:lnTo>
                <a:lnTo>
                  <a:pt x="845713" y="2326610"/>
                </a:lnTo>
                <a:lnTo>
                  <a:pt x="851194" y="2341193"/>
                </a:lnTo>
                <a:lnTo>
                  <a:pt x="857662" y="2355526"/>
                </a:lnTo>
                <a:lnTo>
                  <a:pt x="865332" y="2369547"/>
                </a:lnTo>
                <a:close/>
              </a:path>
              <a:path w="3492500" h="3108959">
                <a:moveTo>
                  <a:pt x="132020" y="1445494"/>
                </a:moveTo>
                <a:lnTo>
                  <a:pt x="308723" y="1738733"/>
                </a:lnTo>
                <a:lnTo>
                  <a:pt x="469533" y="1088756"/>
                </a:lnTo>
                <a:lnTo>
                  <a:pt x="472351" y="1087341"/>
                </a:lnTo>
                <a:lnTo>
                  <a:pt x="944220" y="803846"/>
                </a:lnTo>
                <a:lnTo>
                  <a:pt x="982158" y="773408"/>
                </a:lnTo>
                <a:lnTo>
                  <a:pt x="1009871" y="735217"/>
                </a:lnTo>
                <a:lnTo>
                  <a:pt x="1024351" y="697890"/>
                </a:lnTo>
                <a:lnTo>
                  <a:pt x="1031957" y="645760"/>
                </a:lnTo>
                <a:lnTo>
                  <a:pt x="1025173" y="599057"/>
                </a:lnTo>
                <a:lnTo>
                  <a:pt x="1024857" y="598533"/>
                </a:lnTo>
                <a:lnTo>
                  <a:pt x="1005504" y="553854"/>
                </a:lnTo>
                <a:lnTo>
                  <a:pt x="724731" y="87909"/>
                </a:lnTo>
                <a:lnTo>
                  <a:pt x="694271" y="49923"/>
                </a:lnTo>
                <a:lnTo>
                  <a:pt x="656216" y="22215"/>
                </a:lnTo>
                <a:lnTo>
                  <a:pt x="612944" y="5376"/>
                </a:lnTo>
                <a:lnTo>
                  <a:pt x="567006" y="19"/>
                </a:lnTo>
                <a:lnTo>
                  <a:pt x="566837" y="0"/>
                </a:lnTo>
                <a:lnTo>
                  <a:pt x="528053" y="5560"/>
                </a:lnTo>
                <a:lnTo>
                  <a:pt x="0" y="323759"/>
                </a:lnTo>
                <a:lnTo>
                  <a:pt x="0" y="640639"/>
                </a:lnTo>
                <a:lnTo>
                  <a:pt x="234761" y="1030227"/>
                </a:lnTo>
                <a:lnTo>
                  <a:pt x="132020" y="1445494"/>
                </a:lnTo>
                <a:close/>
              </a:path>
              <a:path w="3492500" h="3108959">
                <a:moveTo>
                  <a:pt x="0" y="642513"/>
                </a:moveTo>
                <a:lnTo>
                  <a:pt x="230746" y="1025438"/>
                </a:lnTo>
                <a:lnTo>
                  <a:pt x="233360" y="1027901"/>
                </a:lnTo>
                <a:lnTo>
                  <a:pt x="0" y="640639"/>
                </a:lnTo>
                <a:lnTo>
                  <a:pt x="0" y="642513"/>
                </a:lnTo>
                <a:close/>
              </a:path>
              <a:path w="3492500" h="3108959">
                <a:moveTo>
                  <a:pt x="0" y="2361444"/>
                </a:moveTo>
                <a:lnTo>
                  <a:pt x="26931" y="2373980"/>
                </a:lnTo>
                <a:lnTo>
                  <a:pt x="73251" y="2376368"/>
                </a:lnTo>
                <a:lnTo>
                  <a:pt x="118469" y="2360233"/>
                </a:lnTo>
                <a:lnTo>
                  <a:pt x="386326" y="2198826"/>
                </a:lnTo>
                <a:lnTo>
                  <a:pt x="841005" y="2311838"/>
                </a:lnTo>
                <a:lnTo>
                  <a:pt x="664303" y="2018599"/>
                </a:lnTo>
                <a:lnTo>
                  <a:pt x="444436" y="1963951"/>
                </a:lnTo>
                <a:lnTo>
                  <a:pt x="132020" y="1445494"/>
                </a:lnTo>
                <a:lnTo>
                  <a:pt x="73910" y="1680370"/>
                </a:lnTo>
                <a:lnTo>
                  <a:pt x="0" y="1724908"/>
                </a:lnTo>
                <a:lnTo>
                  <a:pt x="0" y="2361444"/>
                </a:lnTo>
                <a:close/>
              </a:path>
            </a:pathLst>
          </a:custGeom>
          <a:solidFill>
            <a:srgbClr val="000000"/>
          </a:solid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523648" y="3280566"/>
            <a:ext cx="11240770" cy="3040380"/>
            <a:chOff x="3523648" y="3280566"/>
            <a:chExt cx="11240770" cy="3040380"/>
          </a:xfrm>
        </p:grpSpPr>
        <p:sp>
          <p:nvSpPr>
            <p:cNvPr id="3" name="object 3"/>
            <p:cNvSpPr/>
            <p:nvPr/>
          </p:nvSpPr>
          <p:spPr>
            <a:xfrm>
              <a:off x="3750880" y="3525929"/>
              <a:ext cx="10963910" cy="2747645"/>
            </a:xfrm>
            <a:custGeom>
              <a:avLst/>
              <a:gdLst/>
              <a:ahLst/>
              <a:cxnLst/>
              <a:rect l="l" t="t" r="r" b="b"/>
              <a:pathLst>
                <a:path w="10963910" h="2747645">
                  <a:moveTo>
                    <a:pt x="10837907" y="2341396"/>
                  </a:moveTo>
                  <a:lnTo>
                    <a:pt x="217640" y="2747267"/>
                  </a:lnTo>
                  <a:lnTo>
                    <a:pt x="175262" y="2742084"/>
                  </a:lnTo>
                  <a:lnTo>
                    <a:pt x="137960" y="2724565"/>
                  </a:lnTo>
                  <a:lnTo>
                    <a:pt x="108012" y="2696822"/>
                  </a:lnTo>
                  <a:lnTo>
                    <a:pt x="87698" y="2660966"/>
                  </a:lnTo>
                  <a:lnTo>
                    <a:pt x="79295" y="2619107"/>
                  </a:lnTo>
                  <a:lnTo>
                    <a:pt x="0" y="544216"/>
                  </a:lnTo>
                  <a:lnTo>
                    <a:pt x="5183" y="501838"/>
                  </a:lnTo>
                  <a:lnTo>
                    <a:pt x="22702" y="464536"/>
                  </a:lnTo>
                  <a:lnTo>
                    <a:pt x="50445" y="434588"/>
                  </a:lnTo>
                  <a:lnTo>
                    <a:pt x="86301" y="414274"/>
                  </a:lnTo>
                  <a:lnTo>
                    <a:pt x="128160" y="405871"/>
                  </a:lnTo>
                  <a:lnTo>
                    <a:pt x="10748426" y="0"/>
                  </a:lnTo>
                  <a:lnTo>
                    <a:pt x="10790804" y="5183"/>
                  </a:lnTo>
                  <a:lnTo>
                    <a:pt x="10828106" y="22702"/>
                  </a:lnTo>
                  <a:lnTo>
                    <a:pt x="10858054" y="50445"/>
                  </a:lnTo>
                  <a:lnTo>
                    <a:pt x="10878369" y="86301"/>
                  </a:lnTo>
                  <a:lnTo>
                    <a:pt x="10963827" y="2221366"/>
                  </a:lnTo>
                  <a:lnTo>
                    <a:pt x="10960883" y="2245429"/>
                  </a:lnTo>
                  <a:lnTo>
                    <a:pt x="10943364" y="2282731"/>
                  </a:lnTo>
                  <a:lnTo>
                    <a:pt x="10915621" y="2312679"/>
                  </a:lnTo>
                  <a:lnTo>
                    <a:pt x="10879765" y="2332993"/>
                  </a:lnTo>
                  <a:lnTo>
                    <a:pt x="10837907" y="2341396"/>
                  </a:lnTo>
                  <a:close/>
                </a:path>
              </a:pathLst>
            </a:custGeom>
            <a:solidFill>
              <a:srgbClr val="000000"/>
            </a:solidFill>
          </p:spPr>
          <p:txBody>
            <a:bodyPr wrap="square" lIns="0" tIns="0" rIns="0" bIns="0" rtlCol="0"/>
            <a:lstStyle/>
            <a:p>
              <a:endParaRPr/>
            </a:p>
          </p:txBody>
        </p:sp>
        <p:sp>
          <p:nvSpPr>
            <p:cNvPr id="4" name="object 4"/>
            <p:cNvSpPr/>
            <p:nvPr/>
          </p:nvSpPr>
          <p:spPr>
            <a:xfrm>
              <a:off x="3751097" y="3525938"/>
              <a:ext cx="10965815" cy="2747645"/>
            </a:xfrm>
            <a:custGeom>
              <a:avLst/>
              <a:gdLst/>
              <a:ahLst/>
              <a:cxnLst/>
              <a:rect l="l" t="t" r="r" b="b"/>
              <a:pathLst>
                <a:path w="10965815" h="2747645">
                  <a:moveTo>
                    <a:pt x="128154" y="405852"/>
                  </a:moveTo>
                  <a:lnTo>
                    <a:pt x="10747945" y="0"/>
                  </a:lnTo>
                  <a:lnTo>
                    <a:pt x="10790320" y="5183"/>
                  </a:lnTo>
                  <a:lnTo>
                    <a:pt x="10827621" y="22700"/>
                  </a:lnTo>
                  <a:lnTo>
                    <a:pt x="10857568" y="50442"/>
                  </a:lnTo>
                  <a:lnTo>
                    <a:pt x="10877881" y="86297"/>
                  </a:lnTo>
                  <a:lnTo>
                    <a:pt x="10886283" y="128154"/>
                  </a:lnTo>
                  <a:lnTo>
                    <a:pt x="10965576" y="2202953"/>
                  </a:lnTo>
                  <a:lnTo>
                    <a:pt x="10960392" y="2245329"/>
                  </a:lnTo>
                  <a:lnTo>
                    <a:pt x="10942874" y="2282629"/>
                  </a:lnTo>
                  <a:lnTo>
                    <a:pt x="10915132" y="2312576"/>
                  </a:lnTo>
                  <a:lnTo>
                    <a:pt x="10879277" y="2332889"/>
                  </a:lnTo>
                  <a:lnTo>
                    <a:pt x="10837421" y="2341292"/>
                  </a:lnTo>
                  <a:lnTo>
                    <a:pt x="217630" y="2747144"/>
                  </a:lnTo>
                  <a:lnTo>
                    <a:pt x="175254" y="2741961"/>
                  </a:lnTo>
                  <a:lnTo>
                    <a:pt x="137954" y="2724443"/>
                  </a:lnTo>
                  <a:lnTo>
                    <a:pt x="108007" y="2696701"/>
                  </a:lnTo>
                  <a:lnTo>
                    <a:pt x="87694" y="2660847"/>
                  </a:lnTo>
                  <a:lnTo>
                    <a:pt x="79291" y="2618990"/>
                  </a:lnTo>
                  <a:lnTo>
                    <a:pt x="0" y="544192"/>
                  </a:lnTo>
                  <a:lnTo>
                    <a:pt x="5183" y="501816"/>
                  </a:lnTo>
                  <a:lnTo>
                    <a:pt x="22701" y="464515"/>
                  </a:lnTo>
                  <a:lnTo>
                    <a:pt x="50443" y="434569"/>
                  </a:lnTo>
                  <a:lnTo>
                    <a:pt x="86297" y="414255"/>
                  </a:lnTo>
                  <a:lnTo>
                    <a:pt x="128154" y="405852"/>
                  </a:lnTo>
                </a:path>
              </a:pathLst>
            </a:custGeom>
            <a:ln w="95249">
              <a:solidFill>
                <a:srgbClr val="000000"/>
              </a:solidFill>
            </a:ln>
          </p:spPr>
          <p:txBody>
            <a:bodyPr wrap="square" lIns="0" tIns="0" rIns="0" bIns="0" rtlCol="0"/>
            <a:lstStyle/>
            <a:p>
              <a:endParaRPr/>
            </a:p>
          </p:txBody>
        </p:sp>
        <p:sp>
          <p:nvSpPr>
            <p:cNvPr id="5" name="object 5"/>
            <p:cNvSpPr/>
            <p:nvPr/>
          </p:nvSpPr>
          <p:spPr>
            <a:xfrm>
              <a:off x="3571056" y="3328181"/>
              <a:ext cx="10963910" cy="2747645"/>
            </a:xfrm>
            <a:custGeom>
              <a:avLst/>
              <a:gdLst/>
              <a:ahLst/>
              <a:cxnLst/>
              <a:rect l="l" t="t" r="r" b="b"/>
              <a:pathLst>
                <a:path w="10963910" h="2747645">
                  <a:moveTo>
                    <a:pt x="10837908" y="2341396"/>
                  </a:moveTo>
                  <a:lnTo>
                    <a:pt x="217640" y="2747267"/>
                  </a:lnTo>
                  <a:lnTo>
                    <a:pt x="175262" y="2742084"/>
                  </a:lnTo>
                  <a:lnTo>
                    <a:pt x="137960" y="2724565"/>
                  </a:lnTo>
                  <a:lnTo>
                    <a:pt x="108012" y="2696822"/>
                  </a:lnTo>
                  <a:lnTo>
                    <a:pt x="87698" y="2660966"/>
                  </a:lnTo>
                  <a:lnTo>
                    <a:pt x="79295" y="2619107"/>
                  </a:lnTo>
                  <a:lnTo>
                    <a:pt x="0" y="544216"/>
                  </a:lnTo>
                  <a:lnTo>
                    <a:pt x="5183" y="501838"/>
                  </a:lnTo>
                  <a:lnTo>
                    <a:pt x="22702" y="464536"/>
                  </a:lnTo>
                  <a:lnTo>
                    <a:pt x="50445" y="434588"/>
                  </a:lnTo>
                  <a:lnTo>
                    <a:pt x="86301" y="414274"/>
                  </a:lnTo>
                  <a:lnTo>
                    <a:pt x="128160" y="405871"/>
                  </a:lnTo>
                  <a:lnTo>
                    <a:pt x="10748426" y="0"/>
                  </a:lnTo>
                  <a:lnTo>
                    <a:pt x="10790803" y="5183"/>
                  </a:lnTo>
                  <a:lnTo>
                    <a:pt x="10828106" y="22702"/>
                  </a:lnTo>
                  <a:lnTo>
                    <a:pt x="10858054" y="50445"/>
                  </a:lnTo>
                  <a:lnTo>
                    <a:pt x="10878368" y="86301"/>
                  </a:lnTo>
                  <a:lnTo>
                    <a:pt x="10963827" y="2221365"/>
                  </a:lnTo>
                  <a:lnTo>
                    <a:pt x="10960883" y="2245429"/>
                  </a:lnTo>
                  <a:lnTo>
                    <a:pt x="10943364" y="2282731"/>
                  </a:lnTo>
                  <a:lnTo>
                    <a:pt x="10915622" y="2312679"/>
                  </a:lnTo>
                  <a:lnTo>
                    <a:pt x="10879766" y="2332993"/>
                  </a:lnTo>
                  <a:lnTo>
                    <a:pt x="10837908" y="2341396"/>
                  </a:lnTo>
                  <a:close/>
                </a:path>
              </a:pathLst>
            </a:custGeom>
            <a:solidFill>
              <a:srgbClr val="D4E74E"/>
            </a:solidFill>
          </p:spPr>
          <p:txBody>
            <a:bodyPr wrap="square" lIns="0" tIns="0" rIns="0" bIns="0" rtlCol="0"/>
            <a:lstStyle/>
            <a:p>
              <a:endParaRPr/>
            </a:p>
          </p:txBody>
        </p:sp>
        <p:sp>
          <p:nvSpPr>
            <p:cNvPr id="6" name="object 6"/>
            <p:cNvSpPr/>
            <p:nvPr/>
          </p:nvSpPr>
          <p:spPr>
            <a:xfrm>
              <a:off x="3571273" y="3328191"/>
              <a:ext cx="10965815" cy="2747645"/>
            </a:xfrm>
            <a:custGeom>
              <a:avLst/>
              <a:gdLst/>
              <a:ahLst/>
              <a:cxnLst/>
              <a:rect l="l" t="t" r="r" b="b"/>
              <a:pathLst>
                <a:path w="10965815" h="2747645">
                  <a:moveTo>
                    <a:pt x="128154" y="405852"/>
                  </a:moveTo>
                  <a:lnTo>
                    <a:pt x="10747945" y="0"/>
                  </a:lnTo>
                  <a:lnTo>
                    <a:pt x="10790320" y="5183"/>
                  </a:lnTo>
                  <a:lnTo>
                    <a:pt x="10827621" y="22700"/>
                  </a:lnTo>
                  <a:lnTo>
                    <a:pt x="10857567" y="50442"/>
                  </a:lnTo>
                  <a:lnTo>
                    <a:pt x="10877881" y="86297"/>
                  </a:lnTo>
                  <a:lnTo>
                    <a:pt x="10886283" y="128154"/>
                  </a:lnTo>
                  <a:lnTo>
                    <a:pt x="10965576" y="2202952"/>
                  </a:lnTo>
                  <a:lnTo>
                    <a:pt x="10960392" y="2245329"/>
                  </a:lnTo>
                  <a:lnTo>
                    <a:pt x="10942874" y="2282629"/>
                  </a:lnTo>
                  <a:lnTo>
                    <a:pt x="10915132" y="2312576"/>
                  </a:lnTo>
                  <a:lnTo>
                    <a:pt x="10879277" y="2332889"/>
                  </a:lnTo>
                  <a:lnTo>
                    <a:pt x="10837421" y="2341291"/>
                  </a:lnTo>
                  <a:lnTo>
                    <a:pt x="217630" y="2747145"/>
                  </a:lnTo>
                  <a:lnTo>
                    <a:pt x="175254" y="2741961"/>
                  </a:lnTo>
                  <a:lnTo>
                    <a:pt x="137954" y="2724443"/>
                  </a:lnTo>
                  <a:lnTo>
                    <a:pt x="108008" y="2696701"/>
                  </a:lnTo>
                  <a:lnTo>
                    <a:pt x="87694" y="2660846"/>
                  </a:lnTo>
                  <a:lnTo>
                    <a:pt x="79291" y="2618990"/>
                  </a:lnTo>
                  <a:lnTo>
                    <a:pt x="0" y="544191"/>
                  </a:lnTo>
                  <a:lnTo>
                    <a:pt x="5183" y="501815"/>
                  </a:lnTo>
                  <a:lnTo>
                    <a:pt x="22701" y="464515"/>
                  </a:lnTo>
                  <a:lnTo>
                    <a:pt x="50443" y="434569"/>
                  </a:lnTo>
                  <a:lnTo>
                    <a:pt x="86297" y="414255"/>
                  </a:lnTo>
                  <a:lnTo>
                    <a:pt x="128154" y="405852"/>
                  </a:lnTo>
                </a:path>
              </a:pathLst>
            </a:custGeom>
            <a:ln w="95249">
              <a:solidFill>
                <a:srgbClr val="000000"/>
              </a:solidFill>
            </a:ln>
          </p:spPr>
          <p:txBody>
            <a:bodyPr wrap="square" lIns="0" tIns="0" rIns="0" bIns="0" rtlCol="0"/>
            <a:lstStyle/>
            <a:p>
              <a:endParaRPr/>
            </a:p>
          </p:txBody>
        </p:sp>
      </p:grpSp>
      <p:sp>
        <p:nvSpPr>
          <p:cNvPr id="7" name="object 7"/>
          <p:cNvSpPr txBox="1"/>
          <p:nvPr/>
        </p:nvSpPr>
        <p:spPr>
          <a:xfrm rot="21480000">
            <a:off x="4288034" y="3971746"/>
            <a:ext cx="9718102" cy="1575435"/>
          </a:xfrm>
          <a:prstGeom prst="rect">
            <a:avLst/>
          </a:prstGeom>
        </p:spPr>
        <p:txBody>
          <a:bodyPr vert="horz" wrap="square" lIns="0" tIns="0" rIns="0" bIns="0" rtlCol="0">
            <a:spAutoFit/>
          </a:bodyPr>
          <a:lstStyle/>
          <a:p>
            <a:pPr>
              <a:lnSpc>
                <a:spcPts val="12405"/>
              </a:lnSpc>
            </a:pPr>
            <a:r>
              <a:rPr sz="12400" b="1" spc="85" dirty="0">
                <a:solidFill>
                  <a:schemeClr val="tx1"/>
                </a:solidFill>
                <a:latin typeface="Tahoma"/>
                <a:cs typeface="Tahoma"/>
              </a:rPr>
              <a:t>T</a:t>
            </a:r>
            <a:r>
              <a:rPr sz="12400" b="1" spc="95" dirty="0">
                <a:solidFill>
                  <a:schemeClr val="tx1"/>
                </a:solidFill>
                <a:latin typeface="Tahoma"/>
                <a:cs typeface="Tahoma"/>
              </a:rPr>
              <a:t>H</a:t>
            </a:r>
            <a:r>
              <a:rPr sz="12400" b="1" spc="140" dirty="0">
                <a:solidFill>
                  <a:schemeClr val="tx1"/>
                </a:solidFill>
                <a:latin typeface="Tahoma"/>
                <a:cs typeface="Tahoma"/>
              </a:rPr>
              <a:t>A</a:t>
            </a:r>
            <a:r>
              <a:rPr sz="12400" b="1" spc="90" dirty="0">
                <a:solidFill>
                  <a:schemeClr val="tx1"/>
                </a:solidFill>
                <a:latin typeface="Tahoma"/>
                <a:cs typeface="Tahoma"/>
              </a:rPr>
              <a:t>N</a:t>
            </a:r>
            <a:r>
              <a:rPr sz="12400" b="1" spc="585" dirty="0">
                <a:solidFill>
                  <a:schemeClr val="tx1"/>
                </a:solidFill>
                <a:latin typeface="Tahoma"/>
                <a:cs typeface="Tahoma"/>
              </a:rPr>
              <a:t>K</a:t>
            </a:r>
            <a:r>
              <a:rPr sz="12400" b="1" spc="-985" dirty="0">
                <a:solidFill>
                  <a:schemeClr val="tx1"/>
                </a:solidFill>
                <a:latin typeface="Tahoma"/>
                <a:cs typeface="Tahoma"/>
              </a:rPr>
              <a:t> </a:t>
            </a:r>
            <a:r>
              <a:rPr sz="12400" b="1" spc="-325" dirty="0">
                <a:solidFill>
                  <a:schemeClr val="tx1"/>
                </a:solidFill>
                <a:latin typeface="Tahoma"/>
                <a:cs typeface="Tahoma"/>
              </a:rPr>
              <a:t>Y</a:t>
            </a:r>
            <a:r>
              <a:rPr sz="12400" b="1" spc="70" dirty="0">
                <a:solidFill>
                  <a:schemeClr val="tx1"/>
                </a:solidFill>
                <a:latin typeface="Tahoma"/>
                <a:cs typeface="Tahoma"/>
              </a:rPr>
              <a:t>O</a:t>
            </a:r>
            <a:r>
              <a:rPr sz="12400" b="1" spc="535" dirty="0">
                <a:solidFill>
                  <a:schemeClr val="tx1"/>
                </a:solidFill>
                <a:latin typeface="Tahoma"/>
                <a:cs typeface="Tahoma"/>
              </a:rPr>
              <a:t>U</a:t>
            </a:r>
            <a:endParaRPr sz="12400" dirty="0">
              <a:solidFill>
                <a:schemeClr val="tx1"/>
              </a:solidFill>
              <a:latin typeface="Tahoma"/>
              <a:cs typeface="Tahoma"/>
            </a:endParaRPr>
          </a:p>
        </p:txBody>
      </p:sp>
      <p:graphicFrame>
        <p:nvGraphicFramePr>
          <p:cNvPr id="10" name="object 10"/>
          <p:cNvGraphicFramePr>
            <a:graphicFrameLocks noGrp="1"/>
          </p:cNvGraphicFramePr>
          <p:nvPr>
            <p:extLst>
              <p:ext uri="{D42A27DB-BD31-4B8C-83A1-F6EECF244321}">
                <p14:modId xmlns:p14="http://schemas.microsoft.com/office/powerpoint/2010/main" val="889120179"/>
              </p:ext>
            </p:extLst>
          </p:nvPr>
        </p:nvGraphicFramePr>
        <p:xfrm>
          <a:off x="1438742" y="7959316"/>
          <a:ext cx="15481935" cy="1028700"/>
        </p:xfrm>
        <a:graphic>
          <a:graphicData uri="http://schemas.openxmlformats.org/drawingml/2006/table">
            <a:tbl>
              <a:tblPr firstRow="1" bandRow="1">
                <a:tableStyleId>{2D5ABB26-0587-4C30-8999-92F81FD0307C}</a:tableStyleId>
              </a:tblPr>
              <a:tblGrid>
                <a:gridCol w="2693670">
                  <a:extLst>
                    <a:ext uri="{9D8B030D-6E8A-4147-A177-3AD203B41FA5}">
                      <a16:colId xmlns:a16="http://schemas.microsoft.com/office/drawing/2014/main" val="20000"/>
                    </a:ext>
                  </a:extLst>
                </a:gridCol>
                <a:gridCol w="4995545">
                  <a:extLst>
                    <a:ext uri="{9D8B030D-6E8A-4147-A177-3AD203B41FA5}">
                      <a16:colId xmlns:a16="http://schemas.microsoft.com/office/drawing/2014/main" val="20001"/>
                    </a:ext>
                  </a:extLst>
                </a:gridCol>
                <a:gridCol w="3564890">
                  <a:extLst>
                    <a:ext uri="{9D8B030D-6E8A-4147-A177-3AD203B41FA5}">
                      <a16:colId xmlns:a16="http://schemas.microsoft.com/office/drawing/2014/main" val="20002"/>
                    </a:ext>
                  </a:extLst>
                </a:gridCol>
                <a:gridCol w="4227830">
                  <a:extLst>
                    <a:ext uri="{9D8B030D-6E8A-4147-A177-3AD203B41FA5}">
                      <a16:colId xmlns:a16="http://schemas.microsoft.com/office/drawing/2014/main" val="20003"/>
                    </a:ext>
                  </a:extLst>
                </a:gridCol>
              </a:tblGrid>
              <a:tr h="514350">
                <a:tc>
                  <a:txBody>
                    <a:bodyPr/>
                    <a:lstStyle/>
                    <a:p>
                      <a:pPr marR="577850" algn="ctr">
                        <a:lnSpc>
                          <a:spcPct val="100000"/>
                        </a:lnSpc>
                        <a:spcBef>
                          <a:spcPts val="170"/>
                        </a:spcBef>
                      </a:pPr>
                      <a:endParaRPr sz="2500" dirty="0">
                        <a:latin typeface="Tahoma"/>
                        <a:cs typeface="Tahoma"/>
                      </a:endParaRPr>
                    </a:p>
                  </a:txBody>
                  <a:tcPr marL="0" marR="0" marT="21590" marB="0"/>
                </a:tc>
                <a:tc>
                  <a:txBody>
                    <a:bodyPr/>
                    <a:lstStyle/>
                    <a:p>
                      <a:pPr marR="75565" algn="ctr">
                        <a:lnSpc>
                          <a:spcPct val="100000"/>
                        </a:lnSpc>
                        <a:spcBef>
                          <a:spcPts val="170"/>
                        </a:spcBef>
                      </a:pPr>
                      <a:endParaRPr sz="2500" dirty="0">
                        <a:latin typeface="Tahoma"/>
                        <a:cs typeface="Tahoma"/>
                      </a:endParaRPr>
                    </a:p>
                  </a:txBody>
                  <a:tcPr marL="0" marR="0" marT="21590" marB="0"/>
                </a:tc>
                <a:tc>
                  <a:txBody>
                    <a:bodyPr/>
                    <a:lstStyle/>
                    <a:p>
                      <a:pPr marL="68580" algn="ctr">
                        <a:lnSpc>
                          <a:spcPct val="100000"/>
                        </a:lnSpc>
                        <a:spcBef>
                          <a:spcPts val="170"/>
                        </a:spcBef>
                      </a:pPr>
                      <a:endParaRPr sz="2500">
                        <a:latin typeface="Tahoma"/>
                        <a:cs typeface="Tahoma"/>
                      </a:endParaRPr>
                    </a:p>
                  </a:txBody>
                  <a:tcPr marL="0" marR="0" marT="21590" marB="0"/>
                </a:tc>
                <a:tc>
                  <a:txBody>
                    <a:bodyPr/>
                    <a:lstStyle/>
                    <a:p>
                      <a:pPr marL="522605" algn="ctr">
                        <a:lnSpc>
                          <a:spcPct val="100000"/>
                        </a:lnSpc>
                        <a:spcBef>
                          <a:spcPts val="170"/>
                        </a:spcBef>
                      </a:pPr>
                      <a:endParaRPr sz="2500">
                        <a:latin typeface="Tahoma"/>
                        <a:cs typeface="Tahoma"/>
                      </a:endParaRPr>
                    </a:p>
                  </a:txBody>
                  <a:tcPr marL="0" marR="0" marT="21590" marB="0"/>
                </a:tc>
                <a:extLst>
                  <a:ext uri="{0D108BD9-81ED-4DB2-BD59-A6C34878D82A}">
                    <a16:rowId xmlns:a16="http://schemas.microsoft.com/office/drawing/2014/main" val="10000"/>
                  </a:ext>
                </a:extLst>
              </a:tr>
              <a:tr h="514350">
                <a:tc>
                  <a:txBody>
                    <a:bodyPr/>
                    <a:lstStyle/>
                    <a:p>
                      <a:pPr marR="499745" algn="ctr">
                        <a:lnSpc>
                          <a:spcPct val="100000"/>
                        </a:lnSpc>
                        <a:spcBef>
                          <a:spcPts val="675"/>
                        </a:spcBef>
                      </a:pPr>
                      <a:endParaRPr sz="2500">
                        <a:latin typeface="Verdana"/>
                        <a:cs typeface="Verdana"/>
                      </a:endParaRPr>
                    </a:p>
                  </a:txBody>
                  <a:tcPr marL="0" marR="0" marT="85725" marB="0"/>
                </a:tc>
                <a:tc>
                  <a:txBody>
                    <a:bodyPr/>
                    <a:lstStyle/>
                    <a:p>
                      <a:pPr marR="76200" algn="ctr">
                        <a:lnSpc>
                          <a:spcPct val="100000"/>
                        </a:lnSpc>
                        <a:spcBef>
                          <a:spcPts val="675"/>
                        </a:spcBef>
                      </a:pPr>
                      <a:endParaRPr sz="2500">
                        <a:latin typeface="Verdana"/>
                        <a:cs typeface="Verdana"/>
                      </a:endParaRPr>
                    </a:p>
                  </a:txBody>
                  <a:tcPr marL="0" marR="0" marT="85725" marB="0"/>
                </a:tc>
                <a:tc>
                  <a:txBody>
                    <a:bodyPr/>
                    <a:lstStyle/>
                    <a:p>
                      <a:pPr marL="68580" algn="ctr">
                        <a:lnSpc>
                          <a:spcPct val="100000"/>
                        </a:lnSpc>
                        <a:spcBef>
                          <a:spcPts val="675"/>
                        </a:spcBef>
                      </a:pPr>
                      <a:endParaRPr sz="2500">
                        <a:latin typeface="Verdana"/>
                        <a:cs typeface="Verdana"/>
                      </a:endParaRPr>
                    </a:p>
                  </a:txBody>
                  <a:tcPr marL="0" marR="0" marT="85725" marB="0"/>
                </a:tc>
                <a:tc>
                  <a:txBody>
                    <a:bodyPr/>
                    <a:lstStyle/>
                    <a:p>
                      <a:pPr marL="522605" algn="ctr">
                        <a:lnSpc>
                          <a:spcPct val="100000"/>
                        </a:lnSpc>
                        <a:spcBef>
                          <a:spcPts val="675"/>
                        </a:spcBef>
                      </a:pPr>
                      <a:endParaRPr sz="2500" dirty="0">
                        <a:latin typeface="Verdana"/>
                        <a:cs typeface="Verdana"/>
                      </a:endParaRPr>
                    </a:p>
                  </a:txBody>
                  <a:tcPr marL="0" marR="0" marT="85725" marB="0"/>
                </a:tc>
                <a:extLst>
                  <a:ext uri="{0D108BD9-81ED-4DB2-BD59-A6C34878D82A}">
                    <a16:rowId xmlns:a16="http://schemas.microsoft.com/office/drawing/2014/main" val="10001"/>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106</TotalTime>
  <Words>632</Words>
  <Application>Microsoft Office PowerPoint</Application>
  <PresentationFormat>Custom</PresentationFormat>
  <Paragraphs>124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Bookman Old Style</vt:lpstr>
      <vt:lpstr>Calibri</vt:lpstr>
      <vt:lpstr>Sitka Heading</vt:lpstr>
      <vt:lpstr>Tahoma</vt:lpstr>
      <vt:lpstr>Times New Roman</vt:lpstr>
      <vt:lpstr>Verdana</vt:lpstr>
      <vt:lpstr>Office Theme</vt:lpstr>
      <vt:lpstr>FINANCIAL CONVERSATION</vt:lpstr>
      <vt:lpstr>PowerPoint Presentation</vt:lpstr>
      <vt:lpstr>PowerPoint Presentation</vt:lpstr>
      <vt:lpstr>WHERE AI IMPACTS FINANCIAL        DECISIONS</vt:lpstr>
      <vt:lpstr>AI IN DAILY LIFE</vt:lpstr>
      <vt:lpstr>PowerPoint Presentation</vt:lpstr>
      <vt:lpstr>FUTURE SCOPE &amp; IMPACT</vt:lpstr>
      <vt:lpstr>REAL-WORLD APPLICATIONS</vt:lpstr>
      <vt:lpstr>Our system handles sensitive financial conversations, so key challenges include:  • Ensuring user data privacy and secure storage   • Accurately handling multilingual and code-mixed speech • Avoiding misinterpretation of financial discussions   • Maintaining transparency in AI-generated insights    - Building trust is critical for adoption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Green Neon Modern Artificial Intelligence Presentation</dc:title>
  <dc:creator>Human Being</dc:creator>
  <cp:keywords>DAHEODpTipk,BAGWi4xbv-w,0</cp:keywords>
  <cp:lastModifiedBy>basavakumar.in@gmail.com</cp:lastModifiedBy>
  <cp:revision>3</cp:revision>
  <dcterms:created xsi:type="dcterms:W3CDTF">2026-03-17T17:14:42Z</dcterms:created>
  <dcterms:modified xsi:type="dcterms:W3CDTF">2026-03-18T04:38:45Z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2026-03-17T00:00:00Z</vt:filetime>
  </property>
  <property fmtid="{D5CDD505-2E9C-101B-9397-08002B2CF9AE}" pid="3" name="Creator">
    <vt:lpwstr>Canva</vt:lpwstr>
  </property>
  <property fmtid="{D5CDD505-2E9C-101B-9397-08002B2CF9AE}" pid="4" name="LastSaved">
    <vt:filetime>2026-03-17T00:00:00Z</vt:filetime>
  </property>
  <property fmtid="{D5CDD505-2E9C-101B-9397-08002B2CF9AE}" pid="5" name="Producer">
    <vt:lpwstr>Canva</vt:lpwstr>
  </property>
</Properties>
</file>